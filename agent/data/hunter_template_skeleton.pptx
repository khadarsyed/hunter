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49.jpg" ContentType="image/jpg"/>
  <Override PartName="/ppt/media/image6.svg" ContentType="image/svg+xml"/>
  <Override PartName="/ppt/media/image8.svg" ContentType="image/svg+xml"/>
  <Override PartName="/ppt/media/image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44" r:id="rId5"/>
  </p:sldMasterIdLst>
  <p:notesMasterIdLst>
    <p:notesMasterId r:id="rId23"/>
  </p:notesMasterIdLst>
  <p:handoutMasterIdLst>
    <p:handoutMasterId r:id="rId24"/>
  </p:handoutMasterIdLst>
  <p:sldIdLst>
    <p:sldId id="326" r:id="rId6"/>
    <p:sldId id="257" r:id="rId7"/>
    <p:sldId id="261" r:id="rId8"/>
    <p:sldId id="2147483639" r:id="rId9"/>
    <p:sldId id="256" r:id="rId10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A43037-9E7C-629E-CA4E-B2BB68BA28E9}" name="Sridevi Upadhya" initials="SU" userId="S::Sridevi.Upadhya@infovision.com::74f81628-6c05-4436-a472-a56525e3369c" providerId="AD"/>
  <p188:author id="{BE245362-7B08-7C05-28F5-3F2320410AF7}" name="Srideep Behera" initials="SB" userId="S::Srideep.Behera@infovision.com::393efe25-4136-4006-98c4-994ce26c63d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AC07"/>
    <a:srgbClr val="BD2D7C"/>
    <a:srgbClr val="4444B0"/>
    <a:srgbClr val="D4672D"/>
    <a:srgbClr val="2B7232"/>
    <a:srgbClr val="57A1E7"/>
    <a:srgbClr val="D13C44"/>
    <a:srgbClr val="F7ADA5"/>
    <a:srgbClr val="FEDE44"/>
    <a:srgbClr val="72C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22" Type="http://schemas.openxmlformats.org/officeDocument/2006/relationships/slide" Target="slides/slide17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deep Behera" userId="393efe25-4136-4006-98c4-994ce26c63d4" providerId="ADAL" clId="{3860FB54-CC9B-408F-8B72-95B752FAFD60}"/>
    <pc:docChg chg="sldOrd">
      <pc:chgData name="Srideep Behera" userId="393efe25-4136-4006-98c4-994ce26c63d4" providerId="ADAL" clId="{3860FB54-CC9B-408F-8B72-95B752FAFD60}" dt="2025-11-24T08:15:58.740" v="0" actId="20578"/>
      <pc:docMkLst>
        <pc:docMk/>
      </pc:docMkLst>
      <pc:sldChg chg="ord">
        <pc:chgData name="Srideep Behera" userId="393efe25-4136-4006-98c4-994ce26c63d4" providerId="ADAL" clId="{3860FB54-CC9B-408F-8B72-95B752FAFD60}" dt="2025-11-24T08:15:58.740" v="0" actId="20578"/>
        <pc:sldMkLst>
          <pc:docMk/>
          <pc:sldMk cId="1104462305" sldId="214748364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E15627-E233-6FFD-496E-51741FEB30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A859F-A24A-B11A-B842-6731AD5833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DDA1B-CA5C-4A44-B5F2-E5BD5A6F7BEC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55511-456A-A41B-3CFB-F97CBF7263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56317-450B-BF5F-D91D-9BE923D6F7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5568B-5D6A-4436-8A27-8B4AFF0FAA2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6172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FD05B4-7CC5-4FF5-A242-257A22BBB77A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D249E-C18E-42AD-9752-4ACF08D333D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0313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D249E-C18E-42AD-9752-4ACF08D333D0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22972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2E14-E207-F5F1-06F9-EF22A38BD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21F8A-E39B-C925-6FD0-4C6B49C00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5953C-0989-86C3-E206-F7511D145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9F00-88E1-4066-AE18-F3BF3DBECD76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E0F4D-B70A-3346-95B3-2BCE6315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47D78-0FA7-B22A-AD5A-F1EB5C94E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14F3-A8F4-44BE-B283-9A084AAA6D3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846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D05A2-46EA-74F0-F85A-39D363487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21E6D-03D0-76F6-3CC6-E01D0FE10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C6553-99F4-ADB2-43D0-C6F5B61D5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9F00-88E1-4066-AE18-F3BF3DBECD76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648C5-F11C-4994-5D87-FC1471F2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24C75-35F8-7E25-7AE0-CE6E69EE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14F3-A8F4-44BE-B283-9A084AAA6D3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650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A428-96C2-C762-57E3-E35A338EA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5B348-EE7C-DF8E-5863-6EA17033A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B4DC1-8E3E-956A-ED09-2E79B5F9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9F00-88E1-4066-AE18-F3BF3DBECD76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51FD5-2AF1-EA55-C2C8-18236F888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54733-547C-8785-2F7A-076D5A95A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14F3-A8F4-44BE-B283-9A084AAA6D3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11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D141-8FB6-1934-8F4E-2C16A4D0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E9FC4-6450-26B7-60E3-DCA22CE01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D8D17-60B9-96BD-36BF-4956B6D43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0651D-5431-189D-2DEA-A326F770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9F00-88E1-4066-AE18-F3BF3DBECD76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BD01D-1611-43EB-C05B-4155985B1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58AC2-9C32-8630-07C2-51746429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14F3-A8F4-44BE-B283-9A084AAA6D3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8300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66531-7B7A-8ABB-4BCF-65137675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37EE4-867F-A580-11C5-0E8C69CE7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790A84-1FEC-14A1-3A58-B03C8B856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0FEC11-1684-315D-9130-B506EBDFC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16CDA-49B5-1BEE-96D6-C532920D6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C51FF-4DA6-2456-AE94-01126A85B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9F00-88E1-4066-AE18-F3BF3DBECD76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A5BD11-4199-A826-21AF-CE2D5B0D8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EB267-20C3-E854-C343-E9CE2A2DF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14F3-A8F4-44BE-B283-9A084AAA6D3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6807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6A61-55D7-84EF-F589-764267D8C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098A10-079D-0452-2EDD-A8D5A032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9F00-88E1-4066-AE18-F3BF3DBECD76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DD5F3A-A52B-D2C6-0D5D-F799D1248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06C20-90E5-8CE0-9D05-3904AD69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14F3-A8F4-44BE-B283-9A084AAA6D3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481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5B8A61-C356-E4B4-30B8-E6CB2FA6A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9F00-88E1-4066-AE18-F3BF3DBECD76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B4AF4-083A-2C96-2D65-4918523DA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56388-4D2E-5285-9894-70E64008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14F3-A8F4-44BE-B283-9A084AAA6D3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13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8C73-E79F-5F8F-073A-B45D6A015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581A7-1F1F-A735-E237-F0AA312E0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5334A-8FA9-B0A2-9F4F-D71B08BC8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000AE-A8B8-92B2-4969-7CAA108F2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9F00-88E1-4066-AE18-F3BF3DBECD76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30613-F19B-7C91-8531-FA948800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08FFB-8828-FBD7-D8FC-2DA73686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14F3-A8F4-44BE-B283-9A084AAA6D3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530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36C7-48F2-8BDE-0B9C-6E5080241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435E9-795C-47B9-E6F7-6574416CA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C2714-4108-00BA-D4EA-9D10BCDC8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05747-D2F0-81DC-3267-7E96B257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9F00-88E1-4066-AE18-F3BF3DBECD76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9FA49-E184-0B4A-BDEA-9F1271AF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11590-CF11-44CA-0C9E-7E91672C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14F3-A8F4-44BE-B283-9A084AAA6D3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4617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9FBEC-2556-02A9-6AB1-7893CFC1F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3F3A1-0174-3294-86BA-1F75EF6CE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6E69D-CDC2-3FFD-1A3F-256BAD25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9F00-88E1-4066-AE18-F3BF3DBECD76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A4AC1-1971-0F34-2AAB-1DDF7BBA3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4ED57-1FA5-A126-30FE-69A1960A9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14F3-A8F4-44BE-B283-9A084AAA6D3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3855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DB2A7F-06B3-6B00-5861-E81D8C8C37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90F10-98C3-B887-F528-3E61ABC5A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CFD70-F2AA-983C-D48A-D1995EF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B9F00-88E1-4066-AE18-F3BF3DBECD76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76458-FFCF-8EB5-4F0C-F1B3A7F1C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BD972-A649-1F8D-9609-8E5986EC5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14F3-A8F4-44BE-B283-9A084AAA6D3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8450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Title 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504611" y="368316"/>
            <a:ext cx="3600001" cy="609398"/>
          </a:xfrm>
          <a:prstGeom prst="rect">
            <a:avLst/>
          </a:prstGeom>
        </p:spPr>
        <p:txBody>
          <a:bodyPr lIns="0" tIns="0" rIns="0" bIns="0"/>
          <a:lstStyle/>
          <a:p>
            <a:r>
              <a:t>Title Text</a:t>
            </a:r>
          </a:p>
        </p:txBody>
      </p:sp>
      <p:pic>
        <p:nvPicPr>
          <p:cNvPr id="35" name="Picture 2" descr="Picture 2"/>
          <p:cNvPicPr>
            <a:picLocks noChangeAspect="1"/>
          </p:cNvPicPr>
          <p:nvPr/>
        </p:nvPicPr>
        <p:blipFill>
          <a:blip r:embed="rId2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02645" y="552449"/>
            <a:ext cx="7429501" cy="630555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Picture 8" descr="Picture 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97190" y="56054"/>
            <a:ext cx="780398" cy="462643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47227" y="6443340"/>
            <a:ext cx="157094" cy="153888"/>
          </a:xfrm>
          <a:prstGeom prst="rect">
            <a:avLst/>
          </a:prstGeom>
        </p:spPr>
        <p:txBody>
          <a:bodyPr lIns="0" tIns="0" rIns="0" bIns="0" anchor="t"/>
          <a:lstStyle>
            <a:lvl1pPr>
              <a:defRPr sz="10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38" name="Rectangle 6"/>
          <p:cNvSpPr txBox="1"/>
          <p:nvPr/>
        </p:nvSpPr>
        <p:spPr>
          <a:xfrm>
            <a:off x="504611" y="6512544"/>
            <a:ext cx="2669820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808080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r>
              <a:rPr sz="800" dirty="0"/>
              <a:t>© Copyright 2025 InfoVision   |   www.infovision.com</a:t>
            </a:r>
          </a:p>
        </p:txBody>
      </p:sp>
    </p:spTree>
    <p:extLst>
      <p:ext uri="{BB962C8B-B14F-4D97-AF65-F5344CB8AC3E}">
        <p14:creationId xmlns:p14="http://schemas.microsoft.com/office/powerpoint/2010/main" val="1850435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Only Gray Background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458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3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2" name="Google Shape;382;p3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 rtl="0">
              <a:buClr>
                <a:schemeClr val="dk1"/>
              </a:buClr>
              <a:buSzPts val="1400"/>
              <a:buFont typeface="Arial"/>
              <a:buNone/>
              <a:defRPr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buClr>
                <a:schemeClr val="dk1"/>
              </a:buClr>
              <a:buSzPts val="1400"/>
              <a:buFont typeface="Arial"/>
              <a:buNone/>
              <a:defRPr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buClr>
                <a:schemeClr val="dk1"/>
              </a:buClr>
              <a:buSzPts val="1400"/>
              <a:buFont typeface="Arial"/>
              <a:buNone/>
              <a:defRPr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buClr>
                <a:schemeClr val="dk1"/>
              </a:buClr>
              <a:buSzPts val="1400"/>
              <a:buFont typeface="Arial"/>
              <a:buNone/>
              <a:defRPr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buClr>
                <a:schemeClr val="dk1"/>
              </a:buClr>
              <a:buSzPts val="1400"/>
              <a:buFont typeface="Arial"/>
              <a:buNone/>
              <a:defRPr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buClr>
                <a:schemeClr val="dk1"/>
              </a:buClr>
              <a:buSzPts val="1400"/>
              <a:buFont typeface="Arial"/>
              <a:buNone/>
              <a:defRPr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buClr>
                <a:schemeClr val="dk1"/>
              </a:buClr>
              <a:buSzPts val="1400"/>
              <a:buFont typeface="Arial"/>
              <a:buNone/>
              <a:defRPr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buClr>
                <a:schemeClr val="dk1"/>
              </a:buClr>
              <a:buSzPts val="1400"/>
              <a:buFont typeface="Arial"/>
              <a:buNone/>
              <a:defRPr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buClr>
                <a:schemeClr val="dk1"/>
              </a:buClr>
              <a:buSzPts val="1400"/>
              <a:buFont typeface="Arial"/>
              <a:buNone/>
              <a:defRPr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94269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4920A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20309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4920A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0409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743450" y="9524"/>
            <a:ext cx="7448550" cy="6848475"/>
          </a:xfrm>
          <a:custGeom>
            <a:avLst/>
            <a:gdLst/>
            <a:ahLst/>
            <a:cxnLst/>
            <a:rect l="l" t="t" r="r" b="b"/>
            <a:pathLst>
              <a:path w="7448550" h="6848475">
                <a:moveTo>
                  <a:pt x="7448550" y="0"/>
                </a:moveTo>
                <a:lnTo>
                  <a:pt x="0" y="0"/>
                </a:lnTo>
                <a:lnTo>
                  <a:pt x="0" y="6848475"/>
                </a:lnTo>
                <a:lnTo>
                  <a:pt x="7448550" y="6848475"/>
                </a:lnTo>
                <a:lnTo>
                  <a:pt x="744855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30294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6046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87920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BDB1CD-DE38-9560-0236-F8A908E68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781CA-5982-CA4E-D236-1EA594205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3E750-1EEA-7945-C549-E32137E91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9B9F00-88E1-4066-AE18-F3BF3DBECD76}" type="datetimeFigureOut">
              <a:rPr lang="en-GB" smtClean="0"/>
              <a:t>24/11/2025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F35B5-5412-9816-F67E-723EE9DDD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E4442-7A00-7525-2477-0FA9A5216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E14F3-A8F4-44BE-B283-9A084AAA6D3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034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37" r:id="rId12"/>
    <p:sldLayoutId id="2147483738" r:id="rId13"/>
    <p:sldLayoutId id="214748374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07075" y="483298"/>
            <a:ext cx="1954529" cy="462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0067" y="1423670"/>
            <a:ext cx="6028690" cy="358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4920A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5353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hyperlink" Target="mailto:Rajesh.Kari@Infovision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purple ribbon&#10;&#10;AI-generated content may be incorrect.">
            <a:extLst>
              <a:ext uri="{FF2B5EF4-FFF2-40B4-BE49-F238E27FC236}">
                <a16:creationId xmlns:a16="http://schemas.microsoft.com/office/drawing/2014/main" id="{215F224B-3E0C-F761-FCDB-E56CAC1333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r="7388" b="23699"/>
          <a:stretch>
            <a:fillRect/>
          </a:stretch>
        </p:blipFill>
        <p:spPr>
          <a:xfrm>
            <a:off x="0" y="-82657"/>
            <a:ext cx="12213899" cy="6940657"/>
          </a:xfrm>
          <a:prstGeom prst="rect">
            <a:avLst/>
          </a:prstGeom>
        </p:spPr>
      </p:pic>
      <p:sp useBgFill="1">
        <p:nvSpPr>
          <p:cNvPr id="7" name="Rounded Rectangle 6">
            <a:extLst>
              <a:ext uri="{FF2B5EF4-FFF2-40B4-BE49-F238E27FC236}">
                <a16:creationId xmlns:a16="http://schemas.microsoft.com/office/drawing/2014/main" id="{09943C4C-E4FE-F191-B176-DC164DB7E9E7}"/>
              </a:ext>
            </a:extLst>
          </p:cNvPr>
          <p:cNvSpPr/>
          <p:nvPr/>
        </p:nvSpPr>
        <p:spPr>
          <a:xfrm>
            <a:off x="1058779" y="842211"/>
            <a:ext cx="5162139" cy="5033933"/>
          </a:xfrm>
          <a:prstGeom prst="roundRect">
            <a:avLst/>
          </a:prstGeom>
          <a:ln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20CE2D1-98D9-31A5-37DB-A111839AB3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9822" y="272485"/>
            <a:ext cx="1143954" cy="39253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C1F4CED-5A23-F982-DF02-3C4DF4A261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65242" y="2130597"/>
            <a:ext cx="2149067" cy="3291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B7626A7-BC74-6469-BBCC-D28FCDEB4FCF}"/>
              </a:ext>
            </a:extLst>
          </p:cNvPr>
          <p:cNvSpPr txBox="1"/>
          <p:nvPr/>
        </p:nvSpPr>
        <p:spPr>
          <a:xfrm>
            <a:off x="1448930" y="3037059"/>
            <a:ext cx="45307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Topic Analysis Report</a:t>
            </a:r>
          </a:p>
          <a:p>
            <a:r>
              <a:rPr lang="en-US" sz="32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Blo Blow Bar Topic Map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DAA3AE-AFB0-507A-C1F6-B76FB67A0D66}"/>
              </a:ext>
            </a:extLst>
          </p:cNvPr>
          <p:cNvSpPr txBox="1"/>
          <p:nvPr/>
        </p:nvSpPr>
        <p:spPr>
          <a:xfrm>
            <a:off x="1448930" y="4235873"/>
            <a:ext cx="35021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August 2025</a:t>
            </a:r>
          </a:p>
        </p:txBody>
      </p:sp>
    </p:spTree>
    <p:extLst>
      <p:ext uri="{BB962C8B-B14F-4D97-AF65-F5344CB8AC3E}">
        <p14:creationId xmlns:p14="http://schemas.microsoft.com/office/powerpoint/2010/main" val="325270577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7999"/>
            <a:chOff x="0" y="0"/>
            <a:chExt cx="12192000" cy="6857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09901" y="827314"/>
              <a:ext cx="8115300" cy="585923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68959" y="2911474"/>
            <a:ext cx="1713230" cy="9093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460"/>
              </a:lnSpc>
              <a:spcBef>
                <a:spcPts val="130"/>
              </a:spcBef>
            </a:pPr>
            <a:r>
              <a:rPr sz="3200" spc="-135" dirty="0">
                <a:latin typeface="Arial"/>
                <a:cs typeface="Arial"/>
              </a:rPr>
              <a:t>Table</a:t>
            </a:r>
            <a:r>
              <a:rPr sz="3200" spc="-19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of</a:t>
            </a:r>
            <a:endParaRPr sz="3200" dirty="0">
              <a:latin typeface="Arial"/>
              <a:cs typeface="Arial"/>
            </a:endParaRPr>
          </a:p>
          <a:p>
            <a:pPr marL="12700">
              <a:lnSpc>
                <a:spcPts val="3460"/>
              </a:lnSpc>
            </a:pPr>
            <a:r>
              <a:rPr sz="3200" b="1" spc="-70" dirty="0">
                <a:latin typeface="Arial"/>
                <a:cs typeface="Arial"/>
              </a:rPr>
              <a:t>Contents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67306" y="1746253"/>
            <a:ext cx="5793217" cy="367222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9388" indent="-166688">
              <a:lnSpc>
                <a:spcPct val="120000"/>
              </a:lnSpc>
              <a:spcBef>
                <a:spcPts val="600"/>
              </a:spcBef>
              <a:buSzPct val="75000"/>
              <a:buChar char="•"/>
              <a:tabLst>
                <a:tab pos="241300" algn="l"/>
              </a:tabLst>
            </a:pPr>
            <a:r>
              <a:rPr sz="1200" dirty="0">
                <a:latin typeface="Arial"/>
                <a:cs typeface="Arial"/>
              </a:rPr>
              <a:t>Objective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Scope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&amp;</a:t>
            </a:r>
            <a:r>
              <a:rPr sz="1200" spc="-1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Approach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Framework</a:t>
            </a:r>
            <a:endParaRPr sz="1200" dirty="0">
              <a:latin typeface="Arial"/>
              <a:cs typeface="Arial"/>
            </a:endParaRPr>
          </a:p>
          <a:p>
            <a:pPr marL="179388" indent="-166688">
              <a:lnSpc>
                <a:spcPct val="120000"/>
              </a:lnSpc>
              <a:spcBef>
                <a:spcPts val="600"/>
              </a:spcBef>
              <a:buSzPct val="75000"/>
              <a:buChar char="•"/>
              <a:tabLst>
                <a:tab pos="241300" algn="l"/>
              </a:tabLst>
            </a:pPr>
            <a:r>
              <a:rPr lang="en-US" sz="1200" spc="-20" dirty="0">
                <a:latin typeface="Arial"/>
                <a:cs typeface="Arial"/>
              </a:rPr>
              <a:t>Summary</a:t>
            </a:r>
          </a:p>
          <a:p>
            <a:pPr marL="179388" indent="-166688">
              <a:lnSpc>
                <a:spcPct val="120000"/>
              </a:lnSpc>
              <a:spcBef>
                <a:spcPts val="600"/>
              </a:spcBef>
              <a:buSzPct val="75000"/>
              <a:buFontTx/>
              <a:buChar char="•"/>
              <a:tabLst>
                <a:tab pos="241300" algn="l"/>
              </a:tabLst>
            </a:pPr>
            <a:r>
              <a:rPr lang="en-US" sz="1200" dirty="0">
                <a:latin typeface="Arial"/>
                <a:cs typeface="Arial"/>
              </a:rPr>
              <a:t>Beauty Services Landscape (Editorial &amp; Social)</a:t>
            </a:r>
            <a:endParaRPr lang="en-US" sz="1100" dirty="0">
              <a:latin typeface="Arial"/>
              <a:cs typeface="Arial"/>
            </a:endParaRPr>
          </a:p>
          <a:p>
            <a:pPr marL="350837" lvl="1" indent="-171450">
              <a:lnSpc>
                <a:spcPct val="120000"/>
              </a:lnSpc>
              <a:spcBef>
                <a:spcPts val="600"/>
              </a:spcBef>
              <a:buSzPct val="75000"/>
              <a:buFont typeface="System Font Regular"/>
              <a:buChar char="-"/>
              <a:tabLst>
                <a:tab pos="241300" algn="l"/>
              </a:tabLst>
            </a:pPr>
            <a:r>
              <a:rPr lang="en-US" sz="1100" dirty="0">
                <a:latin typeface="Arial"/>
                <a:cs typeface="Arial"/>
              </a:rPr>
              <a:t>Category Landscape</a:t>
            </a:r>
          </a:p>
          <a:p>
            <a:pPr marL="350837" lvl="1" indent="-171450">
              <a:lnSpc>
                <a:spcPct val="120000"/>
              </a:lnSpc>
              <a:spcBef>
                <a:spcPts val="600"/>
              </a:spcBef>
              <a:buSzPct val="75000"/>
              <a:buFont typeface="System Font Regular"/>
              <a:buChar char="-"/>
              <a:tabLst>
                <a:tab pos="241300" algn="l"/>
              </a:tabLst>
            </a:pPr>
            <a:r>
              <a:rPr lang="en-US" sz="1100" dirty="0">
                <a:latin typeface="Arial"/>
                <a:cs typeface="Arial"/>
              </a:rPr>
              <a:t>Brand Analysis</a:t>
            </a:r>
          </a:p>
          <a:p>
            <a:pPr marL="179388" indent="-166688">
              <a:lnSpc>
                <a:spcPct val="120000"/>
              </a:lnSpc>
              <a:spcBef>
                <a:spcPts val="600"/>
              </a:spcBef>
              <a:buSzPct val="75000"/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GB" sz="1200" dirty="0">
                <a:latin typeface="Arial"/>
                <a:cs typeface="Arial"/>
              </a:rPr>
              <a:t>Editorial Analysis (</a:t>
            </a:r>
            <a:r>
              <a:rPr lang="en-US" sz="1200" dirty="0">
                <a:latin typeface="Arial"/>
                <a:cs typeface="Arial"/>
              </a:rPr>
              <a:t>Beauty Services - Hair / Make-up</a:t>
            </a:r>
            <a:r>
              <a:rPr lang="en-GB" sz="1200" dirty="0">
                <a:latin typeface="Arial"/>
                <a:cs typeface="Arial"/>
              </a:rPr>
              <a:t>)</a:t>
            </a:r>
            <a:endParaRPr lang="en-US" sz="1200" dirty="0">
              <a:latin typeface="Arial"/>
              <a:cs typeface="Arial"/>
            </a:endParaRPr>
          </a:p>
          <a:p>
            <a:pPr marL="358775" lvl="1" indent="-179388">
              <a:lnSpc>
                <a:spcPct val="120000"/>
              </a:lnSpc>
              <a:spcBef>
                <a:spcPts val="600"/>
              </a:spcBef>
              <a:buFont typeface="System Font Regular"/>
              <a:buChar char="-"/>
            </a:pPr>
            <a:r>
              <a:rPr lang="en-US" sz="1100" dirty="0">
                <a:latin typeface="Arial"/>
                <a:cs typeface="Arial"/>
              </a:rPr>
              <a:t>Key Topics</a:t>
            </a:r>
          </a:p>
          <a:p>
            <a:pPr marL="358775" lvl="1" indent="-179388">
              <a:lnSpc>
                <a:spcPct val="120000"/>
              </a:lnSpc>
              <a:spcBef>
                <a:spcPts val="600"/>
              </a:spcBef>
              <a:buFont typeface="System Font Regular"/>
              <a:buChar char="-"/>
            </a:pPr>
            <a:r>
              <a:rPr lang="en-US" sz="1100" dirty="0">
                <a:latin typeface="Arial"/>
                <a:cs typeface="Arial"/>
              </a:rPr>
              <a:t>Trendline of Topics (MoM percentage increases for context)</a:t>
            </a:r>
          </a:p>
          <a:p>
            <a:pPr marL="358775" lvl="1" indent="-179388">
              <a:lnSpc>
                <a:spcPct val="120000"/>
              </a:lnSpc>
              <a:spcBef>
                <a:spcPts val="600"/>
              </a:spcBef>
              <a:buFont typeface="System Font Regular"/>
              <a:buChar char="-"/>
            </a:pPr>
            <a:r>
              <a:rPr lang="en-US" sz="1100" dirty="0">
                <a:latin typeface="Arial"/>
                <a:cs typeface="Arial"/>
              </a:rPr>
              <a:t>Top Occasions</a:t>
            </a:r>
          </a:p>
          <a:p>
            <a:pPr marL="179388" indent="-166688">
              <a:lnSpc>
                <a:spcPct val="120000"/>
              </a:lnSpc>
              <a:spcBef>
                <a:spcPts val="600"/>
              </a:spcBef>
              <a:buSzPct val="75000"/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GB" sz="1200" dirty="0">
                <a:latin typeface="Arial"/>
                <a:cs typeface="Arial"/>
              </a:rPr>
              <a:t>Social Conversations Analysis (</a:t>
            </a:r>
            <a:r>
              <a:rPr lang="en-US" sz="1200" dirty="0">
                <a:latin typeface="Arial"/>
                <a:cs typeface="Arial"/>
              </a:rPr>
              <a:t>Beauty Services - Hair / Make-up</a:t>
            </a:r>
            <a:r>
              <a:rPr lang="en-GB" sz="1200" dirty="0">
                <a:latin typeface="Arial"/>
                <a:cs typeface="Arial"/>
              </a:rPr>
              <a:t>)</a:t>
            </a:r>
            <a:endParaRPr lang="en-US" sz="1200" dirty="0">
              <a:latin typeface="Arial"/>
              <a:cs typeface="Arial"/>
            </a:endParaRPr>
          </a:p>
          <a:p>
            <a:pPr marL="358775" lvl="1" indent="-179388">
              <a:lnSpc>
                <a:spcPct val="120000"/>
              </a:lnSpc>
              <a:spcBef>
                <a:spcPts val="600"/>
              </a:spcBef>
              <a:buSzPct val="75000"/>
              <a:buFont typeface="System Font Regular"/>
              <a:buChar char="-"/>
              <a:tabLst>
                <a:tab pos="241300" algn="l"/>
              </a:tabLst>
            </a:pPr>
            <a:r>
              <a:rPr lang="en-US" sz="1100" dirty="0">
                <a:latin typeface="Arial"/>
                <a:cs typeface="Arial"/>
              </a:rPr>
              <a:t>Celebrities trending because of hair/make-up</a:t>
            </a:r>
          </a:p>
          <a:p>
            <a:pPr marL="358775" lvl="1" indent="-179388">
              <a:lnSpc>
                <a:spcPct val="120000"/>
              </a:lnSpc>
              <a:spcBef>
                <a:spcPts val="600"/>
              </a:spcBef>
              <a:buSzPct val="75000"/>
              <a:buFont typeface="System Font Regular"/>
              <a:buChar char="-"/>
              <a:tabLst>
                <a:tab pos="241300" algn="l"/>
              </a:tabLst>
            </a:pPr>
            <a:r>
              <a:rPr lang="en-US" sz="1100" dirty="0">
                <a:latin typeface="Arial"/>
                <a:cs typeface="Arial"/>
              </a:rPr>
              <a:t>Most-Used Tags</a:t>
            </a:r>
          </a:p>
          <a:p>
            <a:pPr marL="358775" lvl="1" indent="-179388">
              <a:lnSpc>
                <a:spcPct val="120000"/>
              </a:lnSpc>
              <a:spcBef>
                <a:spcPts val="600"/>
              </a:spcBef>
              <a:buSzPct val="75000"/>
              <a:buFont typeface="System Font Regular"/>
              <a:buChar char="-"/>
              <a:tabLst>
                <a:tab pos="241300" algn="l"/>
              </a:tabLst>
            </a:pPr>
            <a:r>
              <a:rPr lang="en-US" sz="1100" dirty="0">
                <a:latin typeface="Arial"/>
                <a:cs typeface="Arial"/>
              </a:rPr>
              <a:t>Other Social Conversations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2450" y="378205"/>
            <a:ext cx="35909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525252"/>
                </a:solidFill>
              </a:rPr>
              <a:t>Objective</a:t>
            </a:r>
            <a:r>
              <a:rPr sz="3200" spc="-25" dirty="0">
                <a:solidFill>
                  <a:srgbClr val="525252"/>
                </a:solidFill>
              </a:rPr>
              <a:t> </a:t>
            </a:r>
            <a:r>
              <a:rPr sz="3200" dirty="0">
                <a:solidFill>
                  <a:srgbClr val="525252"/>
                </a:solidFill>
              </a:rPr>
              <a:t>&amp;</a:t>
            </a:r>
            <a:r>
              <a:rPr sz="3200" spc="-30" dirty="0">
                <a:solidFill>
                  <a:srgbClr val="525252"/>
                </a:solidFill>
              </a:rPr>
              <a:t> </a:t>
            </a:r>
            <a:r>
              <a:rPr sz="3200" spc="-10" dirty="0">
                <a:solidFill>
                  <a:srgbClr val="525252"/>
                </a:solidFill>
              </a:rPr>
              <a:t>Scope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19747" y="6357937"/>
            <a:ext cx="146812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8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Arial"/>
                <a:cs typeface="Arial"/>
              </a:rPr>
              <a:t>©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Arial"/>
                <a:cs typeface="Arial"/>
              </a:rPr>
              <a:t>InfoVision</a:t>
            </a:r>
            <a:r>
              <a:rPr kumimoji="0" sz="900" b="0" i="0" u="none" strike="noStrike" kern="0" cap="none" spc="80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0" i="0" u="none" strike="noStrike" kern="0" cap="none" spc="17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Arial"/>
                <a:cs typeface="Arial"/>
              </a:rPr>
              <a:t>|</a:t>
            </a:r>
            <a:r>
              <a:rPr kumimoji="0" sz="900" b="0" i="0" u="none" strike="noStrike" kern="0" cap="none" spc="13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Arial"/>
                <a:cs typeface="Arial"/>
              </a:rPr>
              <a:t>InfoVision.com</a:t>
            </a: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16604" y="5428361"/>
            <a:ext cx="2252980" cy="6033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4920A8"/>
                </a:solidFill>
                <a:effectLst/>
                <a:uLnTx/>
                <a:uFillTx/>
                <a:latin typeface="Arial"/>
                <a:cs typeface="Arial"/>
              </a:rPr>
              <a:t>Geography:</a:t>
            </a:r>
            <a:r>
              <a:rPr kumimoji="0" sz="1200" b="1" i="0" u="none" strike="noStrike" kern="0" cap="none" spc="-20" normalizeH="0" baseline="0" noProof="0" dirty="0">
                <a:ln>
                  <a:noFill/>
                </a:ln>
                <a:solidFill>
                  <a:srgbClr val="4920A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50" b="1" i="0" u="none" strike="noStrike" kern="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US</a:t>
            </a:r>
            <a:r>
              <a:rPr kumimoji="0" sz="950" b="1" i="0" u="none" strike="noStrike" kern="0" cap="none" spc="-1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50" b="1" i="0" u="none" strike="noStrike" kern="0" cap="none" spc="-2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only</a:t>
            </a:r>
            <a:endParaRPr kumimoji="0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4920A8"/>
                </a:solidFill>
                <a:effectLst/>
                <a:uLnTx/>
                <a:uFillTx/>
                <a:latin typeface="Arial"/>
                <a:cs typeface="Arial"/>
              </a:rPr>
              <a:t>Time</a:t>
            </a:r>
            <a:r>
              <a:rPr kumimoji="0" sz="1200" b="1" i="0" u="none" strike="noStrike" kern="0" cap="none" spc="20" normalizeH="0" baseline="0" noProof="0" dirty="0">
                <a:ln>
                  <a:noFill/>
                </a:ln>
                <a:solidFill>
                  <a:srgbClr val="4920A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4920A8"/>
                </a:solidFill>
                <a:effectLst/>
                <a:uLnTx/>
                <a:uFillTx/>
                <a:latin typeface="Arial"/>
                <a:cs typeface="Arial"/>
              </a:rPr>
              <a:t>period:</a:t>
            </a:r>
            <a:r>
              <a:rPr kumimoji="0" sz="1200" b="1" i="0" u="none" strike="noStrike" kern="0" cap="none" spc="60" normalizeH="0" baseline="0" noProof="0" dirty="0">
                <a:ln>
                  <a:noFill/>
                </a:ln>
                <a:solidFill>
                  <a:srgbClr val="4920A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50" b="1" i="0" u="none" strike="noStrike" kern="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12</a:t>
            </a:r>
            <a:r>
              <a:rPr kumimoji="0" sz="950" b="1" i="0" u="none" strike="noStrike" kern="0" cap="none" spc="65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50" b="1" i="0" u="none" strike="noStrike" kern="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Months</a:t>
            </a:r>
            <a:r>
              <a:rPr kumimoji="0" sz="950" b="1" i="0" u="none" strike="noStrike" kern="0" cap="none" spc="65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50" b="1" i="0" u="none" strike="noStrike" kern="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(</a:t>
            </a:r>
            <a:r>
              <a:rPr kumimoji="0" lang="en-US" sz="950" b="1" i="0" u="none" strike="noStrike" kern="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August </a:t>
            </a:r>
            <a:r>
              <a:rPr lang="en-US" sz="950" b="1" kern="0" dirty="0">
                <a:solidFill>
                  <a:srgbClr val="464646"/>
                </a:solidFill>
                <a:latin typeface="Arial"/>
                <a:cs typeface="Arial"/>
              </a:rPr>
              <a:t>6</a:t>
            </a:r>
            <a:r>
              <a:rPr lang="en-US" sz="950" b="1" kern="0" spc="60" dirty="0">
                <a:solidFill>
                  <a:srgbClr val="464646"/>
                </a:solidFill>
                <a:latin typeface="Arial"/>
                <a:cs typeface="Arial"/>
              </a:rPr>
              <a:t>, </a:t>
            </a:r>
            <a:r>
              <a:rPr kumimoji="0" sz="950" b="1" i="0" u="none" strike="noStrike" kern="0" cap="none" spc="-2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2024</a:t>
            </a:r>
            <a:r>
              <a:rPr kumimoji="0" lang="en-US" sz="950" b="1" i="0" u="none" strike="noStrike" kern="0" cap="none" spc="-2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50" b="1" i="0" u="none" strike="noStrike" kern="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950" b="1" i="0" u="none" strike="noStrike" kern="0" cap="none" spc="8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950" b="1" i="0" u="none" strike="noStrike" kern="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August 6,</a:t>
            </a:r>
            <a:r>
              <a:rPr kumimoji="0" sz="950" b="1" i="0" u="none" strike="noStrike" kern="0" cap="none" spc="85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50" b="1" i="0" u="none" strike="noStrike" kern="0" cap="none" spc="-1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2025)</a:t>
            </a:r>
            <a:endParaRPr kumimoji="0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2130" y="5419538"/>
            <a:ext cx="1966595" cy="43878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217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4920A8"/>
                </a:solidFill>
                <a:effectLst/>
                <a:uLnTx/>
                <a:uFillTx/>
                <a:latin typeface="Arial"/>
                <a:cs typeface="Arial"/>
              </a:rPr>
              <a:t>Sources</a:t>
            </a:r>
            <a:r>
              <a:rPr kumimoji="0" sz="1200" b="1" i="0" u="none" strike="noStrike" kern="0" cap="none" spc="-15" normalizeH="0" baseline="0" noProof="0" dirty="0">
                <a:ln>
                  <a:noFill/>
                </a:ln>
                <a:solidFill>
                  <a:srgbClr val="4920A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4920A8"/>
                </a:solidFill>
                <a:effectLst/>
                <a:uLnTx/>
                <a:uFillTx/>
                <a:latin typeface="Arial"/>
                <a:cs typeface="Arial"/>
              </a:rPr>
              <a:t>/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4920A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4920A8"/>
                </a:solidFill>
                <a:effectLst/>
                <a:uLnTx/>
                <a:uFillTx/>
                <a:latin typeface="Arial"/>
                <a:cs typeface="Arial"/>
              </a:rPr>
              <a:t>Tools:</a:t>
            </a:r>
            <a:r>
              <a:rPr kumimoji="0" sz="1200" b="1" i="0" u="none" strike="noStrike" kern="0" cap="none" spc="-40" normalizeH="0" baseline="0" noProof="0" dirty="0">
                <a:ln>
                  <a:noFill/>
                </a:ln>
                <a:solidFill>
                  <a:srgbClr val="4920A8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50" b="1" i="0" u="none" strike="noStrike" kern="0" cap="none" spc="-1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Meltwater, </a:t>
            </a:r>
            <a:r>
              <a:rPr kumimoji="0" sz="950" b="1" i="0" u="none" strike="noStrike" kern="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Quid</a:t>
            </a:r>
            <a:r>
              <a:rPr kumimoji="0" sz="950" b="1" i="0" u="none" strike="noStrike" kern="0" cap="none" spc="12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50" b="1" i="0" u="none" strike="noStrike" kern="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Discover</a:t>
            </a:r>
            <a:r>
              <a:rPr kumimoji="0" sz="950" b="1" i="0" u="none" strike="noStrike" kern="0" cap="none" spc="11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50" b="1" i="0" u="none" strike="noStrike" kern="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950" b="1" i="0" u="none" strike="noStrike" kern="0" cap="none" spc="12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50" b="1" i="0" u="none" strike="noStrike" kern="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Quid</a:t>
            </a:r>
            <a:r>
              <a:rPr kumimoji="0" sz="950" b="1" i="0" u="none" strike="noStrike" kern="0" cap="none" spc="125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50" b="1" i="0" u="none" strike="noStrike" kern="0" cap="none" spc="-1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Arial"/>
                <a:cs typeface="Arial"/>
              </a:rPr>
              <a:t>Monitor</a:t>
            </a:r>
            <a:endParaRPr kumimoji="0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540067" y="1423670"/>
            <a:ext cx="6028690" cy="346889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25"/>
              </a:spcBef>
            </a:pPr>
            <a:r>
              <a:rPr dirty="0"/>
              <a:t>Research</a:t>
            </a:r>
            <a:r>
              <a:rPr spc="-55" dirty="0"/>
              <a:t> </a:t>
            </a:r>
            <a:r>
              <a:rPr spc="-10" dirty="0"/>
              <a:t>Objective</a:t>
            </a:r>
          </a:p>
          <a:p>
            <a:pPr marL="24765" marR="5080">
              <a:lnSpc>
                <a:spcPct val="130900"/>
              </a:lnSpc>
              <a:spcBef>
                <a:spcPts val="1215"/>
              </a:spcBef>
            </a:pP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Understand the top editorial themes, hair and make-up service occasions and/or cultural moments (weddings, holidays, prom, etc.), and trending social topics (e.g., celebrities trending because of hair/make-up, key hashtags used with hair/make-up content, any relevant topics and/or hashtags associated with hair/make-up occasions, etc.</a:t>
            </a:r>
          </a:p>
          <a:p>
            <a:pPr marL="24765" marR="5080">
              <a:lnSpc>
                <a:spcPct val="130900"/>
              </a:lnSpc>
              <a:spcBef>
                <a:spcPts val="1215"/>
              </a:spcBef>
            </a:pPr>
            <a:endParaRPr lang="en-US" sz="11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/>
              <a:t>Research</a:t>
            </a:r>
            <a:r>
              <a:rPr spc="-80" dirty="0"/>
              <a:t> </a:t>
            </a:r>
            <a:r>
              <a:rPr dirty="0"/>
              <a:t>Focus</a:t>
            </a:r>
            <a:r>
              <a:rPr spc="-5" dirty="0"/>
              <a:t> </a:t>
            </a:r>
            <a:r>
              <a:rPr spc="-10" dirty="0"/>
              <a:t>Areas</a:t>
            </a: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950" dirty="0">
                <a:solidFill>
                  <a:srgbClr val="000000"/>
                </a:solidFill>
              </a:rPr>
              <a:t>Industry</a:t>
            </a:r>
            <a:r>
              <a:rPr sz="950" spc="165" dirty="0">
                <a:solidFill>
                  <a:srgbClr val="000000"/>
                </a:solidFill>
              </a:rPr>
              <a:t> </a:t>
            </a:r>
            <a:r>
              <a:rPr sz="950" spc="-10" dirty="0">
                <a:solidFill>
                  <a:srgbClr val="000000"/>
                </a:solidFill>
              </a:rPr>
              <a:t>Research</a:t>
            </a:r>
            <a:endParaRPr sz="950" dirty="0"/>
          </a:p>
          <a:p>
            <a:pPr marL="188595" indent="-111125">
              <a:lnSpc>
                <a:spcPct val="100000"/>
              </a:lnSpc>
              <a:spcBef>
                <a:spcPts val="660"/>
              </a:spcBef>
              <a:buSzPct val="78947"/>
              <a:buChar char="•"/>
              <a:tabLst>
                <a:tab pos="188595" algn="l"/>
              </a:tabLst>
            </a:pPr>
            <a:r>
              <a:rPr lang="en-US" sz="950" b="0" dirty="0">
                <a:solidFill>
                  <a:srgbClr val="000000"/>
                </a:solidFill>
                <a:latin typeface="Arial"/>
                <a:cs typeface="Arial"/>
              </a:rPr>
              <a:t>Top editorial themes</a:t>
            </a:r>
          </a:p>
          <a:p>
            <a:pPr marL="188595" indent="-111125">
              <a:lnSpc>
                <a:spcPct val="100000"/>
              </a:lnSpc>
              <a:spcBef>
                <a:spcPts val="660"/>
              </a:spcBef>
              <a:buSzPct val="78947"/>
              <a:buChar char="•"/>
              <a:tabLst>
                <a:tab pos="188595" algn="l"/>
              </a:tabLst>
            </a:pPr>
            <a:r>
              <a:rPr lang="en-US" sz="950" b="0" dirty="0">
                <a:solidFill>
                  <a:srgbClr val="000000"/>
                </a:solidFill>
                <a:latin typeface="Arial"/>
                <a:cs typeface="Arial"/>
              </a:rPr>
              <a:t>Hair and make-up service occasions and/or cultural moments (weddings, holidays, prom, etc.),</a:t>
            </a:r>
          </a:p>
          <a:p>
            <a:pPr marL="188595" indent="-111125">
              <a:lnSpc>
                <a:spcPct val="100000"/>
              </a:lnSpc>
              <a:spcBef>
                <a:spcPts val="660"/>
              </a:spcBef>
              <a:buSzPct val="78947"/>
              <a:buChar char="•"/>
              <a:tabLst>
                <a:tab pos="188595" algn="l"/>
              </a:tabLst>
            </a:pPr>
            <a:r>
              <a:rPr sz="950" b="0" dirty="0">
                <a:solidFill>
                  <a:srgbClr val="000000"/>
                </a:solidFill>
              </a:rPr>
              <a:t>Trending </a:t>
            </a:r>
            <a:r>
              <a:rPr lang="en-US" sz="950" b="0" dirty="0">
                <a:solidFill>
                  <a:srgbClr val="000000"/>
                </a:solidFill>
              </a:rPr>
              <a:t>Social </a:t>
            </a:r>
            <a:r>
              <a:rPr sz="950" b="0" dirty="0">
                <a:solidFill>
                  <a:srgbClr val="000000"/>
                </a:solidFill>
              </a:rPr>
              <a:t>Topics</a:t>
            </a:r>
            <a:r>
              <a:rPr sz="950" b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950" b="0" spc="2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950" b="0" dirty="0">
                <a:solidFill>
                  <a:srgbClr val="000000"/>
                </a:solidFill>
                <a:latin typeface="Arial"/>
                <a:cs typeface="Arial"/>
              </a:rPr>
              <a:t>Hashtags,</a:t>
            </a:r>
            <a:r>
              <a:rPr sz="950" b="0" spc="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950" b="0" dirty="0">
                <a:solidFill>
                  <a:srgbClr val="000000"/>
                </a:solidFill>
                <a:latin typeface="Arial"/>
                <a:cs typeface="Arial"/>
              </a:rPr>
              <a:t>Celebrities,</a:t>
            </a:r>
            <a:r>
              <a:rPr sz="950" b="0" spc="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950" b="0" spc="-20" dirty="0">
                <a:solidFill>
                  <a:srgbClr val="000000"/>
                </a:solidFill>
                <a:latin typeface="Arial"/>
                <a:cs typeface="Arial"/>
              </a:rPr>
              <a:t>etc.</a:t>
            </a:r>
            <a:endParaRPr sz="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50" spc="10" dirty="0">
                <a:solidFill>
                  <a:srgbClr val="000000"/>
                </a:solidFill>
              </a:rPr>
              <a:t>Competitive</a:t>
            </a:r>
            <a:r>
              <a:rPr sz="950" spc="80" dirty="0">
                <a:solidFill>
                  <a:srgbClr val="000000"/>
                </a:solidFill>
              </a:rPr>
              <a:t> </a:t>
            </a:r>
            <a:r>
              <a:rPr sz="950" spc="10" dirty="0">
                <a:solidFill>
                  <a:srgbClr val="000000"/>
                </a:solidFill>
              </a:rPr>
              <a:t>Research</a:t>
            </a:r>
            <a:r>
              <a:rPr sz="950" b="0" spc="1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lang="en-US" sz="950" b="0" spc="10" dirty="0">
                <a:solidFill>
                  <a:srgbClr val="000000"/>
                </a:solidFill>
                <a:latin typeface="Arial"/>
                <a:cs typeface="Arial"/>
              </a:rPr>
              <a:t> DryBar Salons, Blushington, Benefit Brow Bar, Glamsquad</a:t>
            </a:r>
          </a:p>
          <a:p>
            <a:pPr marL="12700">
              <a:lnSpc>
                <a:spcPct val="100000"/>
              </a:lnSpc>
            </a:pPr>
            <a:endParaRPr lang="en-US" sz="950" b="0" spc="10" dirty="0">
              <a:solidFill>
                <a:srgbClr val="000000"/>
              </a:solidFill>
            </a:endParaRPr>
          </a:p>
          <a:p>
            <a:pPr marL="12700">
              <a:lnSpc>
                <a:spcPct val="100000"/>
              </a:lnSpc>
            </a:pPr>
            <a:r>
              <a:rPr lang="en-US" sz="950" spc="10" dirty="0">
                <a:solidFill>
                  <a:srgbClr val="000000"/>
                </a:solidFill>
              </a:rPr>
              <a:t>Target Audience: </a:t>
            </a:r>
            <a:r>
              <a:rPr lang="en-US" sz="950" b="0" spc="10" dirty="0">
                <a:solidFill>
                  <a:srgbClr val="000000"/>
                </a:solidFill>
              </a:rPr>
              <a:t>Primary W25-54; Secondary: Teens (specifically during prom and homecoming season)</a:t>
            </a:r>
            <a:endParaRPr sz="95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6600" y="314325"/>
            <a:ext cx="4781550" cy="6229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842CCC-4FD8-C8B3-4917-5DFF933EAC7C}"/>
              </a:ext>
            </a:extLst>
          </p:cNvPr>
          <p:cNvSpPr/>
          <p:nvPr/>
        </p:nvSpPr>
        <p:spPr>
          <a:xfrm>
            <a:off x="4739321" y="6988"/>
            <a:ext cx="745268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2C5A670-4C00-3136-DCCD-0471088DD27D}"/>
              </a:ext>
            </a:extLst>
          </p:cNvPr>
          <p:cNvSpPr/>
          <p:nvPr/>
        </p:nvSpPr>
        <p:spPr>
          <a:xfrm>
            <a:off x="5290546" y="3762530"/>
            <a:ext cx="6408000" cy="2755589"/>
          </a:xfrm>
          <a:prstGeom prst="roundRect">
            <a:avLst>
              <a:gd name="adj" fmla="val 0"/>
            </a:avLst>
          </a:prstGeom>
          <a:solidFill>
            <a:schemeClr val="bg1">
              <a:alpha val="830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182880" rtlCol="0" anchor="ctr"/>
          <a:lstStyle/>
          <a:p>
            <a:pPr hangingPunct="0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4A21A8"/>
                </a:solidFill>
                <a:latin typeface="SF Pro Semibold"/>
                <a:ea typeface="SF Pro Semibold"/>
                <a:cs typeface="SF Pro Semibold"/>
                <a:sym typeface="SF Pro Semibold"/>
              </a:defRPr>
            </a:pPr>
            <a:r>
              <a:rPr lang="en-IN" sz="1200" b="1" kern="0" dirty="0">
                <a:solidFill>
                  <a:srgbClr val="4A21A8"/>
                </a:solidFill>
                <a:latin typeface="Arial" panose="020B0604020202020204" pitchFamily="34" charset="0"/>
                <a:ea typeface="SF Pro Semibold"/>
                <a:cs typeface="Arial" panose="020B0604020202020204" pitchFamily="34" charset="0"/>
              </a:rPr>
              <a:t>Coverage · Conversation · Search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 of Voice: </a:t>
            </a:r>
            <a:r>
              <a:rPr lang="en-I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≈13% of beauty services (3</a:t>
            </a:r>
            <a:r>
              <a:rPr lang="en-IN" sz="11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I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after Benefit Brow Bar, DryBar)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Sentiment: </a:t>
            </a:r>
            <a:r>
              <a:rPr lang="en-I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59% positive · 39% neutral · 2% negative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Themes: </a:t>
            </a:r>
            <a:r>
              <a:rPr lang="en-I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bridal &amp; permanent makeup services; trending colours (butterscotch blonde, silver highlights); celebrity/influencer campaigns (e.g. NYX with Paris Hilton &amp; Saweetie); rising costs and tipping debates; inclusive &amp; gender affirming services plus tech led convenience (AI booking, mobile salons)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hashtags: </a:t>
            </a:r>
            <a:r>
              <a:rPr lang="en-I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#skincare · #haircolor · #hairstylist · #hairstyles · #beauty</a:t>
            </a:r>
          </a:p>
          <a:p>
            <a:pPr marL="171450" indent="-1714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Seasonal peaks: </a:t>
            </a:r>
            <a:r>
              <a:rPr lang="en-I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holiday season (November–December) and back to school (September)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7ECB19F5-B793-EF49-B344-B89F2C3E95F4}"/>
              </a:ext>
            </a:extLst>
          </p:cNvPr>
          <p:cNvSpPr txBox="1">
            <a:spLocks/>
          </p:cNvSpPr>
          <p:nvPr/>
        </p:nvSpPr>
        <p:spPr>
          <a:xfrm>
            <a:off x="493454" y="433093"/>
            <a:ext cx="2911724" cy="97872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Aptos SemiBold" panose="020B0004020202020204" pitchFamily="34" charset="0"/>
              </a:rPr>
              <a:t>Hunter Intelligence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E2C00628-31F8-8E89-6785-DA7CF4EB7BD1}"/>
              </a:ext>
            </a:extLst>
          </p:cNvPr>
          <p:cNvSpPr txBox="1">
            <a:spLocks/>
          </p:cNvSpPr>
          <p:nvPr/>
        </p:nvSpPr>
        <p:spPr>
          <a:xfrm>
            <a:off x="581946" y="1869478"/>
            <a:ext cx="2264272" cy="28623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0EA27CD-8546-699C-7774-7ED913B18768}"/>
              </a:ext>
            </a:extLst>
          </p:cNvPr>
          <p:cNvSpPr/>
          <p:nvPr/>
        </p:nvSpPr>
        <p:spPr>
          <a:xfrm>
            <a:off x="493454" y="2061448"/>
            <a:ext cx="4157374" cy="122309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000" b="1" dirty="0">
                <a:solidFill>
                  <a:srgbClr val="003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Client: </a:t>
            </a:r>
            <a:r>
              <a:rPr lang="en-US" sz="1000" dirty="0">
                <a:solidFill>
                  <a:srgbClr val="003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 Blow Dry Bar 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000" b="1" dirty="0">
                <a:solidFill>
                  <a:srgbClr val="003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Category: </a:t>
            </a:r>
            <a:r>
              <a:rPr lang="en-US" sz="1000" dirty="0">
                <a:solidFill>
                  <a:srgbClr val="003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Beauty Services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1000" b="1" dirty="0">
                <a:solidFill>
                  <a:srgbClr val="003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Competitors: </a:t>
            </a:r>
            <a:r>
              <a:rPr lang="en-US" sz="1000" dirty="0">
                <a:solidFill>
                  <a:srgbClr val="003B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DryBar Salons, Blushington, Benefit Brow Bar, Glamsquad</a:t>
            </a:r>
          </a:p>
        </p:txBody>
      </p:sp>
      <p:sp>
        <p:nvSpPr>
          <p:cNvPr id="2" name="Rounded Rectangle 13">
            <a:extLst>
              <a:ext uri="{FF2B5EF4-FFF2-40B4-BE49-F238E27FC236}">
                <a16:creationId xmlns:a16="http://schemas.microsoft.com/office/drawing/2014/main" id="{809721BF-8FF9-0EEE-71E1-F514E464A747}"/>
              </a:ext>
            </a:extLst>
          </p:cNvPr>
          <p:cNvSpPr/>
          <p:nvPr/>
        </p:nvSpPr>
        <p:spPr>
          <a:xfrm>
            <a:off x="5290546" y="495300"/>
            <a:ext cx="6408000" cy="2987316"/>
          </a:xfrm>
          <a:prstGeom prst="roundRect">
            <a:avLst>
              <a:gd name="adj" fmla="val 0"/>
            </a:avLst>
          </a:prstGeom>
          <a:solidFill>
            <a:schemeClr val="bg1">
              <a:alpha val="830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182880" rtlCol="0" anchor="ctr"/>
          <a:lstStyle/>
          <a:p>
            <a:pPr hangingPunct="0">
              <a:lnSpc>
                <a:spcPct val="120000"/>
              </a:lnSpc>
              <a:spcAft>
                <a:spcPts val="600"/>
              </a:spcAft>
              <a:defRPr sz="1600" b="1">
                <a:solidFill>
                  <a:srgbClr val="4A21A8"/>
                </a:solidFill>
                <a:latin typeface="SF Pro Semibold"/>
                <a:ea typeface="SF Pro Semibold"/>
                <a:cs typeface="SF Pro Semibold"/>
                <a:sym typeface="SF Pro Semibold"/>
              </a:defRPr>
            </a:pPr>
            <a:r>
              <a:rPr lang="en-IN" sz="1200" b="1" kern="0" dirty="0">
                <a:solidFill>
                  <a:srgbClr val="4A21A8"/>
                </a:solidFill>
                <a:latin typeface="Arial" panose="020B0604020202020204" pitchFamily="34" charset="0"/>
                <a:ea typeface="SF Pro Semibold"/>
                <a:cs typeface="Arial" panose="020B0604020202020204" pitchFamily="34" charset="0"/>
              </a:rPr>
              <a:t>Consumer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“Occasion-Ready Crowd”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mostly female, urban/suburban</a:t>
            </a:r>
            <a:endParaRPr lang="en-US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Mindset: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quick, no-stress styling for proms, weddings, holidays</a:t>
            </a:r>
            <a:endParaRPr lang="en-IN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Influences: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Influenced by TikTok before after reels, prom &amp; quinceañera boards, creator tutorials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Values: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Speed, consistent quality, friendly prices, cruelty-free products</a:t>
            </a:r>
            <a:r>
              <a:rPr lang="en-IN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Interests / Communities: </a:t>
            </a:r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follow hair-and-beauty subreddits and Instagram channels, campus style pages, wedding-planning groups, and TikTok channels that post quick hairstyle and makeup hacks.</a:t>
            </a:r>
            <a:endParaRPr lang="en-US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blue and purple cylinder shaped objects&#10;&#10;AI-generated content may be incorrect.">
            <a:extLst>
              <a:ext uri="{FF2B5EF4-FFF2-40B4-BE49-F238E27FC236}">
                <a16:creationId xmlns:a16="http://schemas.microsoft.com/office/drawing/2014/main" id="{7012EAED-CC2E-7542-E14E-BA39EF186E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067"/>
          <a:stretch>
            <a:fillRect/>
          </a:stretch>
        </p:blipFill>
        <p:spPr>
          <a:xfrm flipH="1">
            <a:off x="-1" y="3476508"/>
            <a:ext cx="4739321" cy="338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28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A748-815E-39B8-6383-A2C96A51E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275DF268-0C52-9BAD-D170-EECD5CB17BE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20"/>
          <a:stretch>
            <a:fillRect/>
          </a:stretch>
        </p:blipFill>
        <p:spPr>
          <a:xfrm>
            <a:off x="-132735" y="0"/>
            <a:ext cx="1232473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CD6BF8-81FF-874B-8CED-9A2232F26F7B}"/>
              </a:ext>
            </a:extLst>
          </p:cNvPr>
          <p:cNvSpPr txBox="1">
            <a:spLocks/>
          </p:cNvSpPr>
          <p:nvPr/>
        </p:nvSpPr>
        <p:spPr>
          <a:xfrm>
            <a:off x="530555" y="1350893"/>
            <a:ext cx="7492567" cy="97872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Beauty Services Landscape</a:t>
            </a:r>
          </a:p>
          <a:p>
            <a:r>
              <a:rPr lang="en-GB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(Editorial &amp; Social)</a:t>
            </a:r>
          </a:p>
        </p:txBody>
      </p:sp>
    </p:spTree>
    <p:extLst>
      <p:ext uri="{BB962C8B-B14F-4D97-AF65-F5344CB8AC3E}">
        <p14:creationId xmlns:p14="http://schemas.microsoft.com/office/powerpoint/2010/main" val="99780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600"/>
            <a:ext cx="12192000" cy="5638800"/>
            <a:chOff x="0" y="609600"/>
            <a:chExt cx="12192000" cy="5638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516504"/>
              <a:ext cx="12191999" cy="42651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09600"/>
              <a:ext cx="12191999" cy="56388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7414" y="2059368"/>
            <a:ext cx="2162810" cy="14928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z="4800" spc="-10" dirty="0">
                <a:solidFill>
                  <a:srgbClr val="000000"/>
                </a:solidFill>
              </a:rPr>
              <a:t>THANK </a:t>
            </a:r>
            <a:r>
              <a:rPr sz="4800" spc="-25" dirty="0">
                <a:solidFill>
                  <a:srgbClr val="000000"/>
                </a:solidFill>
              </a:rPr>
              <a:t>YOU</a:t>
            </a:r>
            <a:endParaRPr sz="4800" dirty="0"/>
          </a:p>
        </p:txBody>
      </p:sp>
      <p:grpSp>
        <p:nvGrpSpPr>
          <p:cNvPr id="6" name="object 6"/>
          <p:cNvGrpSpPr/>
          <p:nvPr/>
        </p:nvGrpSpPr>
        <p:grpSpPr>
          <a:xfrm>
            <a:off x="992187" y="1744662"/>
            <a:ext cx="11200130" cy="4866005"/>
            <a:chOff x="992187" y="1744662"/>
            <a:chExt cx="11200130" cy="4866005"/>
          </a:xfrm>
        </p:grpSpPr>
        <p:pic>
          <p:nvPicPr>
            <p:cNvPr id="7" name="object 7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2187" y="1744662"/>
              <a:ext cx="149225" cy="1492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39837" y="1744662"/>
              <a:ext cx="149225" cy="1492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87487" y="1744662"/>
              <a:ext cx="149225" cy="1492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90876" y="3243199"/>
              <a:ext cx="9501505" cy="76200"/>
            </a:xfrm>
            <a:custGeom>
              <a:avLst/>
              <a:gdLst/>
              <a:ahLst/>
              <a:cxnLst/>
              <a:rect l="l" t="t" r="r" b="b"/>
              <a:pathLst>
                <a:path w="9501505" h="76200">
                  <a:moveTo>
                    <a:pt x="38100" y="0"/>
                  </a:moveTo>
                  <a:lnTo>
                    <a:pt x="23252" y="3006"/>
                  </a:lnTo>
                  <a:lnTo>
                    <a:pt x="11144" y="11191"/>
                  </a:lnTo>
                  <a:lnTo>
                    <a:pt x="2988" y="23306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893" y="73211"/>
                  </a:lnTo>
                  <a:lnTo>
                    <a:pt x="65008" y="65055"/>
                  </a:lnTo>
                  <a:lnTo>
                    <a:pt x="73193" y="52947"/>
                  </a:lnTo>
                  <a:lnTo>
                    <a:pt x="74888" y="44576"/>
                  </a:lnTo>
                  <a:lnTo>
                    <a:pt x="38100" y="44576"/>
                  </a:lnTo>
                  <a:lnTo>
                    <a:pt x="38100" y="31876"/>
                  </a:lnTo>
                  <a:lnTo>
                    <a:pt x="74935" y="31876"/>
                  </a:lnTo>
                  <a:lnTo>
                    <a:pt x="73193" y="23306"/>
                  </a:lnTo>
                  <a:lnTo>
                    <a:pt x="65008" y="11191"/>
                  </a:lnTo>
                  <a:lnTo>
                    <a:pt x="52893" y="3006"/>
                  </a:lnTo>
                  <a:lnTo>
                    <a:pt x="38100" y="0"/>
                  </a:lnTo>
                  <a:close/>
                </a:path>
                <a:path w="9501505" h="76200">
                  <a:moveTo>
                    <a:pt x="74935" y="31876"/>
                  </a:moveTo>
                  <a:lnTo>
                    <a:pt x="38100" y="31876"/>
                  </a:lnTo>
                  <a:lnTo>
                    <a:pt x="38100" y="44576"/>
                  </a:lnTo>
                  <a:lnTo>
                    <a:pt x="74888" y="44576"/>
                  </a:lnTo>
                  <a:lnTo>
                    <a:pt x="76200" y="38100"/>
                  </a:lnTo>
                  <a:lnTo>
                    <a:pt x="74935" y="31876"/>
                  </a:lnTo>
                  <a:close/>
                </a:path>
                <a:path w="9501505" h="76200">
                  <a:moveTo>
                    <a:pt x="9501124" y="31876"/>
                  </a:moveTo>
                  <a:lnTo>
                    <a:pt x="74935" y="31876"/>
                  </a:lnTo>
                  <a:lnTo>
                    <a:pt x="76200" y="38100"/>
                  </a:lnTo>
                  <a:lnTo>
                    <a:pt x="74888" y="44576"/>
                  </a:lnTo>
                  <a:lnTo>
                    <a:pt x="9501124" y="44576"/>
                  </a:lnTo>
                  <a:lnTo>
                    <a:pt x="9501124" y="31876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1133475" y="6010275"/>
              <a:ext cx="7343775" cy="600075"/>
            </a:xfrm>
            <a:custGeom>
              <a:avLst/>
              <a:gdLst/>
              <a:ahLst/>
              <a:cxnLst/>
              <a:rect l="l" t="t" r="r" b="b"/>
              <a:pathLst>
                <a:path w="7343775" h="600075">
                  <a:moveTo>
                    <a:pt x="590550" y="98425"/>
                  </a:moveTo>
                  <a:lnTo>
                    <a:pt x="582803" y="60121"/>
                  </a:lnTo>
                  <a:lnTo>
                    <a:pt x="561721" y="28829"/>
                  </a:lnTo>
                  <a:lnTo>
                    <a:pt x="530428" y="7747"/>
                  </a:lnTo>
                  <a:lnTo>
                    <a:pt x="492125" y="0"/>
                  </a:lnTo>
                  <a:lnTo>
                    <a:pt x="98425" y="0"/>
                  </a:lnTo>
                  <a:lnTo>
                    <a:pt x="60109" y="7747"/>
                  </a:lnTo>
                  <a:lnTo>
                    <a:pt x="28829" y="28829"/>
                  </a:lnTo>
                  <a:lnTo>
                    <a:pt x="7734" y="60121"/>
                  </a:lnTo>
                  <a:lnTo>
                    <a:pt x="0" y="98425"/>
                  </a:lnTo>
                  <a:lnTo>
                    <a:pt x="0" y="501650"/>
                  </a:lnTo>
                  <a:lnTo>
                    <a:pt x="7734" y="539965"/>
                  </a:lnTo>
                  <a:lnTo>
                    <a:pt x="28829" y="571246"/>
                  </a:lnTo>
                  <a:lnTo>
                    <a:pt x="60109" y="592340"/>
                  </a:lnTo>
                  <a:lnTo>
                    <a:pt x="98425" y="600075"/>
                  </a:lnTo>
                  <a:lnTo>
                    <a:pt x="492125" y="600075"/>
                  </a:lnTo>
                  <a:lnTo>
                    <a:pt x="530428" y="592340"/>
                  </a:lnTo>
                  <a:lnTo>
                    <a:pt x="561721" y="571246"/>
                  </a:lnTo>
                  <a:lnTo>
                    <a:pt x="582803" y="539965"/>
                  </a:lnTo>
                  <a:lnTo>
                    <a:pt x="590550" y="501650"/>
                  </a:lnTo>
                  <a:lnTo>
                    <a:pt x="590550" y="98425"/>
                  </a:lnTo>
                  <a:close/>
                </a:path>
                <a:path w="7343775" h="600075">
                  <a:moveTo>
                    <a:pt x="3724275" y="100012"/>
                  </a:moveTo>
                  <a:lnTo>
                    <a:pt x="3716401" y="61087"/>
                  </a:lnTo>
                  <a:lnTo>
                    <a:pt x="3694950" y="29298"/>
                  </a:lnTo>
                  <a:lnTo>
                    <a:pt x="3663137" y="7861"/>
                  </a:lnTo>
                  <a:lnTo>
                    <a:pt x="3624199" y="0"/>
                  </a:lnTo>
                  <a:lnTo>
                    <a:pt x="3224276" y="0"/>
                  </a:lnTo>
                  <a:lnTo>
                    <a:pt x="3185325" y="7861"/>
                  </a:lnTo>
                  <a:lnTo>
                    <a:pt x="3153511" y="29298"/>
                  </a:lnTo>
                  <a:lnTo>
                    <a:pt x="3132061" y="61087"/>
                  </a:lnTo>
                  <a:lnTo>
                    <a:pt x="3124200" y="100012"/>
                  </a:lnTo>
                  <a:lnTo>
                    <a:pt x="3124200" y="500062"/>
                  </a:lnTo>
                  <a:lnTo>
                    <a:pt x="3132061" y="539000"/>
                  </a:lnTo>
                  <a:lnTo>
                    <a:pt x="3153511" y="570788"/>
                  </a:lnTo>
                  <a:lnTo>
                    <a:pt x="3185325" y="592226"/>
                  </a:lnTo>
                  <a:lnTo>
                    <a:pt x="3224276" y="600075"/>
                  </a:lnTo>
                  <a:lnTo>
                    <a:pt x="3624199" y="600075"/>
                  </a:lnTo>
                  <a:lnTo>
                    <a:pt x="3663137" y="592226"/>
                  </a:lnTo>
                  <a:lnTo>
                    <a:pt x="3694950" y="570788"/>
                  </a:lnTo>
                  <a:lnTo>
                    <a:pt x="3716401" y="539000"/>
                  </a:lnTo>
                  <a:lnTo>
                    <a:pt x="3724275" y="500062"/>
                  </a:lnTo>
                  <a:lnTo>
                    <a:pt x="3724275" y="100012"/>
                  </a:lnTo>
                  <a:close/>
                </a:path>
                <a:path w="7343775" h="600075">
                  <a:moveTo>
                    <a:pt x="7343775" y="98425"/>
                  </a:moveTo>
                  <a:lnTo>
                    <a:pt x="7336028" y="60121"/>
                  </a:lnTo>
                  <a:lnTo>
                    <a:pt x="7314946" y="28829"/>
                  </a:lnTo>
                  <a:lnTo>
                    <a:pt x="7283653" y="7747"/>
                  </a:lnTo>
                  <a:lnTo>
                    <a:pt x="7245350" y="0"/>
                  </a:lnTo>
                  <a:lnTo>
                    <a:pt x="6851650" y="0"/>
                  </a:lnTo>
                  <a:lnTo>
                    <a:pt x="6813334" y="7747"/>
                  </a:lnTo>
                  <a:lnTo>
                    <a:pt x="6782054" y="28829"/>
                  </a:lnTo>
                  <a:lnTo>
                    <a:pt x="6760959" y="60121"/>
                  </a:lnTo>
                  <a:lnTo>
                    <a:pt x="6753225" y="98425"/>
                  </a:lnTo>
                  <a:lnTo>
                    <a:pt x="6753225" y="501650"/>
                  </a:lnTo>
                  <a:lnTo>
                    <a:pt x="6760959" y="539965"/>
                  </a:lnTo>
                  <a:lnTo>
                    <a:pt x="6782054" y="571246"/>
                  </a:lnTo>
                  <a:lnTo>
                    <a:pt x="6813334" y="592340"/>
                  </a:lnTo>
                  <a:lnTo>
                    <a:pt x="6851650" y="600075"/>
                  </a:lnTo>
                  <a:lnTo>
                    <a:pt x="7245350" y="600075"/>
                  </a:lnTo>
                  <a:lnTo>
                    <a:pt x="7283653" y="592340"/>
                  </a:lnTo>
                  <a:lnTo>
                    <a:pt x="7314933" y="571246"/>
                  </a:lnTo>
                  <a:lnTo>
                    <a:pt x="7336028" y="539965"/>
                  </a:lnTo>
                  <a:lnTo>
                    <a:pt x="7343775" y="501650"/>
                  </a:lnTo>
                  <a:lnTo>
                    <a:pt x="7343775" y="98425"/>
                  </a:lnTo>
                  <a:close/>
                </a:path>
              </a:pathLst>
            </a:custGeom>
            <a:solidFill>
              <a:srgbClr val="11153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291234" y="6167196"/>
              <a:ext cx="3439795" cy="283845"/>
            </a:xfrm>
            <a:custGeom>
              <a:avLst/>
              <a:gdLst/>
              <a:ahLst/>
              <a:cxnLst/>
              <a:rect l="l" t="t" r="r" b="b"/>
              <a:pathLst>
                <a:path w="3439795" h="283845">
                  <a:moveTo>
                    <a:pt x="53136" y="0"/>
                  </a:moveTo>
                  <a:lnTo>
                    <a:pt x="44145" y="0"/>
                  </a:lnTo>
                  <a:lnTo>
                    <a:pt x="38125" y="2768"/>
                  </a:lnTo>
                  <a:lnTo>
                    <a:pt x="53136" y="2768"/>
                  </a:lnTo>
                  <a:lnTo>
                    <a:pt x="53136" y="0"/>
                  </a:lnTo>
                  <a:close/>
                </a:path>
                <a:path w="3439795" h="283845">
                  <a:moveTo>
                    <a:pt x="84061" y="8051"/>
                  </a:moveTo>
                  <a:lnTo>
                    <a:pt x="83121" y="6553"/>
                  </a:lnTo>
                  <a:lnTo>
                    <a:pt x="80175" y="3683"/>
                  </a:lnTo>
                  <a:lnTo>
                    <a:pt x="78422" y="2768"/>
                  </a:lnTo>
                  <a:lnTo>
                    <a:pt x="66382" y="2768"/>
                  </a:lnTo>
                  <a:lnTo>
                    <a:pt x="53136" y="2768"/>
                  </a:lnTo>
                  <a:lnTo>
                    <a:pt x="53136" y="8051"/>
                  </a:lnTo>
                  <a:lnTo>
                    <a:pt x="66382" y="8051"/>
                  </a:lnTo>
                  <a:lnTo>
                    <a:pt x="84061" y="8051"/>
                  </a:lnTo>
                  <a:close/>
                </a:path>
                <a:path w="3439795" h="283845">
                  <a:moveTo>
                    <a:pt x="85128" y="9944"/>
                  </a:moveTo>
                  <a:lnTo>
                    <a:pt x="82956" y="9944"/>
                  </a:lnTo>
                  <a:lnTo>
                    <a:pt x="77698" y="13106"/>
                  </a:lnTo>
                  <a:lnTo>
                    <a:pt x="85128" y="9944"/>
                  </a:lnTo>
                  <a:close/>
                </a:path>
                <a:path w="3439795" h="283845">
                  <a:moveTo>
                    <a:pt x="183654" y="200837"/>
                  </a:moveTo>
                  <a:lnTo>
                    <a:pt x="162775" y="200837"/>
                  </a:lnTo>
                  <a:lnTo>
                    <a:pt x="170903" y="203238"/>
                  </a:lnTo>
                  <a:lnTo>
                    <a:pt x="179260" y="202692"/>
                  </a:lnTo>
                  <a:lnTo>
                    <a:pt x="183654" y="200837"/>
                  </a:lnTo>
                  <a:close/>
                </a:path>
                <a:path w="3439795" h="283845">
                  <a:moveTo>
                    <a:pt x="201549" y="208013"/>
                  </a:moveTo>
                  <a:lnTo>
                    <a:pt x="159156" y="208013"/>
                  </a:lnTo>
                  <a:lnTo>
                    <a:pt x="162775" y="200837"/>
                  </a:lnTo>
                  <a:lnTo>
                    <a:pt x="143992" y="189788"/>
                  </a:lnTo>
                  <a:lnTo>
                    <a:pt x="125882" y="176072"/>
                  </a:lnTo>
                  <a:lnTo>
                    <a:pt x="109270" y="160451"/>
                  </a:lnTo>
                  <a:lnTo>
                    <a:pt x="94983" y="143700"/>
                  </a:lnTo>
                  <a:lnTo>
                    <a:pt x="82143" y="153416"/>
                  </a:lnTo>
                  <a:lnTo>
                    <a:pt x="115646" y="188252"/>
                  </a:lnTo>
                  <a:lnTo>
                    <a:pt x="155536" y="215201"/>
                  </a:lnTo>
                  <a:lnTo>
                    <a:pt x="169329" y="219278"/>
                  </a:lnTo>
                  <a:lnTo>
                    <a:pt x="183045" y="218325"/>
                  </a:lnTo>
                  <a:lnTo>
                    <a:pt x="195719" y="212979"/>
                  </a:lnTo>
                  <a:lnTo>
                    <a:pt x="201549" y="208013"/>
                  </a:lnTo>
                  <a:close/>
                </a:path>
                <a:path w="3439795" h="283845">
                  <a:moveTo>
                    <a:pt x="202882" y="200837"/>
                  </a:moveTo>
                  <a:lnTo>
                    <a:pt x="194246" y="193319"/>
                  </a:lnTo>
                  <a:lnTo>
                    <a:pt x="187236" y="199326"/>
                  </a:lnTo>
                  <a:lnTo>
                    <a:pt x="183654" y="200837"/>
                  </a:lnTo>
                  <a:lnTo>
                    <a:pt x="202882" y="200837"/>
                  </a:lnTo>
                  <a:close/>
                </a:path>
                <a:path w="3439795" h="283845">
                  <a:moveTo>
                    <a:pt x="282524" y="208013"/>
                  </a:moveTo>
                  <a:lnTo>
                    <a:pt x="274320" y="203885"/>
                  </a:lnTo>
                  <a:lnTo>
                    <a:pt x="206400" y="203885"/>
                  </a:lnTo>
                  <a:lnTo>
                    <a:pt x="201549" y="208013"/>
                  </a:lnTo>
                  <a:lnTo>
                    <a:pt x="282524" y="208013"/>
                  </a:lnTo>
                  <a:close/>
                </a:path>
                <a:path w="3439795" h="283845">
                  <a:moveTo>
                    <a:pt x="303022" y="203885"/>
                  </a:moveTo>
                  <a:lnTo>
                    <a:pt x="301421" y="201714"/>
                  </a:lnTo>
                  <a:lnTo>
                    <a:pt x="287896" y="201714"/>
                  </a:lnTo>
                  <a:lnTo>
                    <a:pt x="288340" y="200837"/>
                  </a:lnTo>
                  <a:lnTo>
                    <a:pt x="300774" y="200837"/>
                  </a:lnTo>
                  <a:lnTo>
                    <a:pt x="299123" y="198602"/>
                  </a:lnTo>
                  <a:lnTo>
                    <a:pt x="289458" y="198602"/>
                  </a:lnTo>
                  <a:lnTo>
                    <a:pt x="291515" y="194538"/>
                  </a:lnTo>
                  <a:lnTo>
                    <a:pt x="263829" y="180594"/>
                  </a:lnTo>
                  <a:lnTo>
                    <a:pt x="263829" y="198602"/>
                  </a:lnTo>
                  <a:lnTo>
                    <a:pt x="210972" y="198602"/>
                  </a:lnTo>
                  <a:lnTo>
                    <a:pt x="214553" y="194322"/>
                  </a:lnTo>
                  <a:lnTo>
                    <a:pt x="218122" y="189928"/>
                  </a:lnTo>
                  <a:lnTo>
                    <a:pt x="246608" y="189928"/>
                  </a:lnTo>
                  <a:lnTo>
                    <a:pt x="236512" y="184848"/>
                  </a:lnTo>
                  <a:lnTo>
                    <a:pt x="226212" y="184848"/>
                  </a:lnTo>
                  <a:lnTo>
                    <a:pt x="231216" y="183616"/>
                  </a:lnTo>
                  <a:lnTo>
                    <a:pt x="235826" y="184086"/>
                  </a:lnTo>
                  <a:lnTo>
                    <a:pt x="234988" y="184086"/>
                  </a:lnTo>
                  <a:lnTo>
                    <a:pt x="236512" y="184848"/>
                  </a:lnTo>
                  <a:lnTo>
                    <a:pt x="237147" y="185166"/>
                  </a:lnTo>
                  <a:lnTo>
                    <a:pt x="237934" y="183616"/>
                  </a:lnTo>
                  <a:lnTo>
                    <a:pt x="237159" y="185166"/>
                  </a:lnTo>
                  <a:lnTo>
                    <a:pt x="246608" y="189928"/>
                  </a:lnTo>
                  <a:lnTo>
                    <a:pt x="263829" y="198602"/>
                  </a:lnTo>
                  <a:lnTo>
                    <a:pt x="263829" y="180594"/>
                  </a:lnTo>
                  <a:lnTo>
                    <a:pt x="258660" y="177977"/>
                  </a:lnTo>
                  <a:lnTo>
                    <a:pt x="240766" y="177977"/>
                  </a:lnTo>
                  <a:lnTo>
                    <a:pt x="244386" y="170802"/>
                  </a:lnTo>
                  <a:lnTo>
                    <a:pt x="237744" y="167449"/>
                  </a:lnTo>
                  <a:lnTo>
                    <a:pt x="229552" y="167449"/>
                  </a:lnTo>
                  <a:lnTo>
                    <a:pt x="216750" y="170611"/>
                  </a:lnTo>
                  <a:lnTo>
                    <a:pt x="210121" y="174256"/>
                  </a:lnTo>
                  <a:lnTo>
                    <a:pt x="205638" y="179781"/>
                  </a:lnTo>
                  <a:lnTo>
                    <a:pt x="202145" y="184086"/>
                  </a:lnTo>
                  <a:lnTo>
                    <a:pt x="198221" y="188760"/>
                  </a:lnTo>
                  <a:lnTo>
                    <a:pt x="194259" y="193319"/>
                  </a:lnTo>
                  <a:lnTo>
                    <a:pt x="202882" y="200837"/>
                  </a:lnTo>
                  <a:lnTo>
                    <a:pt x="206400" y="203885"/>
                  </a:lnTo>
                  <a:lnTo>
                    <a:pt x="209042" y="200837"/>
                  </a:lnTo>
                  <a:lnTo>
                    <a:pt x="268262" y="200837"/>
                  </a:lnTo>
                  <a:lnTo>
                    <a:pt x="274320" y="203885"/>
                  </a:lnTo>
                  <a:lnTo>
                    <a:pt x="286804" y="203885"/>
                  </a:lnTo>
                  <a:lnTo>
                    <a:pt x="303022" y="203885"/>
                  </a:lnTo>
                  <a:close/>
                </a:path>
                <a:path w="3439795" h="283845">
                  <a:moveTo>
                    <a:pt x="304380" y="208013"/>
                  </a:moveTo>
                  <a:lnTo>
                    <a:pt x="284721" y="208013"/>
                  </a:lnTo>
                  <a:lnTo>
                    <a:pt x="282524" y="208013"/>
                  </a:lnTo>
                  <a:lnTo>
                    <a:pt x="284276" y="208902"/>
                  </a:lnTo>
                  <a:lnTo>
                    <a:pt x="286918" y="210235"/>
                  </a:lnTo>
                  <a:lnTo>
                    <a:pt x="288277" y="212598"/>
                  </a:lnTo>
                  <a:lnTo>
                    <a:pt x="288201" y="216522"/>
                  </a:lnTo>
                  <a:lnTo>
                    <a:pt x="269392" y="253898"/>
                  </a:lnTo>
                  <a:lnTo>
                    <a:pt x="266369" y="255993"/>
                  </a:lnTo>
                  <a:lnTo>
                    <a:pt x="266369" y="263080"/>
                  </a:lnTo>
                  <a:lnTo>
                    <a:pt x="265811" y="262267"/>
                  </a:lnTo>
                  <a:lnTo>
                    <a:pt x="265125" y="260908"/>
                  </a:lnTo>
                  <a:lnTo>
                    <a:pt x="265938" y="262267"/>
                  </a:lnTo>
                  <a:lnTo>
                    <a:pt x="266369" y="263080"/>
                  </a:lnTo>
                  <a:lnTo>
                    <a:pt x="266369" y="255993"/>
                  </a:lnTo>
                  <a:lnTo>
                    <a:pt x="263182" y="258191"/>
                  </a:lnTo>
                  <a:lnTo>
                    <a:pt x="255155" y="262267"/>
                  </a:lnTo>
                  <a:lnTo>
                    <a:pt x="242239" y="266115"/>
                  </a:lnTo>
                  <a:lnTo>
                    <a:pt x="224294" y="267284"/>
                  </a:lnTo>
                  <a:lnTo>
                    <a:pt x="200901" y="263474"/>
                  </a:lnTo>
                  <a:lnTo>
                    <a:pt x="149834" y="243751"/>
                  </a:lnTo>
                  <a:lnTo>
                    <a:pt x="107607" y="216522"/>
                  </a:lnTo>
                  <a:lnTo>
                    <a:pt x="73583" y="184696"/>
                  </a:lnTo>
                  <a:lnTo>
                    <a:pt x="47078" y="151168"/>
                  </a:lnTo>
                  <a:lnTo>
                    <a:pt x="29984" y="123050"/>
                  </a:lnTo>
                  <a:lnTo>
                    <a:pt x="32054" y="126428"/>
                  </a:lnTo>
                  <a:lnTo>
                    <a:pt x="74295" y="126428"/>
                  </a:lnTo>
                  <a:lnTo>
                    <a:pt x="75006" y="138595"/>
                  </a:lnTo>
                  <a:lnTo>
                    <a:pt x="82143" y="153416"/>
                  </a:lnTo>
                  <a:lnTo>
                    <a:pt x="94970" y="143700"/>
                  </a:lnTo>
                  <a:lnTo>
                    <a:pt x="90703" y="134797"/>
                  </a:lnTo>
                  <a:lnTo>
                    <a:pt x="90170" y="126428"/>
                  </a:lnTo>
                  <a:lnTo>
                    <a:pt x="90081" y="124891"/>
                  </a:lnTo>
                  <a:lnTo>
                    <a:pt x="92951" y="114795"/>
                  </a:lnTo>
                  <a:lnTo>
                    <a:pt x="99187" y="105321"/>
                  </a:lnTo>
                  <a:lnTo>
                    <a:pt x="101422" y="102781"/>
                  </a:lnTo>
                  <a:lnTo>
                    <a:pt x="101828" y="102285"/>
                  </a:lnTo>
                  <a:lnTo>
                    <a:pt x="95415" y="97485"/>
                  </a:lnTo>
                  <a:lnTo>
                    <a:pt x="101828" y="102285"/>
                  </a:lnTo>
                  <a:lnTo>
                    <a:pt x="104419" y="98844"/>
                  </a:lnTo>
                  <a:lnTo>
                    <a:pt x="107670" y="94234"/>
                  </a:lnTo>
                  <a:lnTo>
                    <a:pt x="110045" y="89331"/>
                  </a:lnTo>
                  <a:lnTo>
                    <a:pt x="110159" y="89115"/>
                  </a:lnTo>
                  <a:lnTo>
                    <a:pt x="113474" y="82169"/>
                  </a:lnTo>
                  <a:lnTo>
                    <a:pt x="113588" y="81927"/>
                  </a:lnTo>
                  <a:lnTo>
                    <a:pt x="112483" y="74764"/>
                  </a:lnTo>
                  <a:lnTo>
                    <a:pt x="112407" y="74295"/>
                  </a:lnTo>
                  <a:lnTo>
                    <a:pt x="109943" y="68491"/>
                  </a:lnTo>
                  <a:lnTo>
                    <a:pt x="96494" y="36753"/>
                  </a:lnTo>
                  <a:lnTo>
                    <a:pt x="96494" y="77978"/>
                  </a:lnTo>
                  <a:lnTo>
                    <a:pt x="96431" y="80530"/>
                  </a:lnTo>
                  <a:lnTo>
                    <a:pt x="95758" y="81927"/>
                  </a:lnTo>
                  <a:lnTo>
                    <a:pt x="95631" y="82169"/>
                  </a:lnTo>
                  <a:lnTo>
                    <a:pt x="93814" y="86055"/>
                  </a:lnTo>
                  <a:lnTo>
                    <a:pt x="91440" y="89331"/>
                  </a:lnTo>
                  <a:lnTo>
                    <a:pt x="89357" y="92138"/>
                  </a:lnTo>
                  <a:lnTo>
                    <a:pt x="88950" y="92621"/>
                  </a:lnTo>
                  <a:lnTo>
                    <a:pt x="87122" y="94665"/>
                  </a:lnTo>
                  <a:lnTo>
                    <a:pt x="78460" y="107911"/>
                  </a:lnTo>
                  <a:lnTo>
                    <a:pt x="74206" y="122643"/>
                  </a:lnTo>
                  <a:lnTo>
                    <a:pt x="29743" y="122643"/>
                  </a:lnTo>
                  <a:lnTo>
                    <a:pt x="27444" y="118859"/>
                  </a:lnTo>
                  <a:lnTo>
                    <a:pt x="16040" y="82600"/>
                  </a:lnTo>
                  <a:lnTo>
                    <a:pt x="19138" y="52273"/>
                  </a:lnTo>
                  <a:lnTo>
                    <a:pt x="30886" y="29806"/>
                  </a:lnTo>
                  <a:lnTo>
                    <a:pt x="45453" y="17094"/>
                  </a:lnTo>
                  <a:lnTo>
                    <a:pt x="47421" y="16090"/>
                  </a:lnTo>
                  <a:lnTo>
                    <a:pt x="53136" y="16090"/>
                  </a:lnTo>
                  <a:lnTo>
                    <a:pt x="66382" y="16090"/>
                  </a:lnTo>
                  <a:lnTo>
                    <a:pt x="68795" y="16090"/>
                  </a:lnTo>
                  <a:lnTo>
                    <a:pt x="69862" y="16459"/>
                  </a:lnTo>
                  <a:lnTo>
                    <a:pt x="70510" y="16776"/>
                  </a:lnTo>
                  <a:lnTo>
                    <a:pt x="70827" y="17233"/>
                  </a:lnTo>
                  <a:lnTo>
                    <a:pt x="95135" y="74764"/>
                  </a:lnTo>
                  <a:lnTo>
                    <a:pt x="96494" y="77978"/>
                  </a:lnTo>
                  <a:lnTo>
                    <a:pt x="96494" y="36753"/>
                  </a:lnTo>
                  <a:lnTo>
                    <a:pt x="85140" y="9944"/>
                  </a:lnTo>
                  <a:lnTo>
                    <a:pt x="77698" y="13106"/>
                  </a:lnTo>
                  <a:lnTo>
                    <a:pt x="82943" y="9944"/>
                  </a:lnTo>
                  <a:lnTo>
                    <a:pt x="66382" y="9944"/>
                  </a:lnTo>
                  <a:lnTo>
                    <a:pt x="53136" y="9944"/>
                  </a:lnTo>
                  <a:lnTo>
                    <a:pt x="41795" y="9944"/>
                  </a:lnTo>
                  <a:lnTo>
                    <a:pt x="38125" y="2768"/>
                  </a:lnTo>
                  <a:lnTo>
                    <a:pt x="18516" y="19507"/>
                  </a:lnTo>
                  <a:lnTo>
                    <a:pt x="3784" y="47459"/>
                  </a:lnTo>
                  <a:lnTo>
                    <a:pt x="0" y="83985"/>
                  </a:lnTo>
                  <a:lnTo>
                    <a:pt x="13246" y="126428"/>
                  </a:lnTo>
                  <a:lnTo>
                    <a:pt x="33769" y="160210"/>
                  </a:lnTo>
                  <a:lnTo>
                    <a:pt x="61658" y="195491"/>
                  </a:lnTo>
                  <a:lnTo>
                    <a:pt x="97637" y="229158"/>
                  </a:lnTo>
                  <a:lnTo>
                    <a:pt x="142646" y="258191"/>
                  </a:lnTo>
                  <a:lnTo>
                    <a:pt x="142811" y="258191"/>
                  </a:lnTo>
                  <a:lnTo>
                    <a:pt x="196723" y="279019"/>
                  </a:lnTo>
                  <a:lnTo>
                    <a:pt x="223875" y="283375"/>
                  </a:lnTo>
                  <a:lnTo>
                    <a:pt x="245224" y="281927"/>
                  </a:lnTo>
                  <a:lnTo>
                    <a:pt x="261061" y="277228"/>
                  </a:lnTo>
                  <a:lnTo>
                    <a:pt x="271678" y="271856"/>
                  </a:lnTo>
                  <a:lnTo>
                    <a:pt x="268947" y="267284"/>
                  </a:lnTo>
                  <a:lnTo>
                    <a:pt x="267474" y="264845"/>
                  </a:lnTo>
                  <a:lnTo>
                    <a:pt x="269062" y="267296"/>
                  </a:lnTo>
                  <a:lnTo>
                    <a:pt x="271602" y="271703"/>
                  </a:lnTo>
                  <a:lnTo>
                    <a:pt x="271678" y="271856"/>
                  </a:lnTo>
                  <a:lnTo>
                    <a:pt x="299554" y="241071"/>
                  </a:lnTo>
                  <a:lnTo>
                    <a:pt x="304088" y="219278"/>
                  </a:lnTo>
                  <a:lnTo>
                    <a:pt x="304152" y="218325"/>
                  </a:lnTo>
                  <a:lnTo>
                    <a:pt x="304266" y="216522"/>
                  </a:lnTo>
                  <a:lnTo>
                    <a:pt x="304380" y="208013"/>
                  </a:lnTo>
                  <a:close/>
                </a:path>
                <a:path w="3439795" h="283845">
                  <a:moveTo>
                    <a:pt x="3342652" y="55956"/>
                  </a:moveTo>
                  <a:lnTo>
                    <a:pt x="3340277" y="53644"/>
                  </a:lnTo>
                  <a:lnTo>
                    <a:pt x="3211728" y="53644"/>
                  </a:lnTo>
                  <a:lnTo>
                    <a:pt x="3209353" y="55956"/>
                  </a:lnTo>
                  <a:lnTo>
                    <a:pt x="3209353" y="61633"/>
                  </a:lnTo>
                  <a:lnTo>
                    <a:pt x="3211728" y="63931"/>
                  </a:lnTo>
                  <a:lnTo>
                    <a:pt x="3340277" y="63931"/>
                  </a:lnTo>
                  <a:lnTo>
                    <a:pt x="3342652" y="61633"/>
                  </a:lnTo>
                  <a:lnTo>
                    <a:pt x="3342652" y="55956"/>
                  </a:lnTo>
                  <a:close/>
                </a:path>
                <a:path w="3439795" h="283845">
                  <a:moveTo>
                    <a:pt x="3439274" y="45059"/>
                  </a:moveTo>
                  <a:lnTo>
                    <a:pt x="3438741" y="43916"/>
                  </a:lnTo>
                  <a:lnTo>
                    <a:pt x="3435604" y="37134"/>
                  </a:lnTo>
                  <a:lnTo>
                    <a:pt x="3430701" y="32359"/>
                  </a:lnTo>
                  <a:lnTo>
                    <a:pt x="3428682" y="30403"/>
                  </a:lnTo>
                  <a:lnTo>
                    <a:pt x="3428682" y="50228"/>
                  </a:lnTo>
                  <a:lnTo>
                    <a:pt x="3428682" y="225742"/>
                  </a:lnTo>
                  <a:lnTo>
                    <a:pt x="3428123" y="228434"/>
                  </a:lnTo>
                  <a:lnTo>
                    <a:pt x="3427095" y="230898"/>
                  </a:lnTo>
                  <a:lnTo>
                    <a:pt x="3420465" y="221615"/>
                  </a:lnTo>
                  <a:lnTo>
                    <a:pt x="3420465" y="239610"/>
                  </a:lnTo>
                  <a:lnTo>
                    <a:pt x="3416668" y="242582"/>
                  </a:lnTo>
                  <a:lnTo>
                    <a:pt x="3411880" y="244373"/>
                  </a:lnTo>
                  <a:lnTo>
                    <a:pt x="3140138" y="244373"/>
                  </a:lnTo>
                  <a:lnTo>
                    <a:pt x="3135312" y="242582"/>
                  </a:lnTo>
                  <a:lnTo>
                    <a:pt x="3131553" y="239610"/>
                  </a:lnTo>
                  <a:lnTo>
                    <a:pt x="3137725" y="230898"/>
                  </a:lnTo>
                  <a:lnTo>
                    <a:pt x="3206077" y="135051"/>
                  </a:lnTo>
                  <a:lnTo>
                    <a:pt x="3226587" y="158343"/>
                  </a:lnTo>
                  <a:lnTo>
                    <a:pt x="3229622" y="160591"/>
                  </a:lnTo>
                  <a:lnTo>
                    <a:pt x="3236430" y="163639"/>
                  </a:lnTo>
                  <a:lnTo>
                    <a:pt x="3240138" y="164426"/>
                  </a:lnTo>
                  <a:lnTo>
                    <a:pt x="3311842" y="164426"/>
                  </a:lnTo>
                  <a:lnTo>
                    <a:pt x="3345904" y="135051"/>
                  </a:lnTo>
                  <a:lnTo>
                    <a:pt x="3420465" y="239610"/>
                  </a:lnTo>
                  <a:lnTo>
                    <a:pt x="3420465" y="221615"/>
                  </a:lnTo>
                  <a:lnTo>
                    <a:pt x="3358743" y="135051"/>
                  </a:lnTo>
                  <a:lnTo>
                    <a:pt x="3353003" y="127012"/>
                  </a:lnTo>
                  <a:lnTo>
                    <a:pt x="3426180" y="43916"/>
                  </a:lnTo>
                  <a:lnTo>
                    <a:pt x="3427780" y="46875"/>
                  </a:lnTo>
                  <a:lnTo>
                    <a:pt x="3428682" y="50228"/>
                  </a:lnTo>
                  <a:lnTo>
                    <a:pt x="3428682" y="30403"/>
                  </a:lnTo>
                  <a:lnTo>
                    <a:pt x="3423793" y="25628"/>
                  </a:lnTo>
                  <a:lnTo>
                    <a:pt x="3419144" y="23609"/>
                  </a:lnTo>
                  <a:lnTo>
                    <a:pt x="3419144" y="36156"/>
                  </a:lnTo>
                  <a:lnTo>
                    <a:pt x="3318357" y="150558"/>
                  </a:lnTo>
                  <a:lnTo>
                    <a:pt x="3316503" y="151904"/>
                  </a:lnTo>
                  <a:lnTo>
                    <a:pt x="3312566" y="153695"/>
                  </a:lnTo>
                  <a:lnTo>
                    <a:pt x="3310331" y="154139"/>
                  </a:lnTo>
                  <a:lnTo>
                    <a:pt x="3241649" y="154139"/>
                  </a:lnTo>
                  <a:lnTo>
                    <a:pt x="3198990" y="111264"/>
                  </a:lnTo>
                  <a:lnTo>
                    <a:pt x="3198990" y="127012"/>
                  </a:lnTo>
                  <a:lnTo>
                    <a:pt x="3124898" y="230898"/>
                  </a:lnTo>
                  <a:lnTo>
                    <a:pt x="3123882" y="228434"/>
                  </a:lnTo>
                  <a:lnTo>
                    <a:pt x="3123311" y="225742"/>
                  </a:lnTo>
                  <a:lnTo>
                    <a:pt x="3123311" y="50228"/>
                  </a:lnTo>
                  <a:lnTo>
                    <a:pt x="3124212" y="46875"/>
                  </a:lnTo>
                  <a:lnTo>
                    <a:pt x="3125800" y="43916"/>
                  </a:lnTo>
                  <a:lnTo>
                    <a:pt x="3198990" y="127012"/>
                  </a:lnTo>
                  <a:lnTo>
                    <a:pt x="3198990" y="111264"/>
                  </a:lnTo>
                  <a:lnTo>
                    <a:pt x="3139681" y="43916"/>
                  </a:lnTo>
                  <a:lnTo>
                    <a:pt x="3132848" y="36156"/>
                  </a:lnTo>
                  <a:lnTo>
                    <a:pt x="3136404" y="33769"/>
                  </a:lnTo>
                  <a:lnTo>
                    <a:pt x="3140710" y="32359"/>
                  </a:lnTo>
                  <a:lnTo>
                    <a:pt x="3411270" y="32359"/>
                  </a:lnTo>
                  <a:lnTo>
                    <a:pt x="3415588" y="33769"/>
                  </a:lnTo>
                  <a:lnTo>
                    <a:pt x="3419144" y="36156"/>
                  </a:lnTo>
                  <a:lnTo>
                    <a:pt x="3419144" y="23609"/>
                  </a:lnTo>
                  <a:lnTo>
                    <a:pt x="3415627" y="22072"/>
                  </a:lnTo>
                  <a:lnTo>
                    <a:pt x="3136404" y="22072"/>
                  </a:lnTo>
                  <a:lnTo>
                    <a:pt x="3128238" y="25628"/>
                  </a:lnTo>
                  <a:lnTo>
                    <a:pt x="3116427" y="37134"/>
                  </a:lnTo>
                  <a:lnTo>
                    <a:pt x="3112757" y="45059"/>
                  </a:lnTo>
                  <a:lnTo>
                    <a:pt x="3112757" y="231673"/>
                  </a:lnTo>
                  <a:lnTo>
                    <a:pt x="3116427" y="239610"/>
                  </a:lnTo>
                  <a:lnTo>
                    <a:pt x="3128238" y="251104"/>
                  </a:lnTo>
                  <a:lnTo>
                    <a:pt x="3136392" y="254673"/>
                  </a:lnTo>
                  <a:lnTo>
                    <a:pt x="3415627" y="254673"/>
                  </a:lnTo>
                  <a:lnTo>
                    <a:pt x="3423793" y="251104"/>
                  </a:lnTo>
                  <a:lnTo>
                    <a:pt x="3430714" y="244373"/>
                  </a:lnTo>
                  <a:lnTo>
                    <a:pt x="3435604" y="239610"/>
                  </a:lnTo>
                  <a:lnTo>
                    <a:pt x="3439274" y="231673"/>
                  </a:lnTo>
                  <a:lnTo>
                    <a:pt x="3439274" y="230898"/>
                  </a:lnTo>
                  <a:lnTo>
                    <a:pt x="3439274" y="450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72062" y="6373982"/>
              <a:ext cx="219835" cy="11306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079448" y="6133600"/>
              <a:ext cx="205104" cy="294005"/>
            </a:xfrm>
            <a:custGeom>
              <a:avLst/>
              <a:gdLst/>
              <a:ahLst/>
              <a:cxnLst/>
              <a:rect l="l" t="t" r="r" b="b"/>
              <a:pathLst>
                <a:path w="205104" h="294004">
                  <a:moveTo>
                    <a:pt x="102551" y="0"/>
                  </a:moveTo>
                  <a:lnTo>
                    <a:pt x="62662" y="8202"/>
                  </a:lnTo>
                  <a:lnTo>
                    <a:pt x="30066" y="30557"/>
                  </a:lnTo>
                  <a:lnTo>
                    <a:pt x="8070" y="63682"/>
                  </a:lnTo>
                  <a:lnTo>
                    <a:pt x="0" y="104196"/>
                  </a:lnTo>
                  <a:lnTo>
                    <a:pt x="3030" y="126272"/>
                  </a:lnTo>
                  <a:lnTo>
                    <a:pt x="23235" y="176793"/>
                  </a:lnTo>
                  <a:lnTo>
                    <a:pt x="53419" y="229439"/>
                  </a:lnTo>
                  <a:lnTo>
                    <a:pt x="83942" y="274277"/>
                  </a:lnTo>
                  <a:lnTo>
                    <a:pt x="100169" y="293418"/>
                  </a:lnTo>
                  <a:lnTo>
                    <a:pt x="104897" y="293418"/>
                  </a:lnTo>
                  <a:lnTo>
                    <a:pt x="107132" y="292350"/>
                  </a:lnTo>
                  <a:lnTo>
                    <a:pt x="108631" y="290500"/>
                  </a:lnTo>
                  <a:lnTo>
                    <a:pt x="121120" y="274277"/>
                  </a:lnTo>
                  <a:lnTo>
                    <a:pt x="122366" y="272520"/>
                  </a:lnTo>
                  <a:lnTo>
                    <a:pt x="102536" y="272520"/>
                  </a:lnTo>
                  <a:lnTo>
                    <a:pt x="91043" y="256946"/>
                  </a:lnTo>
                  <a:lnTo>
                    <a:pt x="64653" y="217427"/>
                  </a:lnTo>
                  <a:lnTo>
                    <a:pt x="37460" y="169273"/>
                  </a:lnTo>
                  <a:lnTo>
                    <a:pt x="18588" y="121918"/>
                  </a:lnTo>
                  <a:lnTo>
                    <a:pt x="15821" y="104196"/>
                  </a:lnTo>
                  <a:lnTo>
                    <a:pt x="22623" y="69849"/>
                  </a:lnTo>
                  <a:lnTo>
                    <a:pt x="41187" y="41841"/>
                  </a:lnTo>
                  <a:lnTo>
                    <a:pt x="68746" y="22978"/>
                  </a:lnTo>
                  <a:lnTo>
                    <a:pt x="102535" y="16066"/>
                  </a:lnTo>
                  <a:lnTo>
                    <a:pt x="153876" y="16066"/>
                  </a:lnTo>
                  <a:lnTo>
                    <a:pt x="142409" y="8202"/>
                  </a:lnTo>
                  <a:lnTo>
                    <a:pt x="102551" y="0"/>
                  </a:lnTo>
                  <a:close/>
                </a:path>
                <a:path w="205104" h="294004">
                  <a:moveTo>
                    <a:pt x="153876" y="16066"/>
                  </a:moveTo>
                  <a:lnTo>
                    <a:pt x="102535" y="16066"/>
                  </a:lnTo>
                  <a:lnTo>
                    <a:pt x="136323" y="22978"/>
                  </a:lnTo>
                  <a:lnTo>
                    <a:pt x="163882" y="41841"/>
                  </a:lnTo>
                  <a:lnTo>
                    <a:pt x="182447" y="69849"/>
                  </a:lnTo>
                  <a:lnTo>
                    <a:pt x="189250" y="104196"/>
                  </a:lnTo>
                  <a:lnTo>
                    <a:pt x="186482" y="121918"/>
                  </a:lnTo>
                  <a:lnTo>
                    <a:pt x="167611" y="169273"/>
                  </a:lnTo>
                  <a:lnTo>
                    <a:pt x="140418" y="217427"/>
                  </a:lnTo>
                  <a:lnTo>
                    <a:pt x="114026" y="256946"/>
                  </a:lnTo>
                  <a:lnTo>
                    <a:pt x="102536" y="272520"/>
                  </a:lnTo>
                  <a:lnTo>
                    <a:pt x="122366" y="272520"/>
                  </a:lnTo>
                  <a:lnTo>
                    <a:pt x="151643" y="229439"/>
                  </a:lnTo>
                  <a:lnTo>
                    <a:pt x="181823" y="176793"/>
                  </a:lnTo>
                  <a:lnTo>
                    <a:pt x="202033" y="126272"/>
                  </a:lnTo>
                  <a:lnTo>
                    <a:pt x="205065" y="104196"/>
                  </a:lnTo>
                  <a:lnTo>
                    <a:pt x="196996" y="63682"/>
                  </a:lnTo>
                  <a:lnTo>
                    <a:pt x="175003" y="30557"/>
                  </a:lnTo>
                  <a:lnTo>
                    <a:pt x="153876" y="160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32081" y="6185854"/>
              <a:ext cx="99803" cy="10144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848725" y="4063936"/>
            <a:ext cx="2388870" cy="672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latin typeface="Arial"/>
                <a:cs typeface="Arial"/>
              </a:rPr>
              <a:t>Rajesh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Kari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50"/>
              </a:spcBef>
            </a:pPr>
            <a:r>
              <a:rPr sz="1400" dirty="0">
                <a:latin typeface="Arial"/>
                <a:cs typeface="Arial"/>
              </a:rPr>
              <a:t>Global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Business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Leader,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dirty="0">
                <a:latin typeface="Arial"/>
                <a:cs typeface="Arial"/>
              </a:rPr>
              <a:t>Vice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President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–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Digital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Media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70075" y="5982715"/>
            <a:ext cx="1285240" cy="51308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580"/>
              </a:spcBef>
            </a:pPr>
            <a:r>
              <a:rPr sz="1200" spc="-10" dirty="0">
                <a:solidFill>
                  <a:srgbClr val="151C39"/>
                </a:solidFill>
                <a:latin typeface="Arial"/>
                <a:cs typeface="Arial"/>
              </a:rPr>
              <a:t>Contact: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dirty="0">
                <a:solidFill>
                  <a:srgbClr val="151C39"/>
                </a:solidFill>
                <a:latin typeface="Arial"/>
                <a:cs typeface="Arial"/>
              </a:rPr>
              <a:t>+1</a:t>
            </a:r>
            <a:r>
              <a:rPr sz="1200" spc="40" dirty="0">
                <a:solidFill>
                  <a:srgbClr val="151C39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51C39"/>
                </a:solidFill>
                <a:latin typeface="Arial"/>
                <a:cs typeface="Arial"/>
              </a:rPr>
              <a:t>(469)</a:t>
            </a:r>
            <a:r>
              <a:rPr sz="1200" spc="-60" dirty="0">
                <a:solidFill>
                  <a:srgbClr val="151C3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51C39"/>
                </a:solidFill>
                <a:latin typeface="Arial"/>
                <a:cs typeface="Arial"/>
              </a:rPr>
              <a:t>360-</a:t>
            </a:r>
            <a:r>
              <a:rPr sz="1200" spc="-20" dirty="0">
                <a:solidFill>
                  <a:srgbClr val="151C39"/>
                </a:solidFill>
                <a:latin typeface="Arial"/>
                <a:cs typeface="Arial"/>
              </a:rPr>
              <a:t>1750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31359" y="5982715"/>
            <a:ext cx="193611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25">
              <a:lnSpc>
                <a:spcPct val="133300"/>
              </a:lnSpc>
              <a:spcBef>
                <a:spcPts val="100"/>
              </a:spcBef>
            </a:pPr>
            <a:r>
              <a:rPr sz="1200" spc="-10" dirty="0">
                <a:solidFill>
                  <a:srgbClr val="151C39"/>
                </a:solidFill>
                <a:latin typeface="Arial"/>
                <a:cs typeface="Arial"/>
              </a:rPr>
              <a:t>Email: </a:t>
            </a:r>
            <a:r>
              <a:rPr sz="1200" spc="-10" dirty="0">
                <a:solidFill>
                  <a:srgbClr val="151C39"/>
                </a:solidFill>
                <a:latin typeface="Arial"/>
                <a:cs typeface="Arial"/>
                <a:hlinkClick r:id="rId9"/>
              </a:rPr>
              <a:t>Rajesh.Kari@Infovision.com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76005" y="5982715"/>
            <a:ext cx="2278380" cy="6946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580"/>
              </a:spcBef>
            </a:pPr>
            <a:r>
              <a:rPr sz="1200" spc="-10" dirty="0">
                <a:solidFill>
                  <a:srgbClr val="151C39"/>
                </a:solidFill>
                <a:latin typeface="Arial"/>
                <a:cs typeface="Arial"/>
              </a:rPr>
              <a:t>Address: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ts val="1435"/>
              </a:lnSpc>
              <a:spcBef>
                <a:spcPts val="480"/>
              </a:spcBef>
            </a:pPr>
            <a:r>
              <a:rPr sz="1200" dirty="0">
                <a:solidFill>
                  <a:srgbClr val="151C39"/>
                </a:solidFill>
                <a:latin typeface="Arial"/>
                <a:cs typeface="Arial"/>
              </a:rPr>
              <a:t>800</a:t>
            </a:r>
            <a:r>
              <a:rPr sz="1200" spc="-45" dirty="0">
                <a:solidFill>
                  <a:srgbClr val="151C3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51C39"/>
                </a:solidFill>
                <a:latin typeface="Arial"/>
                <a:cs typeface="Arial"/>
              </a:rPr>
              <a:t>E.</a:t>
            </a:r>
            <a:r>
              <a:rPr sz="1200" spc="-10" dirty="0">
                <a:solidFill>
                  <a:srgbClr val="151C39"/>
                </a:solidFill>
                <a:latin typeface="Arial"/>
                <a:cs typeface="Arial"/>
              </a:rPr>
              <a:t> Campbell</a:t>
            </a:r>
            <a:r>
              <a:rPr sz="1200" spc="-20" dirty="0">
                <a:solidFill>
                  <a:srgbClr val="151C3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51C39"/>
                </a:solidFill>
                <a:latin typeface="Arial"/>
                <a:cs typeface="Arial"/>
              </a:rPr>
              <a:t>Road,</a:t>
            </a:r>
            <a:r>
              <a:rPr sz="1200" spc="-5" dirty="0">
                <a:solidFill>
                  <a:srgbClr val="151C3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51C39"/>
                </a:solidFill>
                <a:latin typeface="Arial"/>
                <a:cs typeface="Arial"/>
              </a:rPr>
              <a:t>Suite</a:t>
            </a:r>
            <a:r>
              <a:rPr sz="1200" spc="-45" dirty="0">
                <a:solidFill>
                  <a:srgbClr val="151C3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151C39"/>
                </a:solidFill>
                <a:latin typeface="Arial"/>
                <a:cs typeface="Arial"/>
              </a:rPr>
              <a:t>388</a:t>
            </a:r>
            <a:endParaRPr sz="1200" dirty="0">
              <a:latin typeface="Arial"/>
              <a:cs typeface="Arial"/>
            </a:endParaRPr>
          </a:p>
          <a:p>
            <a:pPr marL="12700">
              <a:lnSpc>
                <a:spcPts val="1435"/>
              </a:lnSpc>
            </a:pPr>
            <a:r>
              <a:rPr sz="1200" spc="-10" dirty="0">
                <a:solidFill>
                  <a:srgbClr val="151C39"/>
                </a:solidFill>
                <a:latin typeface="Arial"/>
                <a:cs typeface="Arial"/>
              </a:rPr>
              <a:t>Richardson </a:t>
            </a:r>
            <a:r>
              <a:rPr sz="1200" dirty="0">
                <a:solidFill>
                  <a:srgbClr val="151C39"/>
                </a:solidFill>
                <a:latin typeface="Arial"/>
                <a:cs typeface="Arial"/>
              </a:rPr>
              <a:t>TX</a:t>
            </a:r>
            <a:r>
              <a:rPr sz="1200" spc="10" dirty="0">
                <a:solidFill>
                  <a:srgbClr val="151C39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151C39"/>
                </a:solidFill>
                <a:latin typeface="Arial"/>
                <a:cs typeface="Arial"/>
              </a:rPr>
              <a:t>75081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A0FE1168942E4F9F91C69493762EFC" ma:contentTypeVersion="18" ma:contentTypeDescription="Create a new document." ma:contentTypeScope="" ma:versionID="2d62f9521d72ef93f0d0e5c08a4c8d87">
  <xsd:schema xmlns:xsd="http://www.w3.org/2001/XMLSchema" xmlns:xs="http://www.w3.org/2001/XMLSchema" xmlns:p="http://schemas.microsoft.com/office/2006/metadata/properties" xmlns:ns3="f1374d3a-10e6-4343-870d-d96f85f860ef" xmlns:ns4="e06eca55-9146-4d89-a82d-614548ec66bb" targetNamespace="http://schemas.microsoft.com/office/2006/metadata/properties" ma:root="true" ma:fieldsID="fe92f2f8bd43b0149655fa909b1d9d75" ns3:_="" ns4:_="">
    <xsd:import namespace="f1374d3a-10e6-4343-870d-d96f85f860ef"/>
    <xsd:import namespace="e06eca55-9146-4d89-a82d-614548ec66b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  <xsd:element ref="ns4:MediaLengthInSecond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374d3a-10e6-4343-870d-d96f85f860e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eca55-9146-4d89-a82d-614548ec66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06eca55-9146-4d89-a82d-614548ec66bb" xsi:nil="true"/>
  </documentManagement>
</p:properties>
</file>

<file path=customXml/itemProps1.xml><?xml version="1.0" encoding="utf-8"?>
<ds:datastoreItem xmlns:ds="http://schemas.openxmlformats.org/officeDocument/2006/customXml" ds:itemID="{23DDE868-ADE1-4908-9783-6084CCAF606F}">
  <ds:schemaRefs>
    <ds:schemaRef ds:uri="e06eca55-9146-4d89-a82d-614548ec66bb"/>
    <ds:schemaRef ds:uri="f1374d3a-10e6-4343-870d-d96f85f860e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F0F9ADD-D503-47F2-8C77-F2A2FB8083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2F94C6-B8AA-45E6-8C17-610EDC4C93EC}">
  <ds:schemaRefs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e06eca55-9146-4d89-a82d-614548ec66bb"/>
    <ds:schemaRef ds:uri="http://www.w3.org/XML/1998/namespace"/>
    <ds:schemaRef ds:uri="f1374d3a-10e6-4343-870d-d96f85f860ef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3662</Words>
  <Application>Microsoft Office PowerPoint</Application>
  <PresentationFormat>Widescreen</PresentationFormat>
  <Paragraphs>244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Aptos SemiBold</vt:lpstr>
      <vt:lpstr>Arial</vt:lpstr>
      <vt:lpstr>Calibri</vt:lpstr>
      <vt:lpstr>System Font Regular</vt:lpstr>
      <vt:lpstr>Office Theme</vt:lpstr>
      <vt:lpstr>1_Office Theme</vt:lpstr>
      <vt:lpstr>PowerPoint Presentation</vt:lpstr>
      <vt:lpstr>PowerPoint Presentation</vt:lpstr>
      <vt:lpstr>Objective &amp; Scope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Aparajita Dutta</dc:creator>
  <cp:lastModifiedBy>Srideep Behera</cp:lastModifiedBy>
  <cp:revision>1</cp:revision>
  <dcterms:created xsi:type="dcterms:W3CDTF">2025-06-19T19:10:33Z</dcterms:created>
  <dcterms:modified xsi:type="dcterms:W3CDTF">2025-11-24T08:16:08Z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0x01010080A0FE1168942E4F9F91C69493762EFC</vt:lpwstr>
  </property>
</Properties>
</file>