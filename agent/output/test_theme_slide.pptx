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5E35B1"/>
              </a:solidFill>
            </c:spPr>
          </c:dPt>
          <c:dPt>
            <c:idx val="1"/>
            <c:spPr>
              <a:solidFill>
                <a:srgbClr val="156082"/>
              </a:solidFill>
            </c:spPr>
          </c:dPt>
          <c:dPt>
            <c:idx val="2"/>
            <c:spPr>
              <a:solidFill>
                <a:srgbClr val="A02B93"/>
              </a:solidFill>
            </c:spPr>
          </c:dPt>
          <c:dPt>
            <c:idx val="3"/>
            <c:spPr>
              <a:solidFill>
                <a:srgbClr val="4EA72E"/>
              </a:solidFill>
            </c:spPr>
          </c:dPt>
          <c:dPt>
            <c:idx val="4"/>
            <c:spPr>
              <a:solidFill>
                <a:srgbClr val="196B24"/>
              </a:solidFill>
            </c:spPr>
          </c:dPt>
          <c:dLbls>
            <c:numFmt formatCode="0.0&quot;%&quot;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Seasonal Promotions &amp; Sales Events</c:v>
                </c:pt>
                <c:pt idx="1">
                  <c:v>Wedding &amp; Formalwear Services</c:v>
                </c:pt>
                <c:pt idx="2">
                  <c:v>Store Operations &amp; Retail Strategy</c:v>
                </c:pt>
                <c:pt idx="3">
                  <c:v>Brand Partnerships &amp; Collaborations</c:v>
                </c:pt>
                <c:pt idx="4">
                  <c:v>Other / Unclassified Mentions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35.2</c:v>
                </c:pt>
                <c:pt idx="1">
                  <c:v>28.7</c:v>
                </c:pt>
                <c:pt idx="2">
                  <c:v>18.6</c:v>
                </c:pt>
                <c:pt idx="3">
                  <c:v>12.0</c:v>
                </c:pt>
                <c:pt idx="4">
                  <c:v>5.4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Seasonal Promotions &amp; Sales Ev</c:v>
                </c:pt>
              </c:strCache>
            </c:strRef>
          </c:tx>
          <c:spPr>
            <a:ln w="25400">
              <a:solidFill>
                <a:srgbClr val="5E35B1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2025-09</c:v>
                </c:pt>
                <c:pt idx="1">
                  <c:v>2025-12</c:v>
                </c:pt>
                <c:pt idx="2">
                  <c:v>2026-03</c:v>
                </c:pt>
                <c:pt idx="3">
                  <c:v>2026-06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25</c:v>
                </c:pt>
                <c:pt idx="3">
                  <c:v>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Wedding &amp; Formalwear Services</c:v>
                </c:pt>
              </c:strCache>
            </c:strRef>
          </c:tx>
          <c:spPr>
            <a:ln w="25400">
              <a:solidFill>
                <a:srgbClr val="156082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2025-09</c:v>
                </c:pt>
                <c:pt idx="1">
                  <c:v>2025-12</c:v>
                </c:pt>
                <c:pt idx="2">
                  <c:v>2026-03</c:v>
                </c:pt>
                <c:pt idx="3">
                  <c:v>2026-06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12</c:v>
                </c:pt>
                <c:pt idx="2">
                  <c:v>35</c:v>
                </c:pt>
                <c:pt idx="3">
                  <c:v>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Store Operations &amp; Retail Stra</c:v>
                </c:pt>
              </c:strCache>
            </c:strRef>
          </c:tx>
          <c:spPr>
            <a:ln w="25400">
              <a:solidFill>
                <a:srgbClr val="A02B93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2025-09</c:v>
                </c:pt>
                <c:pt idx="1">
                  <c:v>2025-12</c:v>
                </c:pt>
                <c:pt idx="2">
                  <c:v>2026-03</c:v>
                </c:pt>
                <c:pt idx="3">
                  <c:v>2026-06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8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Brand Partnerships &amp; Collabora</c:v>
                </c:pt>
              </c:strCache>
            </c:strRef>
          </c:tx>
          <c:spPr>
            <a:ln w="25400">
              <a:solidFill>
                <a:srgbClr val="4EA72E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2025-09</c:v>
                </c:pt>
                <c:pt idx="1">
                  <c:v>2025-12</c:v>
                </c:pt>
                <c:pt idx="2">
                  <c:v>2026-03</c:v>
                </c:pt>
                <c:pt idx="3">
                  <c:v>2026-06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10</c:v>
                </c:pt>
                <c:pt idx="3">
                  <c:v>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 / Unclassified Mentions</c:v>
                </c:pt>
              </c:strCache>
            </c:strRef>
          </c:tx>
          <c:spPr>
            <a:ln w="25400">
              <a:solidFill>
                <a:srgbClr val="196B24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2025-09</c:v>
                </c:pt>
                <c:pt idx="1">
                  <c:v>2025-12</c:v>
                </c:pt>
                <c:pt idx="2">
                  <c:v>2026-03</c:v>
                </c:pt>
                <c:pt idx="3">
                  <c:v>2026-06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 classification based on 258 entity-specific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5B2C9D"/>
                </a:solidFill>
              </a:rPr>
              <a:t>MEN'S WEARHOUSE &amp; COMPETITORS — EDITORIAL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A1A"/>
                </a:solidFill>
              </a:rPr>
              <a:t>Men's Wearhouse — Themes &amp; Trends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274320"/>
            <a:ext cx="4937760" cy="1005840"/>
          </a:xfrm>
          <a:prstGeom prst="roundRect">
            <a:avLst/>
          </a:prstGeom>
          <a:solidFill>
            <a:srgbClr val="F5F0FA"/>
          </a:solidFill>
          <a:ln w="6350"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00">
                <a:solidFill>
                  <a:srgbClr val="1A1A1A"/>
                </a:solidFill>
              </a:rPr>
              <a:t>Men's Wearhouse coverage clusters around seasonal promotions (35.2%) and wedding/formalwear (28.7%), together accounting for nearly two-thirds of themed content. Store operations (18.6%) maintain steady coverage.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371600"/>
          <a:ext cx="50292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577840" y="1371600"/>
          <a:ext cx="630936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43434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E6E6E"/>
                </a:solidFill>
              </a:rPr>
              <a:t>N = 258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572000"/>
            <a:ext cx="2212848" cy="27432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Seasonal Promotions &amp; Sales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882896"/>
            <a:ext cx="2212848" cy="1426463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A1A1A"/>
                </a:solidFill>
              </a:rPr>
              <a:t>Seasonal promotions dominate coverage for Mens Wearhouse, with flash sales and clearance events driving 35.2% of all themed mentions. Holiday and back-to-school periods show peak volumes.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4327" y="4572000"/>
            <a:ext cx="2212848" cy="27432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Wedding &amp; Formalwear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7" y="4882896"/>
            <a:ext cx="2212848" cy="1426463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A1A1A"/>
                </a:solidFill>
              </a:rPr>
              <a:t>Wedding and formalwear content accounts for 28.7% of themed coverage. Spring shows strongest seasonal correlation with engagement season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74336" y="4572000"/>
            <a:ext cx="2212848" cy="27432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Store Operations &amp; Retail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336" y="4882896"/>
            <a:ext cx="2212848" cy="1426463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A1A1A"/>
                </a:solidFill>
              </a:rPr>
              <a:t>Store operations including openings, closures, and strategic changes represent 18.6% of coverage. Steady presence indicates ongoing business transformation.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24344" y="4572000"/>
            <a:ext cx="2212848" cy="274320"/>
          </a:xfrm>
          <a:prstGeom prst="round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Brand Partnerships &amp; Collaborations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24344" y="4882896"/>
            <a:ext cx="2212848" cy="1426463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A1A1A"/>
                </a:solidFill>
              </a:rPr>
              <a:t>Brand collaborations and influencer partnerships comprise 12.0% of themed mentions. Growing trend suggests evolving marketing strategy.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74352" y="4572000"/>
            <a:ext cx="2212848" cy="274320"/>
          </a:xfrm>
          <a:prstGeom prst="round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Other / Unclassified Mentions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4882896"/>
            <a:ext cx="2212848" cy="1426463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A1A1A"/>
                </a:solidFill>
              </a:rPr>
              <a:t>Unclassified mentions at 5.4% capture miscellaneous coverage not fitting primary theme categories.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656832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6E6E6E"/>
                </a:solidFill>
              </a:rPr>
              <a:t>SOURCE: MELTWATER | 2025-08-11 – 2026-08-08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E6E6E"/>
                </a:solidFill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