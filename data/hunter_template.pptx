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44" r:id="rId5"/>
  </p:sldMasterIdLst>
  <p:notesMasterIdLst>
    <p:notesMasterId r:id="rId23"/>
  </p:notesMasterIdLst>
  <p:handoutMasterIdLst>
    <p:handoutMasterId r:id="rId24"/>
  </p:handoutMasterIdLst>
  <p:sldIdLst>
    <p:sldId id="326" r:id="rId6"/>
    <p:sldId id="257" r:id="rId7"/>
    <p:sldId id="261" r:id="rId8"/>
    <p:sldId id="2147483639" r:id="rId9"/>
    <p:sldId id="256" r:id="rId10"/>
    <p:sldId id="2147483644" r:id="rId11"/>
    <p:sldId id="2147483647" r:id="rId12"/>
    <p:sldId id="264" r:id="rId13"/>
    <p:sldId id="266" r:id="rId14"/>
    <p:sldId id="265" r:id="rId15"/>
    <p:sldId id="263" r:id="rId16"/>
    <p:sldId id="267" r:id="rId17"/>
    <p:sldId id="262" r:id="rId18"/>
    <p:sldId id="268" r:id="rId19"/>
    <p:sldId id="259" r:id="rId20"/>
    <p:sldId id="260" r:id="rId21"/>
    <p:sldId id="2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A43037-9E7C-629E-CA4E-B2BB68BA28E9}" name="Sridevi Upadhya" initials="SU" userId="S::Sridevi.Upadhya@infovision.com::74f81628-6c05-4436-a472-a56525e3369c" providerId="AD"/>
  <p188:author id="{BE245362-7B08-7C05-28F5-3F2320410AF7}" name="Srideep Behera" initials="SB" userId="S::Srideep.Behera@infovision.com::393efe25-4136-4006-98c4-994ce26c63d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AC07"/>
    <a:srgbClr val="BD2D7C"/>
    <a:srgbClr val="4444B0"/>
    <a:srgbClr val="D4672D"/>
    <a:srgbClr val="2B7232"/>
    <a:srgbClr val="57A1E7"/>
    <a:srgbClr val="D13C44"/>
    <a:srgbClr val="F7ADA5"/>
    <a:srgbClr val="FEDE44"/>
    <a:srgbClr val="72C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deep Behera" userId="393efe25-4136-4006-98c4-994ce26c63d4" providerId="ADAL" clId="{3860FB54-CC9B-408F-8B72-95B752FAFD60}"/>
    <pc:docChg chg="sldOrd">
      <pc:chgData name="Srideep Behera" userId="393efe25-4136-4006-98c4-994ce26c63d4" providerId="ADAL" clId="{3860FB54-CC9B-408F-8B72-95B752FAFD60}" dt="2025-11-24T08:15:58.740" v="0" actId="20578"/>
      <pc:docMkLst>
        <pc:docMk/>
      </pc:docMkLst>
      <pc:sldChg chg="ord">
        <pc:chgData name="Srideep Behera" userId="393efe25-4136-4006-98c4-994ce26c63d4" providerId="ADAL" clId="{3860FB54-CC9B-408F-8B72-95B752FAFD60}" dt="2025-11-24T08:15:58.740" v="0" actId="20578"/>
        <pc:sldMkLst>
          <pc:docMk/>
          <pc:sldMk cId="1104462305" sldId="214748364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618170675767921E-2"/>
          <c:y val="3.7500047969729181E-2"/>
          <c:w val="0.8632471224132835"/>
          <c:h val="0.86342996302953012"/>
        </c:manualLayout>
      </c:layout>
      <c:barChart>
        <c:barDir val="col"/>
        <c:grouping val="clustered"/>
        <c:varyColors val="0"/>
        <c:ser>
          <c:idx val="0"/>
          <c:order val="0"/>
          <c:tx>
            <c:strRef>
              <c:f>Sheet1!$B$1</c:f>
              <c:strCache>
                <c:ptCount val="1"/>
                <c:pt idx="0">
                  <c:v>Positive</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Benefit Brow Bar</c:v>
                </c:pt>
                <c:pt idx="1">
                  <c:v>DryBar Salons</c:v>
                </c:pt>
                <c:pt idx="2">
                  <c:v>Blo Blow Dry Bar</c:v>
                </c:pt>
                <c:pt idx="3">
                  <c:v>Glamsquad</c:v>
                </c:pt>
                <c:pt idx="4">
                  <c:v>Blushington</c:v>
                </c:pt>
              </c:strCache>
            </c:strRef>
          </c:cat>
          <c:val>
            <c:numRef>
              <c:f>Sheet1!$B$2:$B$6</c:f>
              <c:numCache>
                <c:formatCode>0%</c:formatCode>
                <c:ptCount val="5"/>
                <c:pt idx="0">
                  <c:v>0.38</c:v>
                </c:pt>
                <c:pt idx="1">
                  <c:v>0.45</c:v>
                </c:pt>
                <c:pt idx="2">
                  <c:v>0.59</c:v>
                </c:pt>
                <c:pt idx="3">
                  <c:v>0.56999999999999995</c:v>
                </c:pt>
                <c:pt idx="4">
                  <c:v>0.46</c:v>
                </c:pt>
              </c:numCache>
            </c:numRef>
          </c:val>
          <c:extLst>
            <c:ext xmlns:c16="http://schemas.microsoft.com/office/drawing/2014/chart" uri="{C3380CC4-5D6E-409C-BE32-E72D297353CC}">
              <c16:uniqueId val="{00000000-4F59-C148-95E8-054715757291}"/>
            </c:ext>
          </c:extLst>
        </c:ser>
        <c:ser>
          <c:idx val="1"/>
          <c:order val="1"/>
          <c:tx>
            <c:strRef>
              <c:f>Sheet1!$C$1</c:f>
              <c:strCache>
                <c:ptCount val="1"/>
                <c:pt idx="0">
                  <c:v>Neutral</c:v>
                </c:pt>
              </c:strCache>
            </c:strRef>
          </c:tx>
          <c:spPr>
            <a:solidFill>
              <a:schemeClr val="bg2">
                <a:lumMod val="75000"/>
              </a:schemeClr>
            </a:solidFill>
            <a:ln>
              <a:noFill/>
            </a:ln>
            <a:effectLst/>
          </c:spPr>
          <c:invertIfNegative val="0"/>
          <c:dLbls>
            <c:dLbl>
              <c:idx val="1"/>
              <c:layout>
                <c:manualLayout>
                  <c:x val="6.3829765846953983E-3"/>
                  <c:y val="5.691963485381962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2F1-4D13-B65E-F2C1B7D9C094}"/>
                </c:ext>
              </c:extLst>
            </c:dLbl>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Benefit Brow Bar</c:v>
                </c:pt>
                <c:pt idx="1">
                  <c:v>DryBar Salons</c:v>
                </c:pt>
                <c:pt idx="2">
                  <c:v>Blo Blow Dry Bar</c:v>
                </c:pt>
                <c:pt idx="3">
                  <c:v>Glamsquad</c:v>
                </c:pt>
                <c:pt idx="4">
                  <c:v>Blushington</c:v>
                </c:pt>
              </c:strCache>
            </c:strRef>
          </c:cat>
          <c:val>
            <c:numRef>
              <c:f>Sheet1!$C$2:$C$6</c:f>
              <c:numCache>
                <c:formatCode>0%</c:formatCode>
                <c:ptCount val="5"/>
                <c:pt idx="0">
                  <c:v>0.6</c:v>
                </c:pt>
                <c:pt idx="1">
                  <c:v>0.46</c:v>
                </c:pt>
                <c:pt idx="2">
                  <c:v>0.39</c:v>
                </c:pt>
                <c:pt idx="3">
                  <c:v>0.4</c:v>
                </c:pt>
                <c:pt idx="4">
                  <c:v>0.54</c:v>
                </c:pt>
              </c:numCache>
            </c:numRef>
          </c:val>
          <c:extLst>
            <c:ext xmlns:c16="http://schemas.microsoft.com/office/drawing/2014/chart" uri="{C3380CC4-5D6E-409C-BE32-E72D297353CC}">
              <c16:uniqueId val="{00000001-4F59-C148-95E8-054715757291}"/>
            </c:ext>
          </c:extLst>
        </c:ser>
        <c:ser>
          <c:idx val="2"/>
          <c:order val="2"/>
          <c:tx>
            <c:strRef>
              <c:f>Sheet1!$D$1</c:f>
              <c:strCache>
                <c:ptCount val="1"/>
                <c:pt idx="0">
                  <c:v>Negative</c:v>
                </c:pt>
              </c:strCache>
            </c:strRef>
          </c:tx>
          <c:spPr>
            <a:solidFill>
              <a:srgbClr val="FF0000"/>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Benefit Brow Bar</c:v>
                </c:pt>
                <c:pt idx="1">
                  <c:v>DryBar Salons</c:v>
                </c:pt>
                <c:pt idx="2">
                  <c:v>Blo Blow Dry Bar</c:v>
                </c:pt>
                <c:pt idx="3">
                  <c:v>Glamsquad</c:v>
                </c:pt>
                <c:pt idx="4">
                  <c:v>Blushington</c:v>
                </c:pt>
              </c:strCache>
            </c:strRef>
          </c:cat>
          <c:val>
            <c:numRef>
              <c:f>Sheet1!$D$2:$D$6</c:f>
              <c:numCache>
                <c:formatCode>0%</c:formatCode>
                <c:ptCount val="5"/>
                <c:pt idx="0">
                  <c:v>0.02</c:v>
                </c:pt>
                <c:pt idx="1">
                  <c:v>0.09</c:v>
                </c:pt>
                <c:pt idx="2">
                  <c:v>0.02</c:v>
                </c:pt>
                <c:pt idx="3">
                  <c:v>0.03</c:v>
                </c:pt>
                <c:pt idx="4">
                  <c:v>0</c:v>
                </c:pt>
              </c:numCache>
            </c:numRef>
          </c:val>
          <c:extLst>
            <c:ext xmlns:c16="http://schemas.microsoft.com/office/drawing/2014/chart" uri="{C3380CC4-5D6E-409C-BE32-E72D297353CC}">
              <c16:uniqueId val="{00000003-4F59-C148-95E8-054715757291}"/>
            </c:ext>
          </c:extLst>
        </c:ser>
        <c:dLbls>
          <c:dLblPos val="outEnd"/>
          <c:showLegendKey val="0"/>
          <c:showVal val="1"/>
          <c:showCatName val="0"/>
          <c:showSerName val="0"/>
          <c:showPercent val="0"/>
          <c:showBubbleSize val="0"/>
        </c:dLbls>
        <c:gapWidth val="224"/>
        <c:axId val="1801674048"/>
        <c:axId val="1801674528"/>
      </c:barChart>
      <c:catAx>
        <c:axId val="1801674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801674528"/>
        <c:crosses val="autoZero"/>
        <c:auto val="1"/>
        <c:lblAlgn val="ctr"/>
        <c:lblOffset val="100"/>
        <c:noMultiLvlLbl val="0"/>
      </c:catAx>
      <c:valAx>
        <c:axId val="1801674528"/>
        <c:scaling>
          <c:orientation val="minMax"/>
          <c:min val="0"/>
        </c:scaling>
        <c:delete val="1"/>
        <c:axPos val="l"/>
        <c:numFmt formatCode="0%" sourceLinked="1"/>
        <c:majorTickMark val="none"/>
        <c:minorTickMark val="none"/>
        <c:tickLblPos val="nextTo"/>
        <c:crossAx val="1801674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526-544B-8C94-D6B8CC94484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526-544B-8C94-D6B8CC94484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526-544B-8C94-D6B8CC94484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526-544B-8C94-D6B8CC94484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526-544B-8C94-D6B8CC94484B}"/>
              </c:ext>
            </c:extLst>
          </c:dPt>
          <c:dLbls>
            <c:dLbl>
              <c:idx val="0"/>
              <c:layout>
                <c:manualLayout>
                  <c:x val="2.0697274192179805E-2"/>
                  <c:y val="-1.9528677272400898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526-544B-8C94-D6B8CC94484B}"/>
                </c:ext>
              </c:extLst>
            </c:dLbl>
            <c:dLbl>
              <c:idx val="1"/>
              <c:layout>
                <c:manualLayout>
                  <c:x val="-4.8322846819897472E-2"/>
                  <c:y val="2.487252508044182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526-544B-8C94-D6B8CC94484B}"/>
                </c:ext>
              </c:extLst>
            </c:dLbl>
            <c:dLbl>
              <c:idx val="2"/>
              <c:tx>
                <c:rich>
                  <a:bodyPr/>
                  <a:lstStyle/>
                  <a:p>
                    <a:fld id="{12E9ECBB-11A5-4BB9-8EA2-F3305F29FE0D}" type="PERCENTAGE">
                      <a:rPr lang="en-US">
                        <a:solidFill>
                          <a:schemeClr val="bg1"/>
                        </a:solidFill>
                      </a:rPr>
                      <a:pPr/>
                      <a:t>[PERCENTAGE]</a:t>
                    </a:fld>
                    <a:endParaRPr lang="en-IN"/>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526-544B-8C94-D6B8CC94484B}"/>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Benefit Brow Bar</c:v>
                </c:pt>
                <c:pt idx="1">
                  <c:v>DryBar Salons</c:v>
                </c:pt>
                <c:pt idx="2">
                  <c:v>Blo Blow Dry Bar</c:v>
                </c:pt>
                <c:pt idx="3">
                  <c:v>Glamsquad</c:v>
                </c:pt>
                <c:pt idx="4">
                  <c:v>Blushington</c:v>
                </c:pt>
              </c:strCache>
            </c:strRef>
          </c:cat>
          <c:val>
            <c:numRef>
              <c:f>Sheet1!$B$2:$B$6</c:f>
              <c:numCache>
                <c:formatCode>0%</c:formatCode>
                <c:ptCount val="5"/>
                <c:pt idx="0">
                  <c:v>0.41</c:v>
                </c:pt>
                <c:pt idx="1">
                  <c:v>0.38</c:v>
                </c:pt>
                <c:pt idx="2">
                  <c:v>0.13</c:v>
                </c:pt>
                <c:pt idx="3">
                  <c:v>7.0000000000000007E-2</c:v>
                </c:pt>
                <c:pt idx="4">
                  <c:v>0.01</c:v>
                </c:pt>
              </c:numCache>
            </c:numRef>
          </c:val>
          <c:extLst>
            <c:ext xmlns:c16="http://schemas.microsoft.com/office/drawing/2014/chart" uri="{C3380CC4-5D6E-409C-BE32-E72D297353CC}">
              <c16:uniqueId val="{0000000C-C526-544B-8C94-D6B8CC94484B}"/>
            </c:ext>
          </c:extLst>
        </c:ser>
        <c:dLbls>
          <c:showLegendKey val="0"/>
          <c:showVal val="0"/>
          <c:showCatName val="0"/>
          <c:showSerName val="0"/>
          <c:showPercent val="1"/>
          <c:showBubbleSize val="0"/>
          <c:showLeaderLines val="1"/>
        </c:dLbls>
        <c:firstSliceAng val="79"/>
      </c:pieChart>
      <c:spPr>
        <a:noFill/>
        <a:ln>
          <a:noFill/>
        </a:ln>
        <a:effectLst/>
      </c:spPr>
    </c:plotArea>
    <c:legend>
      <c:legendPos val="r"/>
      <c:layout>
        <c:manualLayout>
          <c:xMode val="edge"/>
          <c:yMode val="edge"/>
          <c:x val="0.65692870354310973"/>
          <c:y val="0.15336352473899345"/>
          <c:w val="0.32875251259893257"/>
          <c:h val="0.693272433958667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707184210355396E-2"/>
          <c:y val="8.5071509160519823E-2"/>
          <c:w val="0.892872902185884"/>
          <c:h val="0.62575205703641168"/>
        </c:manualLayout>
      </c:layout>
      <c:lineChart>
        <c:grouping val="standard"/>
        <c:varyColors val="0"/>
        <c:ser>
          <c:idx val="0"/>
          <c:order val="0"/>
          <c:tx>
            <c:strRef>
              <c:f>Sheet1!$B$1</c:f>
              <c:strCache>
                <c:ptCount val="1"/>
                <c:pt idx="0">
                  <c:v>Specialized Hair &amp; Makeup Services</c:v>
                </c:pt>
              </c:strCache>
            </c:strRef>
          </c:tx>
          <c:spPr>
            <a:ln w="12700" cap="rnd">
              <a:solidFill>
                <a:srgbClr val="941100"/>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Sheet1!$B$2:$B$13</c:f>
              <c:numCache>
                <c:formatCode>General</c:formatCode>
                <c:ptCount val="12"/>
                <c:pt idx="0">
                  <c:v>12360</c:v>
                </c:pt>
                <c:pt idx="1">
                  <c:v>15013</c:v>
                </c:pt>
                <c:pt idx="2">
                  <c:v>12229</c:v>
                </c:pt>
                <c:pt idx="3">
                  <c:v>12079</c:v>
                </c:pt>
                <c:pt idx="4">
                  <c:v>10281</c:v>
                </c:pt>
                <c:pt idx="5">
                  <c:v>12643</c:v>
                </c:pt>
                <c:pt idx="6">
                  <c:v>11970</c:v>
                </c:pt>
                <c:pt idx="7">
                  <c:v>14438</c:v>
                </c:pt>
                <c:pt idx="8">
                  <c:v>14329</c:v>
                </c:pt>
                <c:pt idx="9">
                  <c:v>16031</c:v>
                </c:pt>
                <c:pt idx="10">
                  <c:v>14741</c:v>
                </c:pt>
                <c:pt idx="11" formatCode="#,##0">
                  <c:v>14425</c:v>
                </c:pt>
              </c:numCache>
            </c:numRef>
          </c:val>
          <c:smooth val="1"/>
          <c:extLst>
            <c:ext xmlns:c16="http://schemas.microsoft.com/office/drawing/2014/chart" uri="{C3380CC4-5D6E-409C-BE32-E72D297353CC}">
              <c16:uniqueId val="{00000000-6E5F-D04A-B379-B487C7607B43}"/>
            </c:ext>
          </c:extLst>
        </c:ser>
        <c:ser>
          <c:idx val="1"/>
          <c:order val="1"/>
          <c:tx>
            <c:strRef>
              <c:f>Sheet1!$C$1</c:f>
              <c:strCache>
                <c:ptCount val="1"/>
                <c:pt idx="0">
                  <c:v>Product Trends &amp; Recommendations</c:v>
                </c:pt>
              </c:strCache>
            </c:strRef>
          </c:tx>
          <c:spPr>
            <a:ln w="12700" cap="rnd">
              <a:solidFill>
                <a:schemeClr val="accent2"/>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Sheet1!$C$2:$C$13</c:f>
              <c:numCache>
                <c:formatCode>General</c:formatCode>
                <c:ptCount val="12"/>
                <c:pt idx="0">
                  <c:v>13170</c:v>
                </c:pt>
                <c:pt idx="1">
                  <c:v>13348</c:v>
                </c:pt>
                <c:pt idx="2">
                  <c:v>13432</c:v>
                </c:pt>
                <c:pt idx="3">
                  <c:v>10900</c:v>
                </c:pt>
                <c:pt idx="4">
                  <c:v>12517</c:v>
                </c:pt>
                <c:pt idx="5">
                  <c:v>13048</c:v>
                </c:pt>
                <c:pt idx="6">
                  <c:v>10673</c:v>
                </c:pt>
                <c:pt idx="7">
                  <c:v>14260</c:v>
                </c:pt>
                <c:pt idx="8">
                  <c:v>11937</c:v>
                </c:pt>
                <c:pt idx="9">
                  <c:v>15305</c:v>
                </c:pt>
                <c:pt idx="10">
                  <c:v>11853</c:v>
                </c:pt>
                <c:pt idx="11" formatCode="#,##0">
                  <c:v>11235</c:v>
                </c:pt>
              </c:numCache>
            </c:numRef>
          </c:val>
          <c:smooth val="1"/>
          <c:extLst>
            <c:ext xmlns:c16="http://schemas.microsoft.com/office/drawing/2014/chart" uri="{C3380CC4-5D6E-409C-BE32-E72D297353CC}">
              <c16:uniqueId val="{00000001-6E5F-D04A-B379-B487C7607B43}"/>
            </c:ext>
          </c:extLst>
        </c:ser>
        <c:ser>
          <c:idx val="2"/>
          <c:order val="2"/>
          <c:tx>
            <c:strRef>
              <c:f>Sheet1!$D$1</c:f>
              <c:strCache>
                <c:ptCount val="1"/>
                <c:pt idx="0">
                  <c:v>Celebrity &amp; Influencer Culture</c:v>
                </c:pt>
              </c:strCache>
            </c:strRef>
          </c:tx>
          <c:spPr>
            <a:ln w="12700" cap="rnd">
              <a:solidFill>
                <a:schemeClr val="accent3"/>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Sheet1!$D$2:$D$13</c:f>
              <c:numCache>
                <c:formatCode>General</c:formatCode>
                <c:ptCount val="12"/>
                <c:pt idx="0">
                  <c:v>11045</c:v>
                </c:pt>
                <c:pt idx="1">
                  <c:v>10496</c:v>
                </c:pt>
                <c:pt idx="2">
                  <c:v>10338</c:v>
                </c:pt>
                <c:pt idx="3">
                  <c:v>9285</c:v>
                </c:pt>
                <c:pt idx="4">
                  <c:v>9811</c:v>
                </c:pt>
                <c:pt idx="5">
                  <c:v>10954</c:v>
                </c:pt>
                <c:pt idx="6">
                  <c:v>9644</c:v>
                </c:pt>
                <c:pt idx="7">
                  <c:v>12346</c:v>
                </c:pt>
                <c:pt idx="8">
                  <c:v>12070</c:v>
                </c:pt>
                <c:pt idx="9">
                  <c:v>15002</c:v>
                </c:pt>
                <c:pt idx="10">
                  <c:v>9561</c:v>
                </c:pt>
                <c:pt idx="11" formatCode="#,##0">
                  <c:v>10013</c:v>
                </c:pt>
              </c:numCache>
            </c:numRef>
          </c:val>
          <c:smooth val="1"/>
          <c:extLst>
            <c:ext xmlns:c16="http://schemas.microsoft.com/office/drawing/2014/chart" uri="{C3380CC4-5D6E-409C-BE32-E72D297353CC}">
              <c16:uniqueId val="{00000002-6E5F-D04A-B379-B487C7607B43}"/>
            </c:ext>
          </c:extLst>
        </c:ser>
        <c:ser>
          <c:idx val="3"/>
          <c:order val="3"/>
          <c:tx>
            <c:strRef>
              <c:f>Sheet1!$E$1</c:f>
              <c:strCache>
                <c:ptCount val="1"/>
                <c:pt idx="0">
                  <c:v>Economic &amp; Business Aspects</c:v>
                </c:pt>
              </c:strCache>
            </c:strRef>
          </c:tx>
          <c:spPr>
            <a:ln w="12700" cap="rnd">
              <a:solidFill>
                <a:schemeClr val="accent4"/>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Sheet1!$E$2:$E$13</c:f>
              <c:numCache>
                <c:formatCode>General</c:formatCode>
                <c:ptCount val="12"/>
                <c:pt idx="0">
                  <c:v>9798</c:v>
                </c:pt>
                <c:pt idx="1">
                  <c:v>10274</c:v>
                </c:pt>
                <c:pt idx="2">
                  <c:v>11451</c:v>
                </c:pt>
                <c:pt idx="3">
                  <c:v>8752</c:v>
                </c:pt>
                <c:pt idx="4">
                  <c:v>8512</c:v>
                </c:pt>
                <c:pt idx="5">
                  <c:v>11995</c:v>
                </c:pt>
                <c:pt idx="6">
                  <c:v>11139</c:v>
                </c:pt>
                <c:pt idx="7">
                  <c:v>11325</c:v>
                </c:pt>
                <c:pt idx="8">
                  <c:v>10356</c:v>
                </c:pt>
                <c:pt idx="9">
                  <c:v>11312</c:v>
                </c:pt>
                <c:pt idx="10">
                  <c:v>10918</c:v>
                </c:pt>
                <c:pt idx="11" formatCode="#,##0">
                  <c:v>9687</c:v>
                </c:pt>
              </c:numCache>
            </c:numRef>
          </c:val>
          <c:smooth val="1"/>
          <c:extLst>
            <c:ext xmlns:c16="http://schemas.microsoft.com/office/drawing/2014/chart" uri="{C3380CC4-5D6E-409C-BE32-E72D297353CC}">
              <c16:uniqueId val="{00000003-6E5F-D04A-B379-B487C7607B43}"/>
            </c:ext>
          </c:extLst>
        </c:ser>
        <c:ser>
          <c:idx val="4"/>
          <c:order val="4"/>
          <c:tx>
            <c:strRef>
              <c:f>Sheet1!$F$1</c:f>
              <c:strCache>
                <c:ptCount val="1"/>
                <c:pt idx="0">
                  <c:v>Community &amp; Social Impact</c:v>
                </c:pt>
              </c:strCache>
            </c:strRef>
          </c:tx>
          <c:spPr>
            <a:ln w="12700" cap="rnd">
              <a:solidFill>
                <a:schemeClr val="accent5"/>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Sheet1!$F$2:$F$13</c:f>
              <c:numCache>
                <c:formatCode>General</c:formatCode>
                <c:ptCount val="12"/>
                <c:pt idx="0">
                  <c:v>9237</c:v>
                </c:pt>
                <c:pt idx="1">
                  <c:v>9477</c:v>
                </c:pt>
                <c:pt idx="2">
                  <c:v>11649</c:v>
                </c:pt>
                <c:pt idx="3">
                  <c:v>9037</c:v>
                </c:pt>
                <c:pt idx="4">
                  <c:v>6341</c:v>
                </c:pt>
                <c:pt idx="5">
                  <c:v>10190</c:v>
                </c:pt>
                <c:pt idx="6">
                  <c:v>9397</c:v>
                </c:pt>
                <c:pt idx="7">
                  <c:v>10153</c:v>
                </c:pt>
                <c:pt idx="8">
                  <c:v>9578</c:v>
                </c:pt>
                <c:pt idx="9">
                  <c:v>9298</c:v>
                </c:pt>
                <c:pt idx="10">
                  <c:v>9626</c:v>
                </c:pt>
                <c:pt idx="11" formatCode="#,##0">
                  <c:v>9373</c:v>
                </c:pt>
              </c:numCache>
            </c:numRef>
          </c:val>
          <c:smooth val="1"/>
          <c:extLst>
            <c:ext xmlns:c16="http://schemas.microsoft.com/office/drawing/2014/chart" uri="{C3380CC4-5D6E-409C-BE32-E72D297353CC}">
              <c16:uniqueId val="{00000004-6E5F-D04A-B379-B487C7607B43}"/>
            </c:ext>
          </c:extLst>
        </c:ser>
        <c:ser>
          <c:idx val="5"/>
          <c:order val="5"/>
          <c:tx>
            <c:strRef>
              <c:f>Sheet1!$G$1</c:f>
              <c:strCache>
                <c:ptCount val="1"/>
                <c:pt idx="0">
                  <c:v>Inclusive &amp; Culturally Rooted Beauty Care</c:v>
                </c:pt>
              </c:strCache>
            </c:strRef>
          </c:tx>
          <c:spPr>
            <a:ln w="12700" cap="rnd">
              <a:solidFill>
                <a:schemeClr val="accent3">
                  <a:lumMod val="60000"/>
                  <a:lumOff val="40000"/>
                </a:schemeClr>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Sheet1!$G$2:$G$13</c:f>
              <c:numCache>
                <c:formatCode>#,##0</c:formatCode>
                <c:ptCount val="12"/>
                <c:pt idx="0">
                  <c:v>7413</c:v>
                </c:pt>
                <c:pt idx="1">
                  <c:v>5928</c:v>
                </c:pt>
                <c:pt idx="2">
                  <c:v>7646</c:v>
                </c:pt>
                <c:pt idx="3">
                  <c:v>7593</c:v>
                </c:pt>
                <c:pt idx="4" formatCode="General">
                  <c:v>6703</c:v>
                </c:pt>
                <c:pt idx="5" formatCode="General">
                  <c:v>7655</c:v>
                </c:pt>
                <c:pt idx="6" formatCode="General">
                  <c:v>8810</c:v>
                </c:pt>
                <c:pt idx="7" formatCode="General">
                  <c:v>8547</c:v>
                </c:pt>
                <c:pt idx="8" formatCode="General">
                  <c:v>7165</c:v>
                </c:pt>
                <c:pt idx="9" formatCode="General">
                  <c:v>8065</c:v>
                </c:pt>
                <c:pt idx="10" formatCode="General">
                  <c:v>7132</c:v>
                </c:pt>
                <c:pt idx="11">
                  <c:v>7092</c:v>
                </c:pt>
              </c:numCache>
            </c:numRef>
          </c:val>
          <c:smooth val="1"/>
          <c:extLst>
            <c:ext xmlns:c16="http://schemas.microsoft.com/office/drawing/2014/chart" uri="{C3380CC4-5D6E-409C-BE32-E72D297353CC}">
              <c16:uniqueId val="{00000005-6E5F-D04A-B379-B487C7607B43}"/>
            </c:ext>
          </c:extLst>
        </c:ser>
        <c:ser>
          <c:idx val="6"/>
          <c:order val="6"/>
          <c:tx>
            <c:strRef>
              <c:f>Sheet1!$H$1</c:f>
              <c:strCache>
                <c:ptCount val="1"/>
                <c:pt idx="0">
                  <c:v>Health, Wellness &amp; Safety</c:v>
                </c:pt>
              </c:strCache>
            </c:strRef>
          </c:tx>
          <c:spPr>
            <a:ln w="28575" cap="rnd">
              <a:solidFill>
                <a:schemeClr val="accent1">
                  <a:lumMod val="60000"/>
                </a:schemeClr>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Sheet1!$H$2:$H$13</c:f>
              <c:numCache>
                <c:formatCode>#,##0</c:formatCode>
                <c:ptCount val="12"/>
                <c:pt idx="0">
                  <c:v>5586</c:v>
                </c:pt>
                <c:pt idx="1">
                  <c:v>6364</c:v>
                </c:pt>
                <c:pt idx="2">
                  <c:v>5911</c:v>
                </c:pt>
                <c:pt idx="3">
                  <c:v>6499</c:v>
                </c:pt>
                <c:pt idx="4" formatCode="General">
                  <c:v>5480</c:v>
                </c:pt>
                <c:pt idx="5" formatCode="General">
                  <c:v>6129</c:v>
                </c:pt>
                <c:pt idx="6" formatCode="General">
                  <c:v>5630</c:v>
                </c:pt>
                <c:pt idx="7" formatCode="General">
                  <c:v>8442</c:v>
                </c:pt>
                <c:pt idx="8" formatCode="General">
                  <c:v>7940</c:v>
                </c:pt>
                <c:pt idx="9" formatCode="General">
                  <c:v>9305</c:v>
                </c:pt>
                <c:pt idx="10" formatCode="General">
                  <c:v>8668</c:v>
                </c:pt>
                <c:pt idx="11">
                  <c:v>6382</c:v>
                </c:pt>
              </c:numCache>
            </c:numRef>
          </c:val>
          <c:smooth val="1"/>
          <c:extLst>
            <c:ext xmlns:c16="http://schemas.microsoft.com/office/drawing/2014/chart" uri="{C3380CC4-5D6E-409C-BE32-E72D297353CC}">
              <c16:uniqueId val="{00000000-C4C9-4119-8D55-F7B417D115CC}"/>
            </c:ext>
          </c:extLst>
        </c:ser>
        <c:ser>
          <c:idx val="7"/>
          <c:order val="7"/>
          <c:tx>
            <c:strRef>
              <c:f>Sheet1!$I$1</c:f>
              <c:strCache>
                <c:ptCount val="1"/>
                <c:pt idx="0">
                  <c:v>Technology &amp; Innovation</c:v>
                </c:pt>
              </c:strCache>
            </c:strRef>
          </c:tx>
          <c:spPr>
            <a:ln w="28575" cap="rnd">
              <a:solidFill>
                <a:schemeClr val="accent2">
                  <a:lumMod val="60000"/>
                </a:schemeClr>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Sheet1!$I$2:$I$13</c:f>
              <c:numCache>
                <c:formatCode>#,##0</c:formatCode>
                <c:ptCount val="12"/>
                <c:pt idx="0">
                  <c:v>3677</c:v>
                </c:pt>
                <c:pt idx="1">
                  <c:v>3545</c:v>
                </c:pt>
                <c:pt idx="2">
                  <c:v>4096</c:v>
                </c:pt>
                <c:pt idx="3">
                  <c:v>3971</c:v>
                </c:pt>
                <c:pt idx="4" formatCode="General">
                  <c:v>3955</c:v>
                </c:pt>
                <c:pt idx="5" formatCode="General">
                  <c:v>5208</c:v>
                </c:pt>
                <c:pt idx="6" formatCode="General">
                  <c:v>4885</c:v>
                </c:pt>
                <c:pt idx="7" formatCode="General">
                  <c:v>4664</c:v>
                </c:pt>
                <c:pt idx="8" formatCode="General">
                  <c:v>6454</c:v>
                </c:pt>
                <c:pt idx="9" formatCode="General">
                  <c:v>6835</c:v>
                </c:pt>
                <c:pt idx="10" formatCode="General">
                  <c:v>5316</c:v>
                </c:pt>
                <c:pt idx="11">
                  <c:v>7341</c:v>
                </c:pt>
              </c:numCache>
            </c:numRef>
          </c:val>
          <c:smooth val="1"/>
          <c:extLst>
            <c:ext xmlns:c16="http://schemas.microsoft.com/office/drawing/2014/chart" uri="{C3380CC4-5D6E-409C-BE32-E72D297353CC}">
              <c16:uniqueId val="{00000001-C4C9-4119-8D55-F7B417D115CC}"/>
            </c:ext>
          </c:extLst>
        </c:ser>
        <c:ser>
          <c:idx val="8"/>
          <c:order val="8"/>
          <c:tx>
            <c:strRef>
              <c:f>Sheet1!$J$1</c:f>
              <c:strCache>
                <c:ptCount val="1"/>
                <c:pt idx="0">
                  <c:v>Professional Expertise &amp; Education</c:v>
                </c:pt>
              </c:strCache>
            </c:strRef>
          </c:tx>
          <c:spPr>
            <a:ln w="28575" cap="rnd">
              <a:solidFill>
                <a:schemeClr val="accent3">
                  <a:lumMod val="60000"/>
                </a:schemeClr>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Sheet1!$J$2:$J$13</c:f>
              <c:numCache>
                <c:formatCode>#,##0</c:formatCode>
                <c:ptCount val="12"/>
                <c:pt idx="0">
                  <c:v>3587</c:v>
                </c:pt>
                <c:pt idx="1">
                  <c:v>4592</c:v>
                </c:pt>
                <c:pt idx="2">
                  <c:v>3973</c:v>
                </c:pt>
                <c:pt idx="3">
                  <c:v>3695</c:v>
                </c:pt>
                <c:pt idx="4" formatCode="General">
                  <c:v>3739</c:v>
                </c:pt>
                <c:pt idx="5" formatCode="General">
                  <c:v>3049</c:v>
                </c:pt>
                <c:pt idx="6" formatCode="General">
                  <c:v>2688</c:v>
                </c:pt>
                <c:pt idx="7" formatCode="General">
                  <c:v>4200</c:v>
                </c:pt>
                <c:pt idx="8" formatCode="General">
                  <c:v>3225</c:v>
                </c:pt>
                <c:pt idx="9" formatCode="General">
                  <c:v>3555</c:v>
                </c:pt>
                <c:pt idx="10" formatCode="General">
                  <c:v>2723</c:v>
                </c:pt>
                <c:pt idx="11">
                  <c:v>4006</c:v>
                </c:pt>
              </c:numCache>
            </c:numRef>
          </c:val>
          <c:smooth val="1"/>
          <c:extLst>
            <c:ext xmlns:c16="http://schemas.microsoft.com/office/drawing/2014/chart" uri="{C3380CC4-5D6E-409C-BE32-E72D297353CC}">
              <c16:uniqueId val="{00000002-C4C9-4119-8D55-F7B417D115CC}"/>
            </c:ext>
          </c:extLst>
        </c:ser>
        <c:ser>
          <c:idx val="9"/>
          <c:order val="9"/>
          <c:tx>
            <c:strRef>
              <c:f>Sheet1!$K$1</c:f>
              <c:strCache>
                <c:ptCount val="1"/>
                <c:pt idx="0">
                  <c:v>Convenience &amp; Accessibility</c:v>
                </c:pt>
              </c:strCache>
            </c:strRef>
          </c:tx>
          <c:spPr>
            <a:ln w="28575" cap="rnd">
              <a:solidFill>
                <a:schemeClr val="accent4">
                  <a:lumMod val="60000"/>
                </a:schemeClr>
              </a:solidFill>
              <a:round/>
            </a:ln>
            <a:effectLst/>
          </c:spPr>
          <c:marker>
            <c:symbol val="none"/>
          </c:marker>
          <c:cat>
            <c:numRef>
              <c:f>Sheet1!$A$2:$A$13</c:f>
              <c:numCache>
                <c:formatCode>mmm\-yy</c:formatCode>
                <c:ptCount val="12"/>
                <c:pt idx="0">
                  <c:v>45505</c:v>
                </c:pt>
                <c:pt idx="1">
                  <c:v>45536</c:v>
                </c:pt>
                <c:pt idx="2">
                  <c:v>45566</c:v>
                </c:pt>
                <c:pt idx="3">
                  <c:v>45597</c:v>
                </c:pt>
                <c:pt idx="4">
                  <c:v>45627</c:v>
                </c:pt>
                <c:pt idx="5">
                  <c:v>45658</c:v>
                </c:pt>
                <c:pt idx="6">
                  <c:v>45689</c:v>
                </c:pt>
                <c:pt idx="7">
                  <c:v>45717</c:v>
                </c:pt>
                <c:pt idx="8">
                  <c:v>45748</c:v>
                </c:pt>
                <c:pt idx="9">
                  <c:v>45778</c:v>
                </c:pt>
                <c:pt idx="10">
                  <c:v>45809</c:v>
                </c:pt>
                <c:pt idx="11">
                  <c:v>45839</c:v>
                </c:pt>
              </c:numCache>
            </c:numRef>
          </c:cat>
          <c:val>
            <c:numRef>
              <c:f>Sheet1!$K$2:$K$13</c:f>
              <c:numCache>
                <c:formatCode>#,##0</c:formatCode>
                <c:ptCount val="12"/>
                <c:pt idx="0">
                  <c:v>3440</c:v>
                </c:pt>
                <c:pt idx="1">
                  <c:v>2821</c:v>
                </c:pt>
                <c:pt idx="2">
                  <c:v>3444</c:v>
                </c:pt>
                <c:pt idx="3">
                  <c:v>2918</c:v>
                </c:pt>
                <c:pt idx="4" formatCode="General">
                  <c:v>2820</c:v>
                </c:pt>
                <c:pt idx="5" formatCode="General">
                  <c:v>3755</c:v>
                </c:pt>
                <c:pt idx="6" formatCode="General">
                  <c:v>3198</c:v>
                </c:pt>
                <c:pt idx="7" formatCode="General">
                  <c:v>4169</c:v>
                </c:pt>
                <c:pt idx="8" formatCode="General">
                  <c:v>3655</c:v>
                </c:pt>
                <c:pt idx="9" formatCode="General">
                  <c:v>5358</c:v>
                </c:pt>
                <c:pt idx="10" formatCode="General">
                  <c:v>3257</c:v>
                </c:pt>
                <c:pt idx="11">
                  <c:v>3122</c:v>
                </c:pt>
              </c:numCache>
            </c:numRef>
          </c:val>
          <c:smooth val="1"/>
          <c:extLst>
            <c:ext xmlns:c16="http://schemas.microsoft.com/office/drawing/2014/chart" uri="{C3380CC4-5D6E-409C-BE32-E72D297353CC}">
              <c16:uniqueId val="{00000003-C4C9-4119-8D55-F7B417D115CC}"/>
            </c:ext>
          </c:extLst>
        </c:ser>
        <c:dLbls>
          <c:showLegendKey val="0"/>
          <c:showVal val="0"/>
          <c:showCatName val="0"/>
          <c:showSerName val="0"/>
          <c:showPercent val="0"/>
          <c:showBubbleSize val="0"/>
        </c:dLbls>
        <c:smooth val="0"/>
        <c:axId val="1077835199"/>
        <c:axId val="1077833279"/>
      </c:lineChart>
      <c:dateAx>
        <c:axId val="1077835199"/>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077833279"/>
        <c:crosses val="autoZero"/>
        <c:auto val="1"/>
        <c:lblOffset val="100"/>
        <c:baseTimeUnit val="months"/>
      </c:dateAx>
      <c:valAx>
        <c:axId val="107783327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077835199"/>
        <c:crosses val="autoZero"/>
        <c:crossBetween val="between"/>
      </c:valAx>
      <c:spPr>
        <a:noFill/>
        <a:ln>
          <a:noFill/>
        </a:ln>
        <a:effectLst/>
      </c:spPr>
    </c:plotArea>
    <c:legend>
      <c:legendPos val="b"/>
      <c:layout>
        <c:manualLayout>
          <c:xMode val="edge"/>
          <c:yMode val="edge"/>
          <c:x val="8.2110858007974755E-2"/>
          <c:y val="0.8846447945397854"/>
          <c:w val="0.86115196443759334"/>
          <c:h val="0.1153552899427298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E15627-E233-6FFD-496E-51741FEB30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938A859F-A24A-B11A-B842-6731AD5833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BDDA1B-CA5C-4A44-B5F2-E5BD5A6F7BEC}" type="datetimeFigureOut">
              <a:rPr lang="en-GB" smtClean="0"/>
              <a:t>24/11/2025</a:t>
            </a:fld>
            <a:endParaRPr lang="en-GB" dirty="0"/>
          </a:p>
        </p:txBody>
      </p:sp>
      <p:sp>
        <p:nvSpPr>
          <p:cNvPr id="4" name="Footer Placeholder 3">
            <a:extLst>
              <a:ext uri="{FF2B5EF4-FFF2-40B4-BE49-F238E27FC236}">
                <a16:creationId xmlns:a16="http://schemas.microsoft.com/office/drawing/2014/main" id="{CE455511-456A-A41B-3CFB-F97CBF7263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61356317-450B-BF5F-D91D-9BE923D6F78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A5568B-5D6A-4436-8A27-8B4AFF0FAA2A}" type="slidenum">
              <a:rPr lang="en-GB" smtClean="0"/>
              <a:t>‹#›</a:t>
            </a:fld>
            <a:endParaRPr lang="en-GB" dirty="0"/>
          </a:p>
        </p:txBody>
      </p:sp>
    </p:spTree>
    <p:extLst>
      <p:ext uri="{BB962C8B-B14F-4D97-AF65-F5344CB8AC3E}">
        <p14:creationId xmlns:p14="http://schemas.microsoft.com/office/powerpoint/2010/main" val="1396172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D05B4-7CC5-4FF5-A242-257A22BBB77A}" type="datetimeFigureOut">
              <a:rPr lang="en-GB" smtClean="0"/>
              <a:t>24/11/2025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1D249E-C18E-42AD-9752-4ACF08D333D0}" type="slidenum">
              <a:rPr lang="en-GB" smtClean="0"/>
              <a:t>‹#›</a:t>
            </a:fld>
            <a:endParaRPr lang="en-GB" dirty="0"/>
          </a:p>
        </p:txBody>
      </p:sp>
    </p:spTree>
    <p:extLst>
      <p:ext uri="{BB962C8B-B14F-4D97-AF65-F5344CB8AC3E}">
        <p14:creationId xmlns:p14="http://schemas.microsoft.com/office/powerpoint/2010/main" val="1940313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1D249E-C18E-42AD-9752-4ACF08D333D0}" type="slidenum">
              <a:rPr lang="en-GB" smtClean="0"/>
              <a:t>4</a:t>
            </a:fld>
            <a:endParaRPr lang="en-GB" dirty="0"/>
          </a:p>
        </p:txBody>
      </p:sp>
    </p:spTree>
    <p:extLst>
      <p:ext uri="{BB962C8B-B14F-4D97-AF65-F5344CB8AC3E}">
        <p14:creationId xmlns:p14="http://schemas.microsoft.com/office/powerpoint/2010/main" val="3912297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2E10-B1DD-81E0-895C-9BAA4BDDF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6D04D-F19F-003F-090D-691887562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60EEC-1481-A7FD-7233-2E722EE029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891ACC-5660-4AED-E84F-E0F98CC2327E}"/>
              </a:ext>
            </a:extLst>
          </p:cNvPr>
          <p:cNvSpPr>
            <a:spLocks noGrp="1"/>
          </p:cNvSpPr>
          <p:nvPr>
            <p:ph type="sldNum" sz="quarter" idx="5"/>
          </p:nvPr>
        </p:nvSpPr>
        <p:spPr/>
        <p:txBody>
          <a:bodyPr/>
          <a:lstStyle/>
          <a:p>
            <a:fld id="{2D1D249E-C18E-42AD-9752-4ACF08D333D0}" type="slidenum">
              <a:rPr lang="en-GB" smtClean="0"/>
              <a:t>6</a:t>
            </a:fld>
            <a:endParaRPr lang="en-GB" dirty="0"/>
          </a:p>
        </p:txBody>
      </p:sp>
    </p:spTree>
    <p:extLst>
      <p:ext uri="{BB962C8B-B14F-4D97-AF65-F5344CB8AC3E}">
        <p14:creationId xmlns:p14="http://schemas.microsoft.com/office/powerpoint/2010/main" val="851103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5B48D-5951-0EAC-78B4-1F7875CD8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A19B1-2A90-4606-88A0-9043CAA43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79F9A-B57B-166D-89A8-0F75402AA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6560B2-EB75-1154-6B91-1754E4B37D21}"/>
              </a:ext>
            </a:extLst>
          </p:cNvPr>
          <p:cNvSpPr>
            <a:spLocks noGrp="1"/>
          </p:cNvSpPr>
          <p:nvPr>
            <p:ph type="sldNum" sz="quarter" idx="5"/>
          </p:nvPr>
        </p:nvSpPr>
        <p:spPr/>
        <p:txBody>
          <a:bodyPr/>
          <a:lstStyle/>
          <a:p>
            <a:fld id="{2D1D249E-C18E-42AD-9752-4ACF08D333D0}" type="slidenum">
              <a:rPr lang="en-GB" smtClean="0"/>
              <a:t>7</a:t>
            </a:fld>
            <a:endParaRPr lang="en-GB" dirty="0"/>
          </a:p>
        </p:txBody>
      </p:sp>
    </p:spTree>
    <p:extLst>
      <p:ext uri="{BB962C8B-B14F-4D97-AF65-F5344CB8AC3E}">
        <p14:creationId xmlns:p14="http://schemas.microsoft.com/office/powerpoint/2010/main" val="3761305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32327-CD41-9E61-94F3-1D68E96E9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ED199-584D-478A-48DE-44978714AF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CF0357-CACB-C66B-83A6-2541609EE2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i="0" dirty="0"/>
          </a:p>
        </p:txBody>
      </p:sp>
      <p:sp>
        <p:nvSpPr>
          <p:cNvPr id="4" name="Slide Number Placeholder 3">
            <a:extLst>
              <a:ext uri="{FF2B5EF4-FFF2-40B4-BE49-F238E27FC236}">
                <a16:creationId xmlns:a16="http://schemas.microsoft.com/office/drawing/2014/main" id="{A0D5783F-28C1-7213-0F1B-9DE263E33BE5}"/>
              </a:ext>
            </a:extLst>
          </p:cNvPr>
          <p:cNvSpPr>
            <a:spLocks noGrp="1"/>
          </p:cNvSpPr>
          <p:nvPr>
            <p:ph type="sldNum" sz="quarter" idx="5"/>
          </p:nvPr>
        </p:nvSpPr>
        <p:spPr/>
        <p:txBody>
          <a:bodyPr/>
          <a:lstStyle/>
          <a:p>
            <a:fld id="{2D1D249E-C18E-42AD-9752-4ACF08D333D0}" type="slidenum">
              <a:rPr lang="en-GB" smtClean="0"/>
              <a:t>9</a:t>
            </a:fld>
            <a:endParaRPr lang="en-GB" dirty="0"/>
          </a:p>
        </p:txBody>
      </p:sp>
    </p:spTree>
    <p:extLst>
      <p:ext uri="{BB962C8B-B14F-4D97-AF65-F5344CB8AC3E}">
        <p14:creationId xmlns:p14="http://schemas.microsoft.com/office/powerpoint/2010/main" val="654304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D0CB8-5C56-3AF5-BA14-14FB6C443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97D2D-1C4E-A330-C3B9-C7776AB30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7D5D5-1819-0911-5411-92CC8B0554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i="0" dirty="0"/>
          </a:p>
        </p:txBody>
      </p:sp>
      <p:sp>
        <p:nvSpPr>
          <p:cNvPr id="4" name="Slide Number Placeholder 3">
            <a:extLst>
              <a:ext uri="{FF2B5EF4-FFF2-40B4-BE49-F238E27FC236}">
                <a16:creationId xmlns:a16="http://schemas.microsoft.com/office/drawing/2014/main" id="{42476DDF-4EE8-14D2-384B-722D76E61064}"/>
              </a:ext>
            </a:extLst>
          </p:cNvPr>
          <p:cNvSpPr>
            <a:spLocks noGrp="1"/>
          </p:cNvSpPr>
          <p:nvPr>
            <p:ph type="sldNum" sz="quarter" idx="5"/>
          </p:nvPr>
        </p:nvSpPr>
        <p:spPr/>
        <p:txBody>
          <a:bodyPr/>
          <a:lstStyle/>
          <a:p>
            <a:fld id="{2D1D249E-C18E-42AD-9752-4ACF08D333D0}" type="slidenum">
              <a:rPr lang="en-GB" smtClean="0"/>
              <a:t>10</a:t>
            </a:fld>
            <a:endParaRPr lang="en-GB" dirty="0"/>
          </a:p>
        </p:txBody>
      </p:sp>
    </p:spTree>
    <p:extLst>
      <p:ext uri="{BB962C8B-B14F-4D97-AF65-F5344CB8AC3E}">
        <p14:creationId xmlns:p14="http://schemas.microsoft.com/office/powerpoint/2010/main" val="334903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1D249E-C18E-42AD-9752-4ACF08D333D0}" type="slidenum">
              <a:rPr lang="en-GB" smtClean="0"/>
              <a:t>11</a:t>
            </a:fld>
            <a:endParaRPr lang="en-GB" dirty="0"/>
          </a:p>
        </p:txBody>
      </p:sp>
    </p:spTree>
    <p:extLst>
      <p:ext uri="{BB962C8B-B14F-4D97-AF65-F5344CB8AC3E}">
        <p14:creationId xmlns:p14="http://schemas.microsoft.com/office/powerpoint/2010/main" val="121846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4713-F887-3067-1A5C-4EEA09B11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3AB06-CCB7-FA54-50BB-7D180B3000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82737-2E25-0ECE-E524-32AA344096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i="0" dirty="0"/>
          </a:p>
        </p:txBody>
      </p:sp>
      <p:sp>
        <p:nvSpPr>
          <p:cNvPr id="4" name="Slide Number Placeholder 3">
            <a:extLst>
              <a:ext uri="{FF2B5EF4-FFF2-40B4-BE49-F238E27FC236}">
                <a16:creationId xmlns:a16="http://schemas.microsoft.com/office/drawing/2014/main" id="{561E980E-BC20-C34F-9DD8-BEBF42F6F41C}"/>
              </a:ext>
            </a:extLst>
          </p:cNvPr>
          <p:cNvSpPr>
            <a:spLocks noGrp="1"/>
          </p:cNvSpPr>
          <p:nvPr>
            <p:ph type="sldNum" sz="quarter" idx="5"/>
          </p:nvPr>
        </p:nvSpPr>
        <p:spPr/>
        <p:txBody>
          <a:bodyPr/>
          <a:lstStyle/>
          <a:p>
            <a:fld id="{2D1D249E-C18E-42AD-9752-4ACF08D333D0}" type="slidenum">
              <a:rPr lang="en-GB" smtClean="0"/>
              <a:t>12</a:t>
            </a:fld>
            <a:endParaRPr lang="en-GB" dirty="0"/>
          </a:p>
        </p:txBody>
      </p:sp>
    </p:spTree>
    <p:extLst>
      <p:ext uri="{BB962C8B-B14F-4D97-AF65-F5344CB8AC3E}">
        <p14:creationId xmlns:p14="http://schemas.microsoft.com/office/powerpoint/2010/main" val="3956409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06446-F9C6-D33A-CBB0-2CFAC88A0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B251B-7C73-5B4C-D0F3-7FA1768E99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F6E32-9A4C-A9B6-E082-A8D0E37D21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BA3BC4-0BF1-3A31-657D-CD56E28A26BA}"/>
              </a:ext>
            </a:extLst>
          </p:cNvPr>
          <p:cNvSpPr>
            <a:spLocks noGrp="1"/>
          </p:cNvSpPr>
          <p:nvPr>
            <p:ph type="sldNum" sz="quarter" idx="5"/>
          </p:nvPr>
        </p:nvSpPr>
        <p:spPr/>
        <p:txBody>
          <a:bodyPr/>
          <a:lstStyle/>
          <a:p>
            <a:fld id="{2D1D249E-C18E-42AD-9752-4ACF08D333D0}" type="slidenum">
              <a:rPr lang="en-GB" smtClean="0"/>
              <a:t>16</a:t>
            </a:fld>
            <a:endParaRPr lang="en-GB" dirty="0"/>
          </a:p>
        </p:txBody>
      </p:sp>
    </p:spTree>
    <p:extLst>
      <p:ext uri="{BB962C8B-B14F-4D97-AF65-F5344CB8AC3E}">
        <p14:creationId xmlns:p14="http://schemas.microsoft.com/office/powerpoint/2010/main" val="1835282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2E14-E207-F5F1-06F9-EF22A38BDE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3221F8A-E39B-C925-6FD0-4C6B49C007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AC5953C-0989-86C3-E206-F7511D1458D8}"/>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5" name="Footer Placeholder 4">
            <a:extLst>
              <a:ext uri="{FF2B5EF4-FFF2-40B4-BE49-F238E27FC236}">
                <a16:creationId xmlns:a16="http://schemas.microsoft.com/office/drawing/2014/main" id="{87AE0F4D-B70A-3346-95B3-2BCE6315421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F347D78-0FA7-B22A-AD5A-F1EB5C94E8B3}"/>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398846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D05A2-46EA-74F0-F85A-39D363487F8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EB21E6D-03D0-76F6-3CC6-E01D0FE102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0C6553-99F4-ADB2-43D0-C6F5B61D5875}"/>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5" name="Footer Placeholder 4">
            <a:extLst>
              <a:ext uri="{FF2B5EF4-FFF2-40B4-BE49-F238E27FC236}">
                <a16:creationId xmlns:a16="http://schemas.microsoft.com/office/drawing/2014/main" id="{980648C5-F11C-4994-5D87-FC1471F2C401}"/>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F824C75-35F8-7E25-7AE0-CE6E69EEB94B}"/>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3147650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0A428-96C2-C762-57E3-E35A338EA3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1F5B348-EE7C-DF8E-5863-6EA17033A1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0B4DC1-8E3E-956A-ED09-2E79B5F981D4}"/>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5" name="Footer Placeholder 4">
            <a:extLst>
              <a:ext uri="{FF2B5EF4-FFF2-40B4-BE49-F238E27FC236}">
                <a16:creationId xmlns:a16="http://schemas.microsoft.com/office/drawing/2014/main" id="{CCD51FD5-2AF1-EA55-C2C8-18236F88829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1254733-547C-8785-2F7A-076D5A95A5E0}"/>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720117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BD141-8FB6-1934-8F4E-2C16A4D08DF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47E9FC4-6450-26B7-60E3-DCA22CE019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4FD8D17-60B9-96BD-36BF-4956B6D437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070651D-5431-189D-2DEA-A326F770B14F}"/>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6" name="Footer Placeholder 5">
            <a:extLst>
              <a:ext uri="{FF2B5EF4-FFF2-40B4-BE49-F238E27FC236}">
                <a16:creationId xmlns:a16="http://schemas.microsoft.com/office/drawing/2014/main" id="{A81BD01D-1611-43EB-C05B-4155985B183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D858AC2-9C32-8630-07C2-51746429D58E}"/>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3048300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6531-7B7A-8ABB-4BCF-65137675FFD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E737EE4-867F-A580-11C5-0E8C69CE78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790A84-1FEC-14A1-3A58-B03C8B856E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70FEC11-1684-315D-9130-B506EBDFC4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916CDA-49B5-1BEE-96D6-C532920D66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05C51FF-4DA6-2456-AE94-01126A85B17D}"/>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8" name="Footer Placeholder 7">
            <a:extLst>
              <a:ext uri="{FF2B5EF4-FFF2-40B4-BE49-F238E27FC236}">
                <a16:creationId xmlns:a16="http://schemas.microsoft.com/office/drawing/2014/main" id="{8FA5BD11-4199-A826-21AF-CE2D5B0D884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93EB267-20C3-E854-C343-E9CE2A2DFCE6}"/>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2566807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E6A61-55D7-84EF-F589-764267D8CA4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3098A10-079D-0452-2EDD-A8D5A0320D57}"/>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4" name="Footer Placeholder 3">
            <a:extLst>
              <a:ext uri="{FF2B5EF4-FFF2-40B4-BE49-F238E27FC236}">
                <a16:creationId xmlns:a16="http://schemas.microsoft.com/office/drawing/2014/main" id="{57DD5F3A-A52B-D2C6-0D5D-F799D1248B14}"/>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C3A06C20-90E5-8CE0-9D05-3904AD69B03F}"/>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79481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5B8A61-C356-E4B4-30B8-E6CB2FA6ABB6}"/>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3" name="Footer Placeholder 2">
            <a:extLst>
              <a:ext uri="{FF2B5EF4-FFF2-40B4-BE49-F238E27FC236}">
                <a16:creationId xmlns:a16="http://schemas.microsoft.com/office/drawing/2014/main" id="{1E6B4AF4-083A-2C96-2D65-4918523DA03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7C656388-4D2E-5285-9894-70E640089FB3}"/>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132133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8C73-E79F-5F8F-073A-B45D6A0157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2581A7-1F1F-A735-E237-F0AA312E0D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ED5334A-8FA9-B0A2-9F4F-D71B08BC8C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1000AE-A8B8-92B2-4969-7CAA108F2F6D}"/>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6" name="Footer Placeholder 5">
            <a:extLst>
              <a:ext uri="{FF2B5EF4-FFF2-40B4-BE49-F238E27FC236}">
                <a16:creationId xmlns:a16="http://schemas.microsoft.com/office/drawing/2014/main" id="{C5F30613-F19B-7C91-8531-FA948800C425}"/>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8A08FFB-8828-FBD7-D8FC-2DA736860D19}"/>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326530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D36C7-48F2-8BDE-0B9C-6E50802410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2435E9-795C-47B9-E6F7-6574416CA4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865C2714-4108-00BA-D4EA-9D10BCDC8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305747-D2F0-81DC-3267-7E96B257E52D}"/>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6" name="Footer Placeholder 5">
            <a:extLst>
              <a:ext uri="{FF2B5EF4-FFF2-40B4-BE49-F238E27FC236}">
                <a16:creationId xmlns:a16="http://schemas.microsoft.com/office/drawing/2014/main" id="{36A9FA49-E184-0B4A-BDEA-9F1271AF4AC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5211590-CF11-44CA-0C9E-7E91672C4882}"/>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3344617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9FBEC-2556-02A9-6AB1-7893CFC1F4F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513F3A1-0174-3294-86BA-1F75EF6CEB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B6E69D-CDC2-3FFD-1A3F-256BAD256EBD}"/>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5" name="Footer Placeholder 4">
            <a:extLst>
              <a:ext uri="{FF2B5EF4-FFF2-40B4-BE49-F238E27FC236}">
                <a16:creationId xmlns:a16="http://schemas.microsoft.com/office/drawing/2014/main" id="{58FA4AC1-1971-0F34-2AAB-1DDF7BBA3D8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4B4ED57-1FA5-A126-30FE-69A1960A9603}"/>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623855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DB2A7F-06B3-6B00-5861-E81D8C8C372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0790F10-98C3-B887-F528-3E61ABC5A0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FCFD70-F2AA-983C-D48A-D1995EFCD5B2}"/>
              </a:ext>
            </a:extLst>
          </p:cNvPr>
          <p:cNvSpPr>
            <a:spLocks noGrp="1"/>
          </p:cNvSpPr>
          <p:nvPr>
            <p:ph type="dt" sz="half" idx="10"/>
          </p:nvPr>
        </p:nvSpPr>
        <p:spPr/>
        <p:txBody>
          <a:bodyPr/>
          <a:lstStyle/>
          <a:p>
            <a:fld id="{249B9F00-88E1-4066-AE18-F3BF3DBECD76}" type="datetimeFigureOut">
              <a:rPr lang="en-GB" smtClean="0"/>
              <a:t>24/11/2025</a:t>
            </a:fld>
            <a:endParaRPr lang="en-GB" dirty="0"/>
          </a:p>
        </p:txBody>
      </p:sp>
      <p:sp>
        <p:nvSpPr>
          <p:cNvPr id="5" name="Footer Placeholder 4">
            <a:extLst>
              <a:ext uri="{FF2B5EF4-FFF2-40B4-BE49-F238E27FC236}">
                <a16:creationId xmlns:a16="http://schemas.microsoft.com/office/drawing/2014/main" id="{5E676458-FFCF-8EB5-4F0C-F1B3A7F1C251}"/>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68BD972-A649-1F8D-9609-8E5986EC51A7}"/>
              </a:ext>
            </a:extLst>
          </p:cNvPr>
          <p:cNvSpPr>
            <a:spLocks noGrp="1"/>
          </p:cNvSpPr>
          <p:nvPr>
            <p:ph type="sldNum" sz="quarter" idx="12"/>
          </p:nvPr>
        </p:nvSpPr>
        <p:spPr/>
        <p:txBody>
          <a:bodyPr/>
          <a:lstStyle/>
          <a:p>
            <a:fld id="{002E14F3-A8F4-44BE-B283-9A084AAA6D34}" type="slidenum">
              <a:rPr lang="en-GB" smtClean="0"/>
              <a:t>‹#›</a:t>
            </a:fld>
            <a:endParaRPr lang="en-GB" dirty="0"/>
          </a:p>
        </p:txBody>
      </p:sp>
    </p:spTree>
    <p:extLst>
      <p:ext uri="{BB962C8B-B14F-4D97-AF65-F5344CB8AC3E}">
        <p14:creationId xmlns:p14="http://schemas.microsoft.com/office/powerpoint/2010/main" val="2868450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2_Title Only_Light">
    <p:spTree>
      <p:nvGrpSpPr>
        <p:cNvPr id="1" name=""/>
        <p:cNvGrpSpPr/>
        <p:nvPr/>
      </p:nvGrpSpPr>
      <p:grpSpPr>
        <a:xfrm>
          <a:off x="0" y="0"/>
          <a:ext cx="0" cy="0"/>
          <a:chOff x="0" y="0"/>
          <a:chExt cx="0" cy="0"/>
        </a:xfrm>
      </p:grpSpPr>
      <p:sp>
        <p:nvSpPr>
          <p:cNvPr id="34" name="Title Text"/>
          <p:cNvSpPr txBox="1">
            <a:spLocks noGrp="1"/>
          </p:cNvSpPr>
          <p:nvPr>
            <p:ph type="title"/>
          </p:nvPr>
        </p:nvSpPr>
        <p:spPr>
          <a:xfrm>
            <a:off x="504611" y="368316"/>
            <a:ext cx="3600001" cy="609398"/>
          </a:xfrm>
          <a:prstGeom prst="rect">
            <a:avLst/>
          </a:prstGeom>
        </p:spPr>
        <p:txBody>
          <a:bodyPr lIns="0" tIns="0" rIns="0" bIns="0"/>
          <a:lstStyle/>
          <a:p>
            <a:r>
              <a:t>Title Text</a:t>
            </a:r>
          </a:p>
        </p:txBody>
      </p:sp>
      <p:pic>
        <p:nvPicPr>
          <p:cNvPr id="35" name="Picture 2" descr="Picture 2"/>
          <p:cNvPicPr>
            <a:picLocks noChangeAspect="1"/>
          </p:cNvPicPr>
          <p:nvPr/>
        </p:nvPicPr>
        <p:blipFill>
          <a:blip r:embed="rId2" cstate="email">
            <a:alphaModFix amt="50000"/>
            <a:extLst>
              <a:ext uri="{28A0092B-C50C-407E-A947-70E740481C1C}">
                <a14:useLocalDpi xmlns:a14="http://schemas.microsoft.com/office/drawing/2010/main"/>
              </a:ext>
            </a:extLst>
          </a:blip>
          <a:srcRect/>
          <a:stretch>
            <a:fillRect/>
          </a:stretch>
        </p:blipFill>
        <p:spPr>
          <a:xfrm>
            <a:off x="4002645" y="552449"/>
            <a:ext cx="7429501" cy="6305551"/>
          </a:xfrm>
          <a:prstGeom prst="rect">
            <a:avLst/>
          </a:prstGeom>
          <a:ln w="12700">
            <a:miter lim="400000"/>
          </a:ln>
        </p:spPr>
      </p:pic>
      <p:pic>
        <p:nvPicPr>
          <p:cNvPr id="36" name="Picture 8" descr="Picture 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297190" y="56054"/>
            <a:ext cx="780398" cy="462643"/>
          </a:xfrm>
          <a:prstGeom prst="rect">
            <a:avLst/>
          </a:prstGeom>
          <a:ln w="12700">
            <a:miter lim="400000"/>
          </a:ln>
        </p:spPr>
      </p:pic>
      <p:sp>
        <p:nvSpPr>
          <p:cNvPr id="37" name="Slide Number"/>
          <p:cNvSpPr txBox="1">
            <a:spLocks noGrp="1"/>
          </p:cNvSpPr>
          <p:nvPr>
            <p:ph type="sldNum" sz="quarter" idx="2"/>
          </p:nvPr>
        </p:nvSpPr>
        <p:spPr>
          <a:xfrm>
            <a:off x="11547227" y="6443340"/>
            <a:ext cx="157094" cy="153888"/>
          </a:xfrm>
          <a:prstGeom prst="rect">
            <a:avLst/>
          </a:prstGeom>
        </p:spPr>
        <p:txBody>
          <a:bodyPr lIns="0" tIns="0" rIns="0" bIns="0" anchor="t"/>
          <a:lstStyle>
            <a:lvl1pPr>
              <a:defRPr sz="1000">
                <a:solidFill>
                  <a:srgbClr val="808080"/>
                </a:solidFill>
                <a:latin typeface="Arial"/>
                <a:ea typeface="Arial"/>
                <a:cs typeface="Arial"/>
                <a:sym typeface="Arial"/>
              </a:defRPr>
            </a:lvl1pPr>
          </a:lstStyle>
          <a:p>
            <a:fld id="{86CB4B4D-7CA3-9044-876B-883B54F8677D}" type="slidenum">
              <a:t>‹#›</a:t>
            </a:fld>
            <a:endParaRPr dirty="0"/>
          </a:p>
        </p:txBody>
      </p:sp>
      <p:sp>
        <p:nvSpPr>
          <p:cNvPr id="38" name="Rectangle 6"/>
          <p:cNvSpPr txBox="1"/>
          <p:nvPr/>
        </p:nvSpPr>
        <p:spPr>
          <a:xfrm>
            <a:off x="504611" y="6512544"/>
            <a:ext cx="2669820" cy="12311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spAutoFit/>
          </a:bodyPr>
          <a:lstStyle>
            <a:lvl1pPr algn="ctr">
              <a:defRPr sz="1600">
                <a:solidFill>
                  <a:srgbClr val="808080"/>
                </a:solidFill>
                <a:latin typeface="Poppins"/>
                <a:ea typeface="Poppins"/>
                <a:cs typeface="Poppins"/>
                <a:sym typeface="Poppins"/>
              </a:defRPr>
            </a:lvl1pPr>
          </a:lstStyle>
          <a:p>
            <a:r>
              <a:rPr sz="800" dirty="0"/>
              <a:t>© Copyright 2025 InfoVision   |   www.infovision.com</a:t>
            </a:r>
          </a:p>
        </p:txBody>
      </p:sp>
    </p:spTree>
    <p:extLst>
      <p:ext uri="{BB962C8B-B14F-4D97-AF65-F5344CB8AC3E}">
        <p14:creationId xmlns:p14="http://schemas.microsoft.com/office/powerpoint/2010/main" val="1850435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Headline Only Gray Backgroun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645850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79"/>
        <p:cNvGrpSpPr/>
        <p:nvPr/>
      </p:nvGrpSpPr>
      <p:grpSpPr>
        <a:xfrm>
          <a:off x="0" y="0"/>
          <a:ext cx="0" cy="0"/>
          <a:chOff x="0" y="0"/>
          <a:chExt cx="0" cy="0"/>
        </a:xfrm>
      </p:grpSpPr>
      <p:sp>
        <p:nvSpPr>
          <p:cNvPr id="380" name="Google Shape;380;p36"/>
          <p:cNvSpPr txBox="1">
            <a:spLocks noGrp="1"/>
          </p:cNvSpPr>
          <p:nvPr>
            <p:ph type="title"/>
          </p:nvPr>
        </p:nvSpPr>
        <p:spPr>
          <a:xfrm>
            <a:off x="415600" y="593367"/>
            <a:ext cx="11360800" cy="763600"/>
          </a:xfrm>
          <a:prstGeom prst="rect">
            <a:avLst/>
          </a:prstGeom>
          <a:noFill/>
          <a:ln>
            <a:noFill/>
          </a:ln>
        </p:spPr>
        <p:txBody>
          <a:bodyPr spcFirstLastPara="1" wrap="square" lIns="68575" tIns="68575" rIns="68575" bIns="68575" anchor="t" anchorCtr="0">
            <a:normAutofit/>
          </a:bodyPr>
          <a:lstStyle>
            <a:lvl1pPr lvl="0" algn="l">
              <a:lnSpc>
                <a:spcPct val="90000"/>
              </a:lnSpc>
              <a:spcBef>
                <a:spcPts val="0"/>
              </a:spcBef>
              <a:spcAft>
                <a:spcPts val="0"/>
              </a:spcAft>
              <a:buClr>
                <a:schemeClr val="dk2"/>
              </a:buClr>
              <a:buSzPts val="2100"/>
              <a:buFont typeface="Arial"/>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a:endParaRPr/>
          </a:p>
        </p:txBody>
      </p:sp>
      <p:sp>
        <p:nvSpPr>
          <p:cNvPr id="381" name="Google Shape;381;p36"/>
          <p:cNvSpPr txBox="1">
            <a:spLocks noGrp="1"/>
          </p:cNvSpPr>
          <p:nvPr>
            <p:ph type="body" idx="1"/>
          </p:nvPr>
        </p:nvSpPr>
        <p:spPr>
          <a:xfrm>
            <a:off x="415600" y="1536633"/>
            <a:ext cx="11360800" cy="4555200"/>
          </a:xfrm>
          <a:prstGeom prst="rect">
            <a:avLst/>
          </a:prstGeom>
          <a:noFill/>
          <a:ln>
            <a:noFill/>
          </a:ln>
        </p:spPr>
        <p:txBody>
          <a:bodyPr spcFirstLastPara="1" wrap="square" lIns="68575" tIns="68575" rIns="68575" bIns="68575" anchor="t" anchorCtr="0">
            <a:normAutofit/>
          </a:bodyPr>
          <a:lstStyle>
            <a:lvl1pPr marL="609585" lvl="0" indent="-423323" algn="l">
              <a:lnSpc>
                <a:spcPct val="90000"/>
              </a:lnSpc>
              <a:spcBef>
                <a:spcPts val="0"/>
              </a:spcBef>
              <a:spcAft>
                <a:spcPts val="0"/>
              </a:spcAft>
              <a:buClr>
                <a:schemeClr val="dk2"/>
              </a:buClr>
              <a:buSzPts val="1400"/>
              <a:buChar char="●"/>
              <a:defRPr/>
            </a:lvl1pPr>
            <a:lvl2pPr marL="1219170" lvl="1" indent="-397923" algn="l">
              <a:lnSpc>
                <a:spcPct val="90000"/>
              </a:lnSpc>
              <a:spcBef>
                <a:spcPts val="0"/>
              </a:spcBef>
              <a:spcAft>
                <a:spcPts val="0"/>
              </a:spcAft>
              <a:buClr>
                <a:schemeClr val="dk2"/>
              </a:buClr>
              <a:buSzPts val="1100"/>
              <a:buChar char="○"/>
              <a:defRPr/>
            </a:lvl2pPr>
            <a:lvl3pPr marL="1828754" lvl="2" indent="-397923" algn="l">
              <a:lnSpc>
                <a:spcPct val="90000"/>
              </a:lnSpc>
              <a:spcBef>
                <a:spcPts val="0"/>
              </a:spcBef>
              <a:spcAft>
                <a:spcPts val="0"/>
              </a:spcAft>
              <a:buClr>
                <a:schemeClr val="dk2"/>
              </a:buClr>
              <a:buSzPts val="1100"/>
              <a:buChar char="■"/>
              <a:defRPr/>
            </a:lvl3pPr>
            <a:lvl4pPr marL="2438339" lvl="3" indent="-397923" algn="l">
              <a:lnSpc>
                <a:spcPct val="90000"/>
              </a:lnSpc>
              <a:spcBef>
                <a:spcPts val="0"/>
              </a:spcBef>
              <a:spcAft>
                <a:spcPts val="0"/>
              </a:spcAft>
              <a:buClr>
                <a:schemeClr val="dk2"/>
              </a:buClr>
              <a:buSzPts val="1100"/>
              <a:buChar char="●"/>
              <a:defRPr/>
            </a:lvl4pPr>
            <a:lvl5pPr marL="3047924" lvl="4" indent="-397923" algn="l">
              <a:lnSpc>
                <a:spcPct val="90000"/>
              </a:lnSpc>
              <a:spcBef>
                <a:spcPts val="0"/>
              </a:spcBef>
              <a:spcAft>
                <a:spcPts val="0"/>
              </a:spcAft>
              <a:buClr>
                <a:schemeClr val="dk2"/>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382" name="Google Shape;382;p36"/>
          <p:cNvSpPr txBox="1">
            <a:spLocks noGrp="1"/>
          </p:cNvSpPr>
          <p:nvPr>
            <p:ph type="sldNum" idx="12"/>
          </p:nvPr>
        </p:nvSpPr>
        <p:spPr>
          <a:xfrm>
            <a:off x="11296611" y="6217623"/>
            <a:ext cx="731600" cy="524800"/>
          </a:xfrm>
          <a:prstGeom prst="rect">
            <a:avLst/>
          </a:prstGeom>
          <a:noFill/>
          <a:ln>
            <a:noFill/>
          </a:ln>
        </p:spPr>
        <p:txBody>
          <a:bodyPr spcFirstLastPara="1" wrap="square" lIns="68575" tIns="68575" rIns="68575" bIns="68575" anchor="ctr" anchorCtr="0">
            <a:normAutofit/>
          </a:bodyPr>
          <a:lstStyle>
            <a:lvl1pPr marL="0" marR="0" lvl="0" indent="0" algn="r" rtl="0">
              <a:buClr>
                <a:schemeClr val="dk1"/>
              </a:buClr>
              <a:buSzPts val="1400"/>
              <a:buFont typeface="Arial"/>
              <a:buNone/>
              <a:defRPr sz="1867">
                <a:solidFill>
                  <a:schemeClr val="dk1"/>
                </a:solidFill>
                <a:latin typeface="Arial"/>
                <a:ea typeface="Arial"/>
                <a:cs typeface="Arial"/>
                <a:sym typeface="Arial"/>
              </a:defRPr>
            </a:lvl1pPr>
            <a:lvl2pPr marL="0" marR="0" lvl="1" indent="0" algn="r" rtl="0">
              <a:buClr>
                <a:schemeClr val="dk1"/>
              </a:buClr>
              <a:buSzPts val="1400"/>
              <a:buFont typeface="Arial"/>
              <a:buNone/>
              <a:defRPr sz="1867">
                <a:solidFill>
                  <a:schemeClr val="dk1"/>
                </a:solidFill>
                <a:latin typeface="Arial"/>
                <a:ea typeface="Arial"/>
                <a:cs typeface="Arial"/>
                <a:sym typeface="Arial"/>
              </a:defRPr>
            </a:lvl2pPr>
            <a:lvl3pPr marL="0" marR="0" lvl="2" indent="0" algn="r" rtl="0">
              <a:buClr>
                <a:schemeClr val="dk1"/>
              </a:buClr>
              <a:buSzPts val="1400"/>
              <a:buFont typeface="Arial"/>
              <a:buNone/>
              <a:defRPr sz="1867">
                <a:solidFill>
                  <a:schemeClr val="dk1"/>
                </a:solidFill>
                <a:latin typeface="Arial"/>
                <a:ea typeface="Arial"/>
                <a:cs typeface="Arial"/>
                <a:sym typeface="Arial"/>
              </a:defRPr>
            </a:lvl3pPr>
            <a:lvl4pPr marL="0" marR="0" lvl="3" indent="0" algn="r" rtl="0">
              <a:buClr>
                <a:schemeClr val="dk1"/>
              </a:buClr>
              <a:buSzPts val="1400"/>
              <a:buFont typeface="Arial"/>
              <a:buNone/>
              <a:defRPr sz="1867">
                <a:solidFill>
                  <a:schemeClr val="dk1"/>
                </a:solidFill>
                <a:latin typeface="Arial"/>
                <a:ea typeface="Arial"/>
                <a:cs typeface="Arial"/>
                <a:sym typeface="Arial"/>
              </a:defRPr>
            </a:lvl4pPr>
            <a:lvl5pPr marL="0" marR="0" lvl="4" indent="0" algn="r" rtl="0">
              <a:buClr>
                <a:schemeClr val="dk1"/>
              </a:buClr>
              <a:buSzPts val="1400"/>
              <a:buFont typeface="Arial"/>
              <a:buNone/>
              <a:defRPr sz="1867">
                <a:solidFill>
                  <a:schemeClr val="dk1"/>
                </a:solidFill>
                <a:latin typeface="Arial"/>
                <a:ea typeface="Arial"/>
                <a:cs typeface="Arial"/>
                <a:sym typeface="Arial"/>
              </a:defRPr>
            </a:lvl5pPr>
            <a:lvl6pPr marL="0" marR="0" lvl="5" indent="0" algn="r" rtl="0">
              <a:buClr>
                <a:schemeClr val="dk1"/>
              </a:buClr>
              <a:buSzPts val="1400"/>
              <a:buFont typeface="Arial"/>
              <a:buNone/>
              <a:defRPr sz="1867">
                <a:solidFill>
                  <a:schemeClr val="dk1"/>
                </a:solidFill>
                <a:latin typeface="Arial"/>
                <a:ea typeface="Arial"/>
                <a:cs typeface="Arial"/>
                <a:sym typeface="Arial"/>
              </a:defRPr>
            </a:lvl6pPr>
            <a:lvl7pPr marL="0" marR="0" lvl="6" indent="0" algn="r" rtl="0">
              <a:buClr>
                <a:schemeClr val="dk1"/>
              </a:buClr>
              <a:buSzPts val="1400"/>
              <a:buFont typeface="Arial"/>
              <a:buNone/>
              <a:defRPr sz="1867">
                <a:solidFill>
                  <a:schemeClr val="dk1"/>
                </a:solidFill>
                <a:latin typeface="Arial"/>
                <a:ea typeface="Arial"/>
                <a:cs typeface="Arial"/>
                <a:sym typeface="Arial"/>
              </a:defRPr>
            </a:lvl7pPr>
            <a:lvl8pPr marL="0" marR="0" lvl="7" indent="0" algn="r" rtl="0">
              <a:buClr>
                <a:schemeClr val="dk1"/>
              </a:buClr>
              <a:buSzPts val="1400"/>
              <a:buFont typeface="Arial"/>
              <a:buNone/>
              <a:defRPr sz="1867">
                <a:solidFill>
                  <a:schemeClr val="dk1"/>
                </a:solidFill>
                <a:latin typeface="Arial"/>
                <a:ea typeface="Arial"/>
                <a:cs typeface="Arial"/>
                <a:sym typeface="Arial"/>
              </a:defRPr>
            </a:lvl8pPr>
            <a:lvl9pPr marL="0" marR="0" lvl="8" indent="0" algn="r" rtl="0">
              <a:buClr>
                <a:schemeClr val="dk1"/>
              </a:buClr>
              <a:buSzPts val="1400"/>
              <a:buFont typeface="Arial"/>
              <a:buNone/>
              <a:defRPr sz="1867">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942694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1400" b="1" i="0">
                <a:solidFill>
                  <a:srgbClr val="6F2F9F"/>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1" i="0">
                <a:solidFill>
                  <a:srgbClr val="4920A8"/>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4142030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6F2F9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400" b="1" i="0">
                <a:solidFill>
                  <a:srgbClr val="4920A8"/>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20704099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743450" y="9524"/>
            <a:ext cx="7448550" cy="6848475"/>
          </a:xfrm>
          <a:custGeom>
            <a:avLst/>
            <a:gdLst/>
            <a:ahLst/>
            <a:cxnLst/>
            <a:rect l="l" t="t" r="r" b="b"/>
            <a:pathLst>
              <a:path w="7448550" h="6848475">
                <a:moveTo>
                  <a:pt x="7448550" y="0"/>
                </a:moveTo>
                <a:lnTo>
                  <a:pt x="0" y="0"/>
                </a:lnTo>
                <a:lnTo>
                  <a:pt x="0" y="6848475"/>
                </a:lnTo>
                <a:lnTo>
                  <a:pt x="7448550" y="6848475"/>
                </a:lnTo>
                <a:lnTo>
                  <a:pt x="7448550" y="0"/>
                </a:lnTo>
                <a:close/>
              </a:path>
            </a:pathLst>
          </a:custGeom>
          <a:solidFill>
            <a:srgbClr val="F1F1F1"/>
          </a:solidFill>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1400" b="1" i="0">
                <a:solidFill>
                  <a:srgbClr val="6F2F9F"/>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2933029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6F2F9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10260465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4058792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heme" Target="../theme/theme2.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BDB1CD-DE38-9560-0236-F8A908E68F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FF781CA-5982-CA4E-D236-1EA594205C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63E750-1EEA-7945-C549-E32137E91E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9B9F00-88E1-4066-AE18-F3BF3DBECD76}" type="datetimeFigureOut">
              <a:rPr lang="en-GB" smtClean="0"/>
              <a:t>24/11/2025</a:t>
            </a:fld>
            <a:endParaRPr lang="en-GB" dirty="0"/>
          </a:p>
        </p:txBody>
      </p:sp>
      <p:sp>
        <p:nvSpPr>
          <p:cNvPr id="5" name="Footer Placeholder 4">
            <a:extLst>
              <a:ext uri="{FF2B5EF4-FFF2-40B4-BE49-F238E27FC236}">
                <a16:creationId xmlns:a16="http://schemas.microsoft.com/office/drawing/2014/main" id="{623F35B5-5412-9816-F67E-723EE9DDD2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D39E4442-7A00-7525-2477-0FA9A52169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2E14F3-A8F4-44BE-B283-9A084AAA6D34}" type="slidenum">
              <a:rPr lang="en-GB" smtClean="0"/>
              <a:t>‹#›</a:t>
            </a:fld>
            <a:endParaRPr lang="en-GB" dirty="0"/>
          </a:p>
        </p:txBody>
      </p:sp>
    </p:spTree>
    <p:extLst>
      <p:ext uri="{BB962C8B-B14F-4D97-AF65-F5344CB8AC3E}">
        <p14:creationId xmlns:p14="http://schemas.microsoft.com/office/powerpoint/2010/main" val="3140348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37" r:id="rId12"/>
    <p:sldLayoutId id="2147483738" r:id="rId13"/>
    <p:sldLayoutId id="214748374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807075" y="483298"/>
            <a:ext cx="1954529" cy="462280"/>
          </a:xfrm>
          <a:prstGeom prst="rect">
            <a:avLst/>
          </a:prstGeom>
        </p:spPr>
        <p:txBody>
          <a:bodyPr wrap="square" lIns="0" tIns="0" rIns="0" bIns="0">
            <a:spAutoFit/>
          </a:bodyPr>
          <a:lstStyle>
            <a:lvl1pPr>
              <a:defRPr sz="1400" b="1" i="0">
                <a:solidFill>
                  <a:srgbClr val="6F2F9F"/>
                </a:solidFill>
                <a:latin typeface="Arial"/>
                <a:cs typeface="Arial"/>
              </a:defRPr>
            </a:lvl1pPr>
          </a:lstStyle>
          <a:p>
            <a:endParaRPr/>
          </a:p>
        </p:txBody>
      </p:sp>
      <p:sp>
        <p:nvSpPr>
          <p:cNvPr id="3" name="Holder 3"/>
          <p:cNvSpPr>
            <a:spLocks noGrp="1"/>
          </p:cNvSpPr>
          <p:nvPr>
            <p:ph type="body" idx="1"/>
          </p:nvPr>
        </p:nvSpPr>
        <p:spPr>
          <a:xfrm>
            <a:off x="540067" y="1423670"/>
            <a:ext cx="6028690" cy="3581400"/>
          </a:xfrm>
          <a:prstGeom prst="rect">
            <a:avLst/>
          </a:prstGeom>
        </p:spPr>
        <p:txBody>
          <a:bodyPr wrap="square" lIns="0" tIns="0" rIns="0" bIns="0">
            <a:spAutoFit/>
          </a:bodyPr>
          <a:lstStyle>
            <a:lvl1pPr>
              <a:defRPr sz="1400" b="1" i="0">
                <a:solidFill>
                  <a:srgbClr val="4920A8"/>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11/24/2025</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236535301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svg"/><Relationship Id="rId2" Type="http://schemas.openxmlformats.org/officeDocument/2006/relationships/image" Target="../media/image3.jpe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chart" Target="../charts/chart3.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1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jp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hyperlink" Target="mailto:Rajesh.Kari@Infovision.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descr="A close up of a purple ribbon&#10;&#10;AI-generated content may be incorrect.">
            <a:extLst>
              <a:ext uri="{FF2B5EF4-FFF2-40B4-BE49-F238E27FC236}">
                <a16:creationId xmlns:a16="http://schemas.microsoft.com/office/drawing/2014/main" id="{215F224B-3E0C-F761-FCDB-E56CAC1333A4}"/>
              </a:ext>
            </a:extLst>
          </p:cNvPr>
          <p:cNvPicPr>
            <a:picLocks noChangeAspect="1"/>
          </p:cNvPicPr>
          <p:nvPr/>
        </p:nvPicPr>
        <p:blipFill>
          <a:blip r:embed="rId3"/>
          <a:srcRect l="50000" r="7388" b="23699"/>
          <a:stretch>
            <a:fillRect/>
          </a:stretch>
        </p:blipFill>
        <p:spPr>
          <a:xfrm>
            <a:off x="0" y="-82657"/>
            <a:ext cx="12213899" cy="6940657"/>
          </a:xfrm>
          <a:prstGeom prst="rect">
            <a:avLst/>
          </a:prstGeom>
        </p:spPr>
      </p:pic>
      <p:sp useBgFill="1">
        <p:nvSpPr>
          <p:cNvPr id="7" name="Rounded Rectangle 6">
            <a:extLst>
              <a:ext uri="{FF2B5EF4-FFF2-40B4-BE49-F238E27FC236}">
                <a16:creationId xmlns:a16="http://schemas.microsoft.com/office/drawing/2014/main" id="{09943C4C-E4FE-F191-B176-DC164DB7E9E7}"/>
              </a:ext>
            </a:extLst>
          </p:cNvPr>
          <p:cNvSpPr/>
          <p:nvPr/>
        </p:nvSpPr>
        <p:spPr>
          <a:xfrm>
            <a:off x="1058779" y="842211"/>
            <a:ext cx="5162139" cy="5033933"/>
          </a:xfrm>
          <a:prstGeom prst="roundRect">
            <a:avLst/>
          </a:prstGeom>
          <a:ln>
            <a:gradFill flip="none" rotWithShape="1">
              <a:gsLst>
                <a:gs pos="0">
                  <a:schemeClr val="bg1">
                    <a:alpha val="0"/>
                  </a:schemeClr>
                </a:gs>
                <a:gs pos="100000">
                  <a:schemeClr val="bg1"/>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20CE2D1-98D9-31A5-37DB-A111839AB3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99822" y="272485"/>
            <a:ext cx="1143954" cy="392533"/>
          </a:xfrm>
          <a:prstGeom prst="rect">
            <a:avLst/>
          </a:prstGeom>
        </p:spPr>
      </p:pic>
      <p:pic>
        <p:nvPicPr>
          <p:cNvPr id="10" name="Graphic 9">
            <a:extLst>
              <a:ext uri="{FF2B5EF4-FFF2-40B4-BE49-F238E27FC236}">
                <a16:creationId xmlns:a16="http://schemas.microsoft.com/office/drawing/2014/main" id="{2C1F4CED-5A23-F982-DF02-3C4DF4A261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65242" y="2130597"/>
            <a:ext cx="2149067" cy="329136"/>
          </a:xfrm>
          <a:prstGeom prst="rect">
            <a:avLst/>
          </a:prstGeom>
        </p:spPr>
      </p:pic>
      <p:sp>
        <p:nvSpPr>
          <p:cNvPr id="16" name="TextBox 15">
            <a:extLst>
              <a:ext uri="{FF2B5EF4-FFF2-40B4-BE49-F238E27FC236}">
                <a16:creationId xmlns:a16="http://schemas.microsoft.com/office/drawing/2014/main" id="{0B7626A7-BC74-6469-BBCC-D28FCDEB4FCF}"/>
              </a:ext>
            </a:extLst>
          </p:cNvPr>
          <p:cNvSpPr txBox="1"/>
          <p:nvPr/>
        </p:nvSpPr>
        <p:spPr>
          <a:xfrm>
            <a:off x="1448930" y="3037059"/>
            <a:ext cx="4530758" cy="1077218"/>
          </a:xfrm>
          <a:prstGeom prst="rect">
            <a:avLst/>
          </a:prstGeom>
          <a:noFill/>
        </p:spPr>
        <p:txBody>
          <a:bodyPr wrap="square">
            <a:spAutoFit/>
          </a:bodyPr>
          <a:lstStyle/>
          <a:p>
            <a:r>
              <a:rPr lang="en-US" sz="3200" dirty="0">
                <a:latin typeface="Arial" panose="020B0604020202020204" pitchFamily="34" charset="0"/>
                <a:ea typeface="+mj-ea"/>
                <a:cs typeface="Arial" panose="020B0604020202020204" pitchFamily="34" charset="0"/>
              </a:rPr>
              <a:t>Topic Analysis Report</a:t>
            </a:r>
          </a:p>
          <a:p>
            <a:r>
              <a:rPr lang="en-US" sz="3200" dirty="0">
                <a:latin typeface="Arial" panose="020B0604020202020204" pitchFamily="34" charset="0"/>
                <a:ea typeface="+mj-ea"/>
                <a:cs typeface="Arial" panose="020B0604020202020204" pitchFamily="34" charset="0"/>
              </a:rPr>
              <a:t>Blo Blow Bar Topic Map</a:t>
            </a:r>
          </a:p>
        </p:txBody>
      </p:sp>
      <p:sp>
        <p:nvSpPr>
          <p:cNvPr id="11" name="TextBox 10">
            <a:extLst>
              <a:ext uri="{FF2B5EF4-FFF2-40B4-BE49-F238E27FC236}">
                <a16:creationId xmlns:a16="http://schemas.microsoft.com/office/drawing/2014/main" id="{24DAA3AE-AFB0-507A-C1F6-B76FB67A0D66}"/>
              </a:ext>
            </a:extLst>
          </p:cNvPr>
          <p:cNvSpPr txBox="1"/>
          <p:nvPr/>
        </p:nvSpPr>
        <p:spPr>
          <a:xfrm>
            <a:off x="1448930" y="4235873"/>
            <a:ext cx="3502195" cy="246221"/>
          </a:xfrm>
          <a:prstGeom prst="rect">
            <a:avLst/>
          </a:prstGeom>
          <a:noFill/>
        </p:spPr>
        <p:txBody>
          <a:bodyPr wrap="square">
            <a:spAutoFit/>
          </a:bodyPr>
          <a:lstStyle/>
          <a:p>
            <a:r>
              <a:rPr lang="en-US" sz="1000" dirty="0">
                <a:solidFill>
                  <a:schemeClr val="bg1"/>
                </a:solidFill>
                <a:latin typeface="Arial" panose="020B0604020202020204" pitchFamily="34" charset="0"/>
                <a:ea typeface="+mj-ea"/>
                <a:cs typeface="Arial" panose="020B0604020202020204" pitchFamily="34" charset="0"/>
              </a:rPr>
              <a:t>August 2025</a:t>
            </a:r>
          </a:p>
        </p:txBody>
      </p:sp>
    </p:spTree>
    <p:extLst>
      <p:ext uri="{BB962C8B-B14F-4D97-AF65-F5344CB8AC3E}">
        <p14:creationId xmlns:p14="http://schemas.microsoft.com/office/powerpoint/2010/main" val="325270577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9"/>
            <a:chOff x="0" y="0"/>
            <a:chExt cx="12192000" cy="6857999"/>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email">
              <a:extLst>
                <a:ext uri="{28A0092B-C50C-407E-A947-70E740481C1C}">
                  <a14:useLocalDpi xmlns:a14="http://schemas.microsoft.com/office/drawing/2010/main"/>
                </a:ext>
              </a:extLst>
            </a:blip>
            <a:stretch>
              <a:fillRect/>
            </a:stretch>
          </p:blipFill>
          <p:spPr>
            <a:xfrm>
              <a:off x="3009901" y="827314"/>
              <a:ext cx="8115300" cy="5859236"/>
            </a:xfrm>
            <a:prstGeom prst="rect">
              <a:avLst/>
            </a:prstGeom>
          </p:spPr>
        </p:pic>
      </p:grpSp>
      <p:sp>
        <p:nvSpPr>
          <p:cNvPr id="5" name="object 5"/>
          <p:cNvSpPr txBox="1"/>
          <p:nvPr/>
        </p:nvSpPr>
        <p:spPr>
          <a:xfrm>
            <a:off x="568959" y="2911474"/>
            <a:ext cx="1713230" cy="909319"/>
          </a:xfrm>
          <a:prstGeom prst="rect">
            <a:avLst/>
          </a:prstGeom>
        </p:spPr>
        <p:txBody>
          <a:bodyPr vert="horz" wrap="square" lIns="0" tIns="16510" rIns="0" bIns="0" rtlCol="0">
            <a:spAutoFit/>
          </a:bodyPr>
          <a:lstStyle/>
          <a:p>
            <a:pPr marL="12700">
              <a:lnSpc>
                <a:spcPts val="3460"/>
              </a:lnSpc>
              <a:spcBef>
                <a:spcPts val="130"/>
              </a:spcBef>
            </a:pPr>
            <a:r>
              <a:rPr sz="3200" spc="-135" dirty="0">
                <a:latin typeface="Arial"/>
                <a:cs typeface="Arial"/>
              </a:rPr>
              <a:t>Table</a:t>
            </a:r>
            <a:r>
              <a:rPr sz="3200" spc="-190" dirty="0">
                <a:latin typeface="Arial"/>
                <a:cs typeface="Arial"/>
              </a:rPr>
              <a:t> </a:t>
            </a:r>
            <a:r>
              <a:rPr sz="3200" spc="-25" dirty="0">
                <a:latin typeface="Arial"/>
                <a:cs typeface="Arial"/>
              </a:rPr>
              <a:t>of</a:t>
            </a:r>
            <a:endParaRPr sz="3200" dirty="0">
              <a:latin typeface="Arial"/>
              <a:cs typeface="Arial"/>
            </a:endParaRPr>
          </a:p>
          <a:p>
            <a:pPr marL="12700">
              <a:lnSpc>
                <a:spcPts val="3460"/>
              </a:lnSpc>
            </a:pPr>
            <a:r>
              <a:rPr sz="3200" b="1" spc="-70" dirty="0">
                <a:latin typeface="Arial"/>
                <a:cs typeface="Arial"/>
              </a:rPr>
              <a:t>Contents</a:t>
            </a:r>
            <a:endParaRPr sz="3200" dirty="0">
              <a:latin typeface="Arial"/>
              <a:cs typeface="Arial"/>
            </a:endParaRPr>
          </a:p>
        </p:txBody>
      </p:sp>
      <p:sp>
        <p:nvSpPr>
          <p:cNvPr id="6" name="object 6"/>
          <p:cNvSpPr txBox="1"/>
          <p:nvPr/>
        </p:nvSpPr>
        <p:spPr>
          <a:xfrm>
            <a:off x="3667306" y="1746253"/>
            <a:ext cx="5793217" cy="3672224"/>
          </a:xfrm>
          <a:prstGeom prst="rect">
            <a:avLst/>
          </a:prstGeom>
        </p:spPr>
        <p:txBody>
          <a:bodyPr vert="horz" wrap="square" lIns="0" tIns="15875" rIns="0" bIns="0" rtlCol="0">
            <a:spAutoFit/>
          </a:bodyPr>
          <a:lstStyle/>
          <a:p>
            <a:pPr marL="179388" indent="-166688">
              <a:lnSpc>
                <a:spcPct val="120000"/>
              </a:lnSpc>
              <a:spcBef>
                <a:spcPts val="600"/>
              </a:spcBef>
              <a:buSzPct val="75000"/>
              <a:buChar char="•"/>
              <a:tabLst>
                <a:tab pos="241300" algn="l"/>
              </a:tabLst>
            </a:pPr>
            <a:r>
              <a:rPr sz="1200" dirty="0">
                <a:latin typeface="Arial"/>
                <a:cs typeface="Arial"/>
              </a:rPr>
              <a:t>Objective</a:t>
            </a:r>
            <a:r>
              <a:rPr sz="1200" spc="-30" dirty="0">
                <a:latin typeface="Arial"/>
                <a:cs typeface="Arial"/>
              </a:rPr>
              <a:t> </a:t>
            </a:r>
            <a:r>
              <a:rPr sz="1200" dirty="0">
                <a:latin typeface="Arial"/>
                <a:cs typeface="Arial"/>
              </a:rPr>
              <a:t>Scope</a:t>
            </a:r>
            <a:r>
              <a:rPr sz="1200" spc="-10" dirty="0">
                <a:latin typeface="Arial"/>
                <a:cs typeface="Arial"/>
              </a:rPr>
              <a:t> </a:t>
            </a:r>
            <a:r>
              <a:rPr sz="1200" dirty="0">
                <a:latin typeface="Arial"/>
                <a:cs typeface="Arial"/>
              </a:rPr>
              <a:t>&amp;</a:t>
            </a:r>
            <a:r>
              <a:rPr sz="1200" spc="-145" dirty="0">
                <a:latin typeface="Arial"/>
                <a:cs typeface="Arial"/>
              </a:rPr>
              <a:t> </a:t>
            </a:r>
            <a:r>
              <a:rPr sz="1200" dirty="0">
                <a:latin typeface="Arial"/>
                <a:cs typeface="Arial"/>
              </a:rPr>
              <a:t>Approach</a:t>
            </a:r>
            <a:r>
              <a:rPr sz="1200" spc="-80" dirty="0">
                <a:latin typeface="Arial"/>
                <a:cs typeface="Arial"/>
              </a:rPr>
              <a:t> </a:t>
            </a:r>
            <a:r>
              <a:rPr sz="1200" spc="-10" dirty="0">
                <a:latin typeface="Arial"/>
                <a:cs typeface="Arial"/>
              </a:rPr>
              <a:t>Framework</a:t>
            </a:r>
            <a:endParaRPr sz="1200" dirty="0">
              <a:latin typeface="Arial"/>
              <a:cs typeface="Arial"/>
            </a:endParaRPr>
          </a:p>
          <a:p>
            <a:pPr marL="179388" indent="-166688">
              <a:lnSpc>
                <a:spcPct val="120000"/>
              </a:lnSpc>
              <a:spcBef>
                <a:spcPts val="600"/>
              </a:spcBef>
              <a:buSzPct val="75000"/>
              <a:buChar char="•"/>
              <a:tabLst>
                <a:tab pos="241300" algn="l"/>
              </a:tabLst>
            </a:pPr>
            <a:r>
              <a:rPr lang="en-US" sz="1200" spc="-20" dirty="0">
                <a:latin typeface="Arial"/>
                <a:cs typeface="Arial"/>
              </a:rPr>
              <a:t>Summary</a:t>
            </a:r>
          </a:p>
          <a:p>
            <a:pPr marL="179388" indent="-166688">
              <a:lnSpc>
                <a:spcPct val="120000"/>
              </a:lnSpc>
              <a:spcBef>
                <a:spcPts val="600"/>
              </a:spcBef>
              <a:buSzPct val="75000"/>
              <a:buFontTx/>
              <a:buChar char="•"/>
              <a:tabLst>
                <a:tab pos="241300" algn="l"/>
              </a:tabLst>
            </a:pPr>
            <a:r>
              <a:rPr lang="en-US" sz="1200" dirty="0">
                <a:latin typeface="Arial"/>
                <a:cs typeface="Arial"/>
              </a:rPr>
              <a:t>Beauty Services Landscape (Editorial &amp; Social)</a:t>
            </a:r>
            <a:endParaRPr lang="en-US" sz="1100" dirty="0">
              <a:latin typeface="Arial"/>
              <a:cs typeface="Arial"/>
            </a:endParaRPr>
          </a:p>
          <a:p>
            <a:pPr marL="350837" lvl="1" indent="-171450">
              <a:lnSpc>
                <a:spcPct val="120000"/>
              </a:lnSpc>
              <a:spcBef>
                <a:spcPts val="600"/>
              </a:spcBef>
              <a:buSzPct val="75000"/>
              <a:buFont typeface="System Font Regular"/>
              <a:buChar char="-"/>
              <a:tabLst>
                <a:tab pos="241300" algn="l"/>
              </a:tabLst>
            </a:pPr>
            <a:r>
              <a:rPr lang="en-US" sz="1100" dirty="0">
                <a:latin typeface="Arial"/>
                <a:cs typeface="Arial"/>
              </a:rPr>
              <a:t>Category Landscape</a:t>
            </a:r>
          </a:p>
          <a:p>
            <a:pPr marL="350837" lvl="1" indent="-171450">
              <a:lnSpc>
                <a:spcPct val="120000"/>
              </a:lnSpc>
              <a:spcBef>
                <a:spcPts val="600"/>
              </a:spcBef>
              <a:buSzPct val="75000"/>
              <a:buFont typeface="System Font Regular"/>
              <a:buChar char="-"/>
              <a:tabLst>
                <a:tab pos="241300" algn="l"/>
              </a:tabLst>
            </a:pPr>
            <a:r>
              <a:rPr lang="en-US" sz="1100" dirty="0">
                <a:latin typeface="Arial"/>
                <a:cs typeface="Arial"/>
              </a:rPr>
              <a:t>Brand Analysis</a:t>
            </a:r>
          </a:p>
          <a:p>
            <a:pPr marL="179388" indent="-166688">
              <a:lnSpc>
                <a:spcPct val="120000"/>
              </a:lnSpc>
              <a:spcBef>
                <a:spcPts val="600"/>
              </a:spcBef>
              <a:buSzPct val="75000"/>
              <a:buFont typeface="Arial" panose="020B0604020202020204" pitchFamily="34" charset="0"/>
              <a:buChar char="•"/>
              <a:tabLst>
                <a:tab pos="241300" algn="l"/>
              </a:tabLst>
            </a:pPr>
            <a:r>
              <a:rPr lang="en-GB" sz="1200" dirty="0">
                <a:latin typeface="Arial"/>
                <a:cs typeface="Arial"/>
              </a:rPr>
              <a:t>Editorial Analysis (</a:t>
            </a:r>
            <a:r>
              <a:rPr lang="en-US" sz="1200" dirty="0">
                <a:latin typeface="Arial"/>
                <a:cs typeface="Arial"/>
              </a:rPr>
              <a:t>Beauty Services - Hair / Make-up</a:t>
            </a:r>
            <a:r>
              <a:rPr lang="en-GB" sz="1200" dirty="0">
                <a:latin typeface="Arial"/>
                <a:cs typeface="Arial"/>
              </a:rPr>
              <a:t>)</a:t>
            </a:r>
            <a:endParaRPr lang="en-US" sz="1200" dirty="0">
              <a:latin typeface="Arial"/>
              <a:cs typeface="Arial"/>
            </a:endParaRPr>
          </a:p>
          <a:p>
            <a:pPr marL="358775" lvl="1" indent="-179388">
              <a:lnSpc>
                <a:spcPct val="120000"/>
              </a:lnSpc>
              <a:spcBef>
                <a:spcPts val="600"/>
              </a:spcBef>
              <a:buFont typeface="System Font Regular"/>
              <a:buChar char="-"/>
            </a:pPr>
            <a:r>
              <a:rPr lang="en-US" sz="1100" dirty="0">
                <a:latin typeface="Arial"/>
                <a:cs typeface="Arial"/>
              </a:rPr>
              <a:t>Key Topics</a:t>
            </a:r>
          </a:p>
          <a:p>
            <a:pPr marL="358775" lvl="1" indent="-179388">
              <a:lnSpc>
                <a:spcPct val="120000"/>
              </a:lnSpc>
              <a:spcBef>
                <a:spcPts val="600"/>
              </a:spcBef>
              <a:buFont typeface="System Font Regular"/>
              <a:buChar char="-"/>
            </a:pPr>
            <a:r>
              <a:rPr lang="en-US" sz="1100" dirty="0">
                <a:latin typeface="Arial"/>
                <a:cs typeface="Arial"/>
              </a:rPr>
              <a:t>Trendline of Topics (MoM percentage increases for context)</a:t>
            </a:r>
          </a:p>
          <a:p>
            <a:pPr marL="358775" lvl="1" indent="-179388">
              <a:lnSpc>
                <a:spcPct val="120000"/>
              </a:lnSpc>
              <a:spcBef>
                <a:spcPts val="600"/>
              </a:spcBef>
              <a:buFont typeface="System Font Regular"/>
              <a:buChar char="-"/>
            </a:pPr>
            <a:r>
              <a:rPr lang="en-US" sz="1100" dirty="0">
                <a:latin typeface="Arial"/>
                <a:cs typeface="Arial"/>
              </a:rPr>
              <a:t>Top Occasions</a:t>
            </a:r>
          </a:p>
          <a:p>
            <a:pPr marL="179388" indent="-166688">
              <a:lnSpc>
                <a:spcPct val="120000"/>
              </a:lnSpc>
              <a:spcBef>
                <a:spcPts val="600"/>
              </a:spcBef>
              <a:buSzPct val="75000"/>
              <a:buFont typeface="Arial" panose="020B0604020202020204" pitchFamily="34" charset="0"/>
              <a:buChar char="•"/>
              <a:tabLst>
                <a:tab pos="241300" algn="l"/>
              </a:tabLst>
            </a:pPr>
            <a:r>
              <a:rPr lang="en-GB" sz="1200" dirty="0">
                <a:latin typeface="Arial"/>
                <a:cs typeface="Arial"/>
              </a:rPr>
              <a:t>Social Conversations Analysis (</a:t>
            </a:r>
            <a:r>
              <a:rPr lang="en-US" sz="1200" dirty="0">
                <a:latin typeface="Arial"/>
                <a:cs typeface="Arial"/>
              </a:rPr>
              <a:t>Beauty Services - Hair / Make-up</a:t>
            </a:r>
            <a:r>
              <a:rPr lang="en-GB" sz="1200" dirty="0">
                <a:latin typeface="Arial"/>
                <a:cs typeface="Arial"/>
              </a:rPr>
              <a:t>)</a:t>
            </a:r>
            <a:endParaRPr lang="en-US" sz="1200" dirty="0">
              <a:latin typeface="Arial"/>
              <a:cs typeface="Arial"/>
            </a:endParaRPr>
          </a:p>
          <a:p>
            <a:pPr marL="358775" lvl="1" indent="-179388">
              <a:lnSpc>
                <a:spcPct val="120000"/>
              </a:lnSpc>
              <a:spcBef>
                <a:spcPts val="600"/>
              </a:spcBef>
              <a:buSzPct val="75000"/>
              <a:buFont typeface="System Font Regular"/>
              <a:buChar char="-"/>
              <a:tabLst>
                <a:tab pos="241300" algn="l"/>
              </a:tabLst>
            </a:pPr>
            <a:r>
              <a:rPr lang="en-US" sz="1100" dirty="0">
                <a:latin typeface="Arial"/>
                <a:cs typeface="Arial"/>
              </a:rPr>
              <a:t>Celebrities trending because of hair/make-up</a:t>
            </a:r>
          </a:p>
          <a:p>
            <a:pPr marL="358775" lvl="1" indent="-179388">
              <a:lnSpc>
                <a:spcPct val="120000"/>
              </a:lnSpc>
              <a:spcBef>
                <a:spcPts val="600"/>
              </a:spcBef>
              <a:buSzPct val="75000"/>
              <a:buFont typeface="System Font Regular"/>
              <a:buChar char="-"/>
              <a:tabLst>
                <a:tab pos="241300" algn="l"/>
              </a:tabLst>
            </a:pPr>
            <a:r>
              <a:rPr lang="en-US" sz="1100" dirty="0">
                <a:latin typeface="Arial"/>
                <a:cs typeface="Arial"/>
              </a:rPr>
              <a:t>Most-Used Tags</a:t>
            </a:r>
          </a:p>
          <a:p>
            <a:pPr marL="358775" lvl="1" indent="-179388">
              <a:lnSpc>
                <a:spcPct val="120000"/>
              </a:lnSpc>
              <a:spcBef>
                <a:spcPts val="600"/>
              </a:spcBef>
              <a:buSzPct val="75000"/>
              <a:buFont typeface="System Font Regular"/>
              <a:buChar char="-"/>
              <a:tabLst>
                <a:tab pos="241300" algn="l"/>
              </a:tabLst>
            </a:pPr>
            <a:r>
              <a:rPr lang="en-US" sz="1100" dirty="0">
                <a:latin typeface="Arial"/>
                <a:cs typeface="Arial"/>
              </a:rPr>
              <a:t>Other Social Conversations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2450" y="378205"/>
            <a:ext cx="3590925" cy="518159"/>
          </a:xfrm>
          <a:prstGeom prst="rect">
            <a:avLst/>
          </a:prstGeom>
        </p:spPr>
        <p:txBody>
          <a:bodyPr vert="horz" wrap="square" lIns="0" tIns="16510" rIns="0" bIns="0" rtlCol="0">
            <a:spAutoFit/>
          </a:bodyPr>
          <a:lstStyle/>
          <a:p>
            <a:pPr marL="12700">
              <a:lnSpc>
                <a:spcPct val="100000"/>
              </a:lnSpc>
              <a:spcBef>
                <a:spcPts val="130"/>
              </a:spcBef>
            </a:pPr>
            <a:r>
              <a:rPr sz="3200" dirty="0">
                <a:solidFill>
                  <a:srgbClr val="525252"/>
                </a:solidFill>
              </a:rPr>
              <a:t>Objective</a:t>
            </a:r>
            <a:r>
              <a:rPr sz="3200" spc="-25" dirty="0">
                <a:solidFill>
                  <a:srgbClr val="525252"/>
                </a:solidFill>
              </a:rPr>
              <a:t> </a:t>
            </a:r>
            <a:r>
              <a:rPr sz="3200" dirty="0">
                <a:solidFill>
                  <a:srgbClr val="525252"/>
                </a:solidFill>
              </a:rPr>
              <a:t>&amp;</a:t>
            </a:r>
            <a:r>
              <a:rPr sz="3200" spc="-30" dirty="0">
                <a:solidFill>
                  <a:srgbClr val="525252"/>
                </a:solidFill>
              </a:rPr>
              <a:t> </a:t>
            </a:r>
            <a:r>
              <a:rPr sz="3200" spc="-10" dirty="0">
                <a:solidFill>
                  <a:srgbClr val="525252"/>
                </a:solidFill>
              </a:rPr>
              <a:t>Scope</a:t>
            </a:r>
            <a:endParaRPr sz="3200" dirty="0"/>
          </a:p>
        </p:txBody>
      </p:sp>
      <p:sp>
        <p:nvSpPr>
          <p:cNvPr id="3" name="object 3"/>
          <p:cNvSpPr txBox="1"/>
          <p:nvPr/>
        </p:nvSpPr>
        <p:spPr>
          <a:xfrm>
            <a:off x="519747" y="6357937"/>
            <a:ext cx="1468120" cy="1631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900" b="0" i="0" u="none" strike="noStrike" kern="0" cap="none" spc="85" normalizeH="0" baseline="0" noProof="0" dirty="0">
                <a:ln>
                  <a:noFill/>
                </a:ln>
                <a:solidFill>
                  <a:srgbClr val="5E5E5E"/>
                </a:solidFill>
                <a:effectLst/>
                <a:uLnTx/>
                <a:uFillTx/>
                <a:latin typeface="Arial"/>
                <a:cs typeface="Arial"/>
              </a:rPr>
              <a:t>©</a:t>
            </a:r>
            <a:r>
              <a:rPr kumimoji="0" sz="900" b="0" i="0" u="none" strike="noStrike" kern="0" cap="none" spc="-45" normalizeH="0" baseline="0" noProof="0" dirty="0">
                <a:ln>
                  <a:noFill/>
                </a:ln>
                <a:solidFill>
                  <a:srgbClr val="5E5E5E"/>
                </a:solidFill>
                <a:effectLst/>
                <a:uLnTx/>
                <a:uFillTx/>
                <a:latin typeface="Arial"/>
                <a:cs typeface="Arial"/>
              </a:rPr>
              <a:t> </a:t>
            </a:r>
            <a:r>
              <a:rPr kumimoji="0" sz="900" b="0" i="0" u="none" strike="noStrike" kern="0" cap="none" spc="-25" normalizeH="0" baseline="0" noProof="0" dirty="0">
                <a:ln>
                  <a:noFill/>
                </a:ln>
                <a:solidFill>
                  <a:srgbClr val="5E5E5E"/>
                </a:solidFill>
                <a:effectLst/>
                <a:uLnTx/>
                <a:uFillTx/>
                <a:latin typeface="Arial"/>
                <a:cs typeface="Arial"/>
              </a:rPr>
              <a:t>InfoVision</a:t>
            </a:r>
            <a:r>
              <a:rPr kumimoji="0" sz="900" b="0" i="0" u="none" strike="noStrike" kern="0" cap="none" spc="80" normalizeH="0" baseline="0" noProof="0" dirty="0">
                <a:ln>
                  <a:noFill/>
                </a:ln>
                <a:solidFill>
                  <a:srgbClr val="5E5E5E"/>
                </a:solidFill>
                <a:effectLst/>
                <a:uLnTx/>
                <a:uFillTx/>
                <a:latin typeface="Arial"/>
                <a:cs typeface="Arial"/>
              </a:rPr>
              <a:t> </a:t>
            </a:r>
            <a:r>
              <a:rPr kumimoji="0" sz="900" b="0" i="0" u="none" strike="noStrike" kern="0" cap="none" spc="175" normalizeH="0" baseline="0" noProof="0" dirty="0">
                <a:ln>
                  <a:noFill/>
                </a:ln>
                <a:solidFill>
                  <a:srgbClr val="5E5E5E"/>
                </a:solidFill>
                <a:effectLst/>
                <a:uLnTx/>
                <a:uFillTx/>
                <a:latin typeface="Arial"/>
                <a:cs typeface="Arial"/>
              </a:rPr>
              <a:t>|</a:t>
            </a:r>
            <a:r>
              <a:rPr kumimoji="0" sz="900" b="0" i="0" u="none" strike="noStrike" kern="0" cap="none" spc="135" normalizeH="0" baseline="0" noProof="0" dirty="0">
                <a:ln>
                  <a:noFill/>
                </a:ln>
                <a:solidFill>
                  <a:srgbClr val="5E5E5E"/>
                </a:solidFill>
                <a:effectLst/>
                <a:uLnTx/>
                <a:uFillTx/>
                <a:latin typeface="Arial"/>
                <a:cs typeface="Arial"/>
              </a:rPr>
              <a:t> </a:t>
            </a:r>
            <a:r>
              <a:rPr kumimoji="0" sz="900" b="0" i="0" u="none" strike="noStrike" kern="0" cap="none" spc="-25" normalizeH="0" baseline="0" noProof="0" dirty="0">
                <a:ln>
                  <a:noFill/>
                </a:ln>
                <a:solidFill>
                  <a:srgbClr val="5E5E5E"/>
                </a:solidFill>
                <a:effectLst/>
                <a:uLnTx/>
                <a:uFillTx/>
                <a:latin typeface="Arial"/>
                <a:cs typeface="Arial"/>
              </a:rPr>
              <a:t>InfoVision.com</a:t>
            </a:r>
            <a:endParaRPr kumimoji="0" sz="900" b="0" i="0" u="none" strike="noStrike" kern="0" cap="none" spc="0" normalizeH="0" baseline="0" noProof="0" dirty="0">
              <a:ln>
                <a:noFill/>
              </a:ln>
              <a:solidFill>
                <a:sysClr val="windowText" lastClr="000000"/>
              </a:solidFill>
              <a:effectLst/>
              <a:uLnTx/>
              <a:uFillTx/>
              <a:latin typeface="Arial"/>
              <a:cs typeface="Arial"/>
            </a:endParaRPr>
          </a:p>
        </p:txBody>
      </p:sp>
      <p:sp>
        <p:nvSpPr>
          <p:cNvPr id="4" name="object 4"/>
          <p:cNvSpPr txBox="1"/>
          <p:nvPr/>
        </p:nvSpPr>
        <p:spPr>
          <a:xfrm>
            <a:off x="3316604" y="5428361"/>
            <a:ext cx="2252980" cy="603370"/>
          </a:xfrm>
          <a:prstGeom prst="rect">
            <a:avLst/>
          </a:prstGeom>
        </p:spPr>
        <p:txBody>
          <a:bodyPr vert="horz" wrap="square" lIns="0" tIns="48895" rIns="0" bIns="0" rtlCol="0">
            <a:spAutoFit/>
          </a:bodyPr>
          <a:lstStyle/>
          <a:p>
            <a:pPr marL="12700" marR="0" lvl="0" indent="0" defTabSz="914400" eaLnBrk="1" fontAlgn="auto" latinLnBrk="0" hangingPunct="1">
              <a:lnSpc>
                <a:spcPct val="100000"/>
              </a:lnSpc>
              <a:spcBef>
                <a:spcPts val="385"/>
              </a:spcBef>
              <a:spcAft>
                <a:spcPts val="0"/>
              </a:spcAft>
              <a:buClrTx/>
              <a:buSzTx/>
              <a:buFontTx/>
              <a:buNone/>
              <a:tabLst/>
              <a:defRPr/>
            </a:pPr>
            <a:r>
              <a:rPr kumimoji="0" sz="1200" b="1" i="0" u="none" strike="noStrike" kern="0" cap="none" spc="0" normalizeH="0" baseline="0" noProof="0" dirty="0">
                <a:ln>
                  <a:noFill/>
                </a:ln>
                <a:solidFill>
                  <a:srgbClr val="4920A8"/>
                </a:solidFill>
                <a:effectLst/>
                <a:uLnTx/>
                <a:uFillTx/>
                <a:latin typeface="Arial"/>
                <a:cs typeface="Arial"/>
              </a:rPr>
              <a:t>Geography:</a:t>
            </a:r>
            <a:r>
              <a:rPr kumimoji="0" sz="1200" b="1" i="0" u="none" strike="noStrike" kern="0" cap="none" spc="-20" normalizeH="0" baseline="0" noProof="0" dirty="0">
                <a:ln>
                  <a:noFill/>
                </a:ln>
                <a:solidFill>
                  <a:srgbClr val="4920A8"/>
                </a:solidFill>
                <a:effectLst/>
                <a:uLnTx/>
                <a:uFillTx/>
                <a:latin typeface="Arial"/>
                <a:cs typeface="Arial"/>
              </a:rPr>
              <a:t> </a:t>
            </a:r>
            <a:r>
              <a:rPr kumimoji="0" sz="950" b="1" i="0" u="none" strike="noStrike" kern="0" cap="none" spc="0" normalizeH="0" baseline="0" noProof="0" dirty="0">
                <a:ln>
                  <a:noFill/>
                </a:ln>
                <a:solidFill>
                  <a:srgbClr val="464646"/>
                </a:solidFill>
                <a:effectLst/>
                <a:uLnTx/>
                <a:uFillTx/>
                <a:latin typeface="Arial"/>
                <a:cs typeface="Arial"/>
              </a:rPr>
              <a:t>US</a:t>
            </a:r>
            <a:r>
              <a:rPr kumimoji="0" sz="950" b="1" i="0" u="none" strike="noStrike" kern="0" cap="none" spc="-10" normalizeH="0" baseline="0" noProof="0" dirty="0">
                <a:ln>
                  <a:noFill/>
                </a:ln>
                <a:solidFill>
                  <a:srgbClr val="464646"/>
                </a:solidFill>
                <a:effectLst/>
                <a:uLnTx/>
                <a:uFillTx/>
                <a:latin typeface="Arial"/>
                <a:cs typeface="Arial"/>
              </a:rPr>
              <a:t> </a:t>
            </a:r>
            <a:r>
              <a:rPr kumimoji="0" sz="950" b="1" i="0" u="none" strike="noStrike" kern="0" cap="none" spc="-20" normalizeH="0" baseline="0" noProof="0" dirty="0">
                <a:ln>
                  <a:noFill/>
                </a:ln>
                <a:solidFill>
                  <a:srgbClr val="464646"/>
                </a:solidFill>
                <a:effectLst/>
                <a:uLnTx/>
                <a:uFillTx/>
                <a:latin typeface="Arial"/>
                <a:cs typeface="Arial"/>
              </a:rPr>
              <a:t>only</a:t>
            </a:r>
            <a:endParaRPr kumimoji="0" sz="950" b="0" i="0" u="none" strike="noStrike" kern="0" cap="none" spc="0" normalizeH="0" baseline="0" noProof="0" dirty="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290"/>
              </a:spcBef>
              <a:spcAft>
                <a:spcPts val="0"/>
              </a:spcAft>
              <a:buClrTx/>
              <a:buSzTx/>
              <a:buFontTx/>
              <a:buNone/>
              <a:tabLst/>
              <a:defRPr/>
            </a:pPr>
            <a:r>
              <a:rPr kumimoji="0" sz="1200" b="1" i="0" u="none" strike="noStrike" kern="0" cap="none" spc="0" normalizeH="0" baseline="0" noProof="0" dirty="0">
                <a:ln>
                  <a:noFill/>
                </a:ln>
                <a:solidFill>
                  <a:srgbClr val="4920A8"/>
                </a:solidFill>
                <a:effectLst/>
                <a:uLnTx/>
                <a:uFillTx/>
                <a:latin typeface="Arial"/>
                <a:cs typeface="Arial"/>
              </a:rPr>
              <a:t>Time</a:t>
            </a:r>
            <a:r>
              <a:rPr kumimoji="0" sz="1200" b="1" i="0" u="none" strike="noStrike" kern="0" cap="none" spc="20" normalizeH="0" baseline="0" noProof="0" dirty="0">
                <a:ln>
                  <a:noFill/>
                </a:ln>
                <a:solidFill>
                  <a:srgbClr val="4920A8"/>
                </a:solidFill>
                <a:effectLst/>
                <a:uLnTx/>
                <a:uFillTx/>
                <a:latin typeface="Arial"/>
                <a:cs typeface="Arial"/>
              </a:rPr>
              <a:t> </a:t>
            </a:r>
            <a:r>
              <a:rPr kumimoji="0" sz="1200" b="1" i="0" u="none" strike="noStrike" kern="0" cap="none" spc="0" normalizeH="0" baseline="0" noProof="0" dirty="0">
                <a:ln>
                  <a:noFill/>
                </a:ln>
                <a:solidFill>
                  <a:srgbClr val="4920A8"/>
                </a:solidFill>
                <a:effectLst/>
                <a:uLnTx/>
                <a:uFillTx/>
                <a:latin typeface="Arial"/>
                <a:cs typeface="Arial"/>
              </a:rPr>
              <a:t>period:</a:t>
            </a:r>
            <a:r>
              <a:rPr kumimoji="0" sz="1200" b="1" i="0" u="none" strike="noStrike" kern="0" cap="none" spc="60" normalizeH="0" baseline="0" noProof="0" dirty="0">
                <a:ln>
                  <a:noFill/>
                </a:ln>
                <a:solidFill>
                  <a:srgbClr val="4920A8"/>
                </a:solidFill>
                <a:effectLst/>
                <a:uLnTx/>
                <a:uFillTx/>
                <a:latin typeface="Arial"/>
                <a:cs typeface="Arial"/>
              </a:rPr>
              <a:t> </a:t>
            </a:r>
            <a:r>
              <a:rPr kumimoji="0" sz="950" b="1" i="0" u="none" strike="noStrike" kern="0" cap="none" spc="0" normalizeH="0" baseline="0" noProof="0" dirty="0">
                <a:ln>
                  <a:noFill/>
                </a:ln>
                <a:solidFill>
                  <a:srgbClr val="464646"/>
                </a:solidFill>
                <a:effectLst/>
                <a:uLnTx/>
                <a:uFillTx/>
                <a:latin typeface="Arial"/>
                <a:cs typeface="Arial"/>
              </a:rPr>
              <a:t>12</a:t>
            </a:r>
            <a:r>
              <a:rPr kumimoji="0" sz="950" b="1" i="0" u="none" strike="noStrike" kern="0" cap="none" spc="65" normalizeH="0" baseline="0" noProof="0" dirty="0">
                <a:ln>
                  <a:noFill/>
                </a:ln>
                <a:solidFill>
                  <a:srgbClr val="464646"/>
                </a:solidFill>
                <a:effectLst/>
                <a:uLnTx/>
                <a:uFillTx/>
                <a:latin typeface="Arial"/>
                <a:cs typeface="Arial"/>
              </a:rPr>
              <a:t> </a:t>
            </a:r>
            <a:r>
              <a:rPr kumimoji="0" sz="950" b="1" i="0" u="none" strike="noStrike" kern="0" cap="none" spc="0" normalizeH="0" baseline="0" noProof="0" dirty="0">
                <a:ln>
                  <a:noFill/>
                </a:ln>
                <a:solidFill>
                  <a:srgbClr val="464646"/>
                </a:solidFill>
                <a:effectLst/>
                <a:uLnTx/>
                <a:uFillTx/>
                <a:latin typeface="Arial"/>
                <a:cs typeface="Arial"/>
              </a:rPr>
              <a:t>Months</a:t>
            </a:r>
            <a:r>
              <a:rPr kumimoji="0" sz="950" b="1" i="0" u="none" strike="noStrike" kern="0" cap="none" spc="65" normalizeH="0" baseline="0" noProof="0" dirty="0">
                <a:ln>
                  <a:noFill/>
                </a:ln>
                <a:solidFill>
                  <a:srgbClr val="464646"/>
                </a:solidFill>
                <a:effectLst/>
                <a:uLnTx/>
                <a:uFillTx/>
                <a:latin typeface="Arial"/>
                <a:cs typeface="Arial"/>
              </a:rPr>
              <a:t> </a:t>
            </a:r>
            <a:r>
              <a:rPr kumimoji="0" sz="950" b="1" i="0" u="none" strike="noStrike" kern="0" cap="none" spc="0" normalizeH="0" baseline="0" noProof="0" dirty="0">
                <a:ln>
                  <a:noFill/>
                </a:ln>
                <a:solidFill>
                  <a:srgbClr val="464646"/>
                </a:solidFill>
                <a:effectLst/>
                <a:uLnTx/>
                <a:uFillTx/>
                <a:latin typeface="Arial"/>
                <a:cs typeface="Arial"/>
              </a:rPr>
              <a:t>(</a:t>
            </a:r>
            <a:r>
              <a:rPr kumimoji="0" lang="en-US" sz="950" b="1" i="0" u="none" strike="noStrike" kern="0" cap="none" spc="0" normalizeH="0" baseline="0" noProof="0" dirty="0">
                <a:ln>
                  <a:noFill/>
                </a:ln>
                <a:solidFill>
                  <a:srgbClr val="464646"/>
                </a:solidFill>
                <a:effectLst/>
                <a:uLnTx/>
                <a:uFillTx/>
                <a:latin typeface="Arial"/>
                <a:cs typeface="Arial"/>
              </a:rPr>
              <a:t>August </a:t>
            </a:r>
            <a:r>
              <a:rPr lang="en-US" sz="950" b="1" kern="0" dirty="0">
                <a:solidFill>
                  <a:srgbClr val="464646"/>
                </a:solidFill>
                <a:latin typeface="Arial"/>
                <a:cs typeface="Arial"/>
              </a:rPr>
              <a:t>6</a:t>
            </a:r>
            <a:r>
              <a:rPr lang="en-US" sz="950" b="1" kern="0" spc="60" dirty="0">
                <a:solidFill>
                  <a:srgbClr val="464646"/>
                </a:solidFill>
                <a:latin typeface="Arial"/>
                <a:cs typeface="Arial"/>
              </a:rPr>
              <a:t>, </a:t>
            </a:r>
            <a:r>
              <a:rPr kumimoji="0" sz="950" b="1" i="0" u="none" strike="noStrike" kern="0" cap="none" spc="-20" normalizeH="0" baseline="0" noProof="0" dirty="0">
                <a:ln>
                  <a:noFill/>
                </a:ln>
                <a:solidFill>
                  <a:srgbClr val="464646"/>
                </a:solidFill>
                <a:effectLst/>
                <a:uLnTx/>
                <a:uFillTx/>
                <a:latin typeface="Arial"/>
                <a:cs typeface="Arial"/>
              </a:rPr>
              <a:t>2024</a:t>
            </a:r>
            <a:r>
              <a:rPr kumimoji="0" lang="en-US" sz="950" b="1" i="0" u="none" strike="noStrike" kern="0" cap="none" spc="-20" normalizeH="0" baseline="0" noProof="0" dirty="0">
                <a:ln>
                  <a:noFill/>
                </a:ln>
                <a:solidFill>
                  <a:srgbClr val="464646"/>
                </a:solidFill>
                <a:effectLst/>
                <a:uLnTx/>
                <a:uFillTx/>
                <a:latin typeface="Arial"/>
                <a:cs typeface="Arial"/>
              </a:rPr>
              <a:t> </a:t>
            </a:r>
            <a:r>
              <a:rPr kumimoji="0" sz="950" b="1" i="0" u="none" strike="noStrike" kern="0" cap="none" spc="0" normalizeH="0" baseline="0" noProof="0" dirty="0">
                <a:ln>
                  <a:noFill/>
                </a:ln>
                <a:solidFill>
                  <a:srgbClr val="464646"/>
                </a:solidFill>
                <a:effectLst/>
                <a:uLnTx/>
                <a:uFillTx/>
                <a:latin typeface="Arial"/>
                <a:cs typeface="Arial"/>
              </a:rPr>
              <a:t>–</a:t>
            </a:r>
            <a:r>
              <a:rPr kumimoji="0" sz="950" b="1" i="0" u="none" strike="noStrike" kern="0" cap="none" spc="80" normalizeH="0" baseline="0" noProof="0" dirty="0">
                <a:ln>
                  <a:noFill/>
                </a:ln>
                <a:solidFill>
                  <a:srgbClr val="464646"/>
                </a:solidFill>
                <a:effectLst/>
                <a:uLnTx/>
                <a:uFillTx/>
                <a:latin typeface="Arial"/>
                <a:cs typeface="Arial"/>
              </a:rPr>
              <a:t> </a:t>
            </a:r>
            <a:r>
              <a:rPr kumimoji="0" lang="en-US" sz="950" b="1" i="0" u="none" strike="noStrike" kern="0" cap="none" spc="0" normalizeH="0" baseline="0" noProof="0" dirty="0">
                <a:ln>
                  <a:noFill/>
                </a:ln>
                <a:solidFill>
                  <a:srgbClr val="464646"/>
                </a:solidFill>
                <a:effectLst/>
                <a:uLnTx/>
                <a:uFillTx/>
                <a:latin typeface="Arial"/>
                <a:cs typeface="Arial"/>
              </a:rPr>
              <a:t>August 6,</a:t>
            </a:r>
            <a:r>
              <a:rPr kumimoji="0" sz="950" b="1" i="0" u="none" strike="noStrike" kern="0" cap="none" spc="85" normalizeH="0" baseline="0" noProof="0" dirty="0">
                <a:ln>
                  <a:noFill/>
                </a:ln>
                <a:solidFill>
                  <a:srgbClr val="464646"/>
                </a:solidFill>
                <a:effectLst/>
                <a:uLnTx/>
                <a:uFillTx/>
                <a:latin typeface="Arial"/>
                <a:cs typeface="Arial"/>
              </a:rPr>
              <a:t> </a:t>
            </a:r>
            <a:r>
              <a:rPr kumimoji="0" sz="950" b="1" i="0" u="none" strike="noStrike" kern="0" cap="none" spc="-10" normalizeH="0" baseline="0" noProof="0" dirty="0">
                <a:ln>
                  <a:noFill/>
                </a:ln>
                <a:solidFill>
                  <a:srgbClr val="464646"/>
                </a:solidFill>
                <a:effectLst/>
                <a:uLnTx/>
                <a:uFillTx/>
                <a:latin typeface="Arial"/>
                <a:cs typeface="Arial"/>
              </a:rPr>
              <a:t>2025)</a:t>
            </a:r>
            <a:endParaRPr kumimoji="0" sz="950" b="0" i="0" u="none" strike="noStrike" kern="0" cap="none" spc="0" normalizeH="0" baseline="0" noProof="0" dirty="0">
              <a:ln>
                <a:noFill/>
              </a:ln>
              <a:solidFill>
                <a:sysClr val="windowText" lastClr="000000"/>
              </a:solidFill>
              <a:effectLst/>
              <a:uLnTx/>
              <a:uFillTx/>
              <a:latin typeface="Arial"/>
              <a:cs typeface="Arial"/>
            </a:endParaRPr>
          </a:p>
        </p:txBody>
      </p:sp>
      <p:sp>
        <p:nvSpPr>
          <p:cNvPr id="5" name="object 5"/>
          <p:cNvSpPr txBox="1"/>
          <p:nvPr/>
        </p:nvSpPr>
        <p:spPr>
          <a:xfrm>
            <a:off x="532130" y="5419538"/>
            <a:ext cx="1966595" cy="438784"/>
          </a:xfrm>
          <a:prstGeom prst="rect">
            <a:avLst/>
          </a:prstGeom>
        </p:spPr>
        <p:txBody>
          <a:bodyPr vert="horz" wrap="square" lIns="0" tIns="17780" rIns="0" bIns="0" rtlCol="0">
            <a:spAutoFit/>
          </a:bodyPr>
          <a:lstStyle/>
          <a:p>
            <a:pPr marL="12700" marR="5080" lvl="0" indent="0" defTabSz="914400" eaLnBrk="1" fontAlgn="auto" latinLnBrk="0" hangingPunct="1">
              <a:lnSpc>
                <a:spcPct val="121700"/>
              </a:lnSpc>
              <a:spcBef>
                <a:spcPts val="140"/>
              </a:spcBef>
              <a:spcAft>
                <a:spcPts val="0"/>
              </a:spcAft>
              <a:buClrTx/>
              <a:buSzTx/>
              <a:buFontTx/>
              <a:buNone/>
              <a:tabLst/>
              <a:defRPr/>
            </a:pPr>
            <a:r>
              <a:rPr kumimoji="0" sz="1200" b="1" i="0" u="none" strike="noStrike" kern="0" cap="none" spc="0" normalizeH="0" baseline="0" noProof="0" dirty="0">
                <a:ln>
                  <a:noFill/>
                </a:ln>
                <a:solidFill>
                  <a:srgbClr val="4920A8"/>
                </a:solidFill>
                <a:effectLst/>
                <a:uLnTx/>
                <a:uFillTx/>
                <a:latin typeface="Arial"/>
                <a:cs typeface="Arial"/>
              </a:rPr>
              <a:t>Sources</a:t>
            </a:r>
            <a:r>
              <a:rPr kumimoji="0" sz="1200" b="1" i="0" u="none" strike="noStrike" kern="0" cap="none" spc="-15" normalizeH="0" baseline="0" noProof="0" dirty="0">
                <a:ln>
                  <a:noFill/>
                </a:ln>
                <a:solidFill>
                  <a:srgbClr val="4920A8"/>
                </a:solidFill>
                <a:effectLst/>
                <a:uLnTx/>
                <a:uFillTx/>
                <a:latin typeface="Arial"/>
                <a:cs typeface="Arial"/>
              </a:rPr>
              <a:t> </a:t>
            </a:r>
            <a:r>
              <a:rPr kumimoji="0" sz="1200" b="1" i="0" u="none" strike="noStrike" kern="0" cap="none" spc="0" normalizeH="0" baseline="0" noProof="0" dirty="0">
                <a:ln>
                  <a:noFill/>
                </a:ln>
                <a:solidFill>
                  <a:srgbClr val="4920A8"/>
                </a:solidFill>
                <a:effectLst/>
                <a:uLnTx/>
                <a:uFillTx/>
                <a:latin typeface="Arial"/>
                <a:cs typeface="Arial"/>
              </a:rPr>
              <a:t>/</a:t>
            </a:r>
            <a:r>
              <a:rPr kumimoji="0" sz="1200" b="1" i="0" u="none" strike="noStrike" kern="0" cap="none" spc="-25" normalizeH="0" baseline="0" noProof="0" dirty="0">
                <a:ln>
                  <a:noFill/>
                </a:ln>
                <a:solidFill>
                  <a:srgbClr val="4920A8"/>
                </a:solidFill>
                <a:effectLst/>
                <a:uLnTx/>
                <a:uFillTx/>
                <a:latin typeface="Arial"/>
                <a:cs typeface="Arial"/>
              </a:rPr>
              <a:t> </a:t>
            </a:r>
            <a:r>
              <a:rPr kumimoji="0" sz="1200" b="1" i="0" u="none" strike="noStrike" kern="0" cap="none" spc="0" normalizeH="0" baseline="0" noProof="0" dirty="0">
                <a:ln>
                  <a:noFill/>
                </a:ln>
                <a:solidFill>
                  <a:srgbClr val="4920A8"/>
                </a:solidFill>
                <a:effectLst/>
                <a:uLnTx/>
                <a:uFillTx/>
                <a:latin typeface="Arial"/>
                <a:cs typeface="Arial"/>
              </a:rPr>
              <a:t>Tools:</a:t>
            </a:r>
            <a:r>
              <a:rPr kumimoji="0" sz="1200" b="1" i="0" u="none" strike="noStrike" kern="0" cap="none" spc="-40" normalizeH="0" baseline="0" noProof="0" dirty="0">
                <a:ln>
                  <a:noFill/>
                </a:ln>
                <a:solidFill>
                  <a:srgbClr val="4920A8"/>
                </a:solidFill>
                <a:effectLst/>
                <a:uLnTx/>
                <a:uFillTx/>
                <a:latin typeface="Arial"/>
                <a:cs typeface="Arial"/>
              </a:rPr>
              <a:t> </a:t>
            </a:r>
            <a:r>
              <a:rPr kumimoji="0" sz="950" b="1" i="0" u="none" strike="noStrike" kern="0" cap="none" spc="-10" normalizeH="0" baseline="0" noProof="0" dirty="0">
                <a:ln>
                  <a:noFill/>
                </a:ln>
                <a:solidFill>
                  <a:srgbClr val="464646"/>
                </a:solidFill>
                <a:effectLst/>
                <a:uLnTx/>
                <a:uFillTx/>
                <a:latin typeface="Arial"/>
                <a:cs typeface="Arial"/>
              </a:rPr>
              <a:t>Meltwater, </a:t>
            </a:r>
            <a:r>
              <a:rPr kumimoji="0" sz="950" b="1" i="0" u="none" strike="noStrike" kern="0" cap="none" spc="0" normalizeH="0" baseline="0" noProof="0" dirty="0">
                <a:ln>
                  <a:noFill/>
                </a:ln>
                <a:solidFill>
                  <a:srgbClr val="464646"/>
                </a:solidFill>
                <a:effectLst/>
                <a:uLnTx/>
                <a:uFillTx/>
                <a:latin typeface="Arial"/>
                <a:cs typeface="Arial"/>
              </a:rPr>
              <a:t>Quid</a:t>
            </a:r>
            <a:r>
              <a:rPr kumimoji="0" sz="950" b="1" i="0" u="none" strike="noStrike" kern="0" cap="none" spc="120" normalizeH="0" baseline="0" noProof="0" dirty="0">
                <a:ln>
                  <a:noFill/>
                </a:ln>
                <a:solidFill>
                  <a:srgbClr val="464646"/>
                </a:solidFill>
                <a:effectLst/>
                <a:uLnTx/>
                <a:uFillTx/>
                <a:latin typeface="Arial"/>
                <a:cs typeface="Arial"/>
              </a:rPr>
              <a:t> </a:t>
            </a:r>
            <a:r>
              <a:rPr kumimoji="0" sz="950" b="1" i="0" u="none" strike="noStrike" kern="0" cap="none" spc="0" normalizeH="0" baseline="0" noProof="0" dirty="0">
                <a:ln>
                  <a:noFill/>
                </a:ln>
                <a:solidFill>
                  <a:srgbClr val="464646"/>
                </a:solidFill>
                <a:effectLst/>
                <a:uLnTx/>
                <a:uFillTx/>
                <a:latin typeface="Arial"/>
                <a:cs typeface="Arial"/>
              </a:rPr>
              <a:t>Discover</a:t>
            </a:r>
            <a:r>
              <a:rPr kumimoji="0" sz="950" b="1" i="0" u="none" strike="noStrike" kern="0" cap="none" spc="110" normalizeH="0" baseline="0" noProof="0" dirty="0">
                <a:ln>
                  <a:noFill/>
                </a:ln>
                <a:solidFill>
                  <a:srgbClr val="464646"/>
                </a:solidFill>
                <a:effectLst/>
                <a:uLnTx/>
                <a:uFillTx/>
                <a:latin typeface="Arial"/>
                <a:cs typeface="Arial"/>
              </a:rPr>
              <a:t> </a:t>
            </a:r>
            <a:r>
              <a:rPr kumimoji="0" sz="950" b="1" i="0" u="none" strike="noStrike" kern="0" cap="none" spc="0" normalizeH="0" baseline="0" noProof="0" dirty="0">
                <a:ln>
                  <a:noFill/>
                </a:ln>
                <a:solidFill>
                  <a:srgbClr val="464646"/>
                </a:solidFill>
                <a:effectLst/>
                <a:uLnTx/>
                <a:uFillTx/>
                <a:latin typeface="Arial"/>
                <a:cs typeface="Arial"/>
              </a:rPr>
              <a:t>and</a:t>
            </a:r>
            <a:r>
              <a:rPr kumimoji="0" sz="950" b="1" i="0" u="none" strike="noStrike" kern="0" cap="none" spc="120" normalizeH="0" baseline="0" noProof="0" dirty="0">
                <a:ln>
                  <a:noFill/>
                </a:ln>
                <a:solidFill>
                  <a:srgbClr val="464646"/>
                </a:solidFill>
                <a:effectLst/>
                <a:uLnTx/>
                <a:uFillTx/>
                <a:latin typeface="Arial"/>
                <a:cs typeface="Arial"/>
              </a:rPr>
              <a:t> </a:t>
            </a:r>
            <a:r>
              <a:rPr kumimoji="0" sz="950" b="1" i="0" u="none" strike="noStrike" kern="0" cap="none" spc="0" normalizeH="0" baseline="0" noProof="0" dirty="0">
                <a:ln>
                  <a:noFill/>
                </a:ln>
                <a:solidFill>
                  <a:srgbClr val="464646"/>
                </a:solidFill>
                <a:effectLst/>
                <a:uLnTx/>
                <a:uFillTx/>
                <a:latin typeface="Arial"/>
                <a:cs typeface="Arial"/>
              </a:rPr>
              <a:t>Quid</a:t>
            </a:r>
            <a:r>
              <a:rPr kumimoji="0" sz="950" b="1" i="0" u="none" strike="noStrike" kern="0" cap="none" spc="125" normalizeH="0" baseline="0" noProof="0" dirty="0">
                <a:ln>
                  <a:noFill/>
                </a:ln>
                <a:solidFill>
                  <a:srgbClr val="464646"/>
                </a:solidFill>
                <a:effectLst/>
                <a:uLnTx/>
                <a:uFillTx/>
                <a:latin typeface="Arial"/>
                <a:cs typeface="Arial"/>
              </a:rPr>
              <a:t> </a:t>
            </a:r>
            <a:r>
              <a:rPr kumimoji="0" sz="950" b="1" i="0" u="none" strike="noStrike" kern="0" cap="none" spc="-10" normalizeH="0" baseline="0" noProof="0" dirty="0">
                <a:ln>
                  <a:noFill/>
                </a:ln>
                <a:solidFill>
                  <a:srgbClr val="464646"/>
                </a:solidFill>
                <a:effectLst/>
                <a:uLnTx/>
                <a:uFillTx/>
                <a:latin typeface="Arial"/>
                <a:cs typeface="Arial"/>
              </a:rPr>
              <a:t>Monitor</a:t>
            </a:r>
            <a:endParaRPr kumimoji="0" sz="950" b="0" i="0" u="none" strike="noStrike" kern="0" cap="none" spc="0" normalizeH="0" baseline="0" noProof="0" dirty="0">
              <a:ln>
                <a:noFill/>
              </a:ln>
              <a:solidFill>
                <a:sysClr val="windowText" lastClr="000000"/>
              </a:solidFill>
              <a:effectLst/>
              <a:uLnTx/>
              <a:uFillTx/>
              <a:latin typeface="Arial"/>
              <a:cs typeface="Arial"/>
            </a:endParaRPr>
          </a:p>
        </p:txBody>
      </p:sp>
      <p:sp>
        <p:nvSpPr>
          <p:cNvPr id="6" name="object 6"/>
          <p:cNvSpPr txBox="1">
            <a:spLocks noGrp="1"/>
          </p:cNvSpPr>
          <p:nvPr>
            <p:ph type="body" idx="1"/>
          </p:nvPr>
        </p:nvSpPr>
        <p:spPr>
          <a:xfrm>
            <a:off x="540067" y="1423670"/>
            <a:ext cx="6028690" cy="3468898"/>
          </a:xfrm>
          <a:prstGeom prst="rect">
            <a:avLst/>
          </a:prstGeom>
        </p:spPr>
        <p:txBody>
          <a:bodyPr vert="horz" wrap="square" lIns="0" tIns="15875" rIns="0" bIns="0" rtlCol="0">
            <a:spAutoFit/>
          </a:bodyPr>
          <a:lstStyle/>
          <a:p>
            <a:pPr marL="24765">
              <a:lnSpc>
                <a:spcPct val="100000"/>
              </a:lnSpc>
              <a:spcBef>
                <a:spcPts val="125"/>
              </a:spcBef>
            </a:pPr>
            <a:r>
              <a:rPr dirty="0"/>
              <a:t>Research</a:t>
            </a:r>
            <a:r>
              <a:rPr spc="-55" dirty="0"/>
              <a:t> </a:t>
            </a:r>
            <a:r>
              <a:rPr spc="-10" dirty="0"/>
              <a:t>Objective</a:t>
            </a:r>
          </a:p>
          <a:p>
            <a:pPr marL="24765" marR="5080">
              <a:lnSpc>
                <a:spcPct val="130900"/>
              </a:lnSpc>
              <a:spcBef>
                <a:spcPts val="1215"/>
              </a:spcBef>
            </a:pPr>
            <a:r>
              <a:rPr lang="en-US" sz="1100" b="0" dirty="0">
                <a:solidFill>
                  <a:srgbClr val="000000"/>
                </a:solidFill>
                <a:latin typeface="Arial"/>
                <a:cs typeface="Arial"/>
              </a:rPr>
              <a:t>Understand the top editorial themes, hair and make-up service occasions and/or cultural moments (weddings, holidays, prom, etc.), and trending social topics (e.g., celebrities trending because of hair/make-up, key hashtags used with hair/make-up content, any relevant topics and/or hashtags associated with hair/make-up occasions, etc.</a:t>
            </a:r>
          </a:p>
          <a:p>
            <a:pPr marL="24765" marR="5080">
              <a:lnSpc>
                <a:spcPct val="130900"/>
              </a:lnSpc>
              <a:spcBef>
                <a:spcPts val="1215"/>
              </a:spcBef>
            </a:pPr>
            <a:endParaRPr lang="en-US" sz="1100" b="0" dirty="0">
              <a:solidFill>
                <a:srgbClr val="000000"/>
              </a:solidFill>
              <a:latin typeface="Arial"/>
              <a:cs typeface="Arial"/>
            </a:endParaRPr>
          </a:p>
          <a:p>
            <a:pPr marL="12700">
              <a:lnSpc>
                <a:spcPct val="100000"/>
              </a:lnSpc>
            </a:pPr>
            <a:r>
              <a:rPr dirty="0"/>
              <a:t>Research</a:t>
            </a:r>
            <a:r>
              <a:rPr spc="-80" dirty="0"/>
              <a:t> </a:t>
            </a:r>
            <a:r>
              <a:rPr dirty="0"/>
              <a:t>Focus</a:t>
            </a:r>
            <a:r>
              <a:rPr spc="-5" dirty="0"/>
              <a:t> </a:t>
            </a:r>
            <a:r>
              <a:rPr spc="-10" dirty="0"/>
              <a:t>Areas</a:t>
            </a:r>
          </a:p>
          <a:p>
            <a:pPr marL="12700">
              <a:lnSpc>
                <a:spcPct val="100000"/>
              </a:lnSpc>
              <a:spcBef>
                <a:spcPts val="875"/>
              </a:spcBef>
            </a:pPr>
            <a:r>
              <a:rPr sz="950" dirty="0">
                <a:solidFill>
                  <a:srgbClr val="000000"/>
                </a:solidFill>
              </a:rPr>
              <a:t>Industry</a:t>
            </a:r>
            <a:r>
              <a:rPr sz="950" spc="165" dirty="0">
                <a:solidFill>
                  <a:srgbClr val="000000"/>
                </a:solidFill>
              </a:rPr>
              <a:t> </a:t>
            </a:r>
            <a:r>
              <a:rPr sz="950" spc="-10" dirty="0">
                <a:solidFill>
                  <a:srgbClr val="000000"/>
                </a:solidFill>
              </a:rPr>
              <a:t>Research</a:t>
            </a:r>
            <a:endParaRPr sz="950" dirty="0"/>
          </a:p>
          <a:p>
            <a:pPr marL="188595" indent="-111125">
              <a:lnSpc>
                <a:spcPct val="100000"/>
              </a:lnSpc>
              <a:spcBef>
                <a:spcPts val="660"/>
              </a:spcBef>
              <a:buSzPct val="78947"/>
              <a:buChar char="•"/>
              <a:tabLst>
                <a:tab pos="188595" algn="l"/>
              </a:tabLst>
            </a:pPr>
            <a:r>
              <a:rPr lang="en-US" sz="950" b="0" dirty="0">
                <a:solidFill>
                  <a:srgbClr val="000000"/>
                </a:solidFill>
                <a:latin typeface="Arial"/>
                <a:cs typeface="Arial"/>
              </a:rPr>
              <a:t>Top editorial themes</a:t>
            </a:r>
          </a:p>
          <a:p>
            <a:pPr marL="188595" indent="-111125">
              <a:lnSpc>
                <a:spcPct val="100000"/>
              </a:lnSpc>
              <a:spcBef>
                <a:spcPts val="660"/>
              </a:spcBef>
              <a:buSzPct val="78947"/>
              <a:buChar char="•"/>
              <a:tabLst>
                <a:tab pos="188595" algn="l"/>
              </a:tabLst>
            </a:pPr>
            <a:r>
              <a:rPr lang="en-US" sz="950" b="0" dirty="0">
                <a:solidFill>
                  <a:srgbClr val="000000"/>
                </a:solidFill>
                <a:latin typeface="Arial"/>
                <a:cs typeface="Arial"/>
              </a:rPr>
              <a:t>Hair and make-up service occasions and/or cultural moments (weddings, holidays, prom, etc.),</a:t>
            </a:r>
          </a:p>
          <a:p>
            <a:pPr marL="188595" indent="-111125">
              <a:lnSpc>
                <a:spcPct val="100000"/>
              </a:lnSpc>
              <a:spcBef>
                <a:spcPts val="660"/>
              </a:spcBef>
              <a:buSzPct val="78947"/>
              <a:buChar char="•"/>
              <a:tabLst>
                <a:tab pos="188595" algn="l"/>
              </a:tabLst>
            </a:pPr>
            <a:r>
              <a:rPr sz="950" b="0" dirty="0">
                <a:solidFill>
                  <a:srgbClr val="000000"/>
                </a:solidFill>
              </a:rPr>
              <a:t>Trending </a:t>
            </a:r>
            <a:r>
              <a:rPr lang="en-US" sz="950" b="0" dirty="0">
                <a:solidFill>
                  <a:srgbClr val="000000"/>
                </a:solidFill>
              </a:rPr>
              <a:t>Social </a:t>
            </a:r>
            <a:r>
              <a:rPr sz="950" b="0" dirty="0">
                <a:solidFill>
                  <a:srgbClr val="000000"/>
                </a:solidFill>
              </a:rPr>
              <a:t>Topics</a:t>
            </a:r>
            <a:r>
              <a:rPr sz="950" b="0" dirty="0">
                <a:solidFill>
                  <a:srgbClr val="000000"/>
                </a:solidFill>
                <a:latin typeface="Arial"/>
                <a:cs typeface="Arial"/>
              </a:rPr>
              <a:t>:</a:t>
            </a:r>
            <a:r>
              <a:rPr sz="950" b="0" spc="250" dirty="0">
                <a:solidFill>
                  <a:srgbClr val="000000"/>
                </a:solidFill>
                <a:latin typeface="Arial"/>
                <a:cs typeface="Arial"/>
              </a:rPr>
              <a:t> </a:t>
            </a:r>
            <a:r>
              <a:rPr sz="950" b="0" dirty="0">
                <a:solidFill>
                  <a:srgbClr val="000000"/>
                </a:solidFill>
                <a:latin typeface="Arial"/>
                <a:cs typeface="Arial"/>
              </a:rPr>
              <a:t>Hashtags,</a:t>
            </a:r>
            <a:r>
              <a:rPr sz="950" b="0" spc="130" dirty="0">
                <a:solidFill>
                  <a:srgbClr val="000000"/>
                </a:solidFill>
                <a:latin typeface="Arial"/>
                <a:cs typeface="Arial"/>
              </a:rPr>
              <a:t> </a:t>
            </a:r>
            <a:r>
              <a:rPr sz="950" b="0" dirty="0">
                <a:solidFill>
                  <a:srgbClr val="000000"/>
                </a:solidFill>
                <a:latin typeface="Arial"/>
                <a:cs typeface="Arial"/>
              </a:rPr>
              <a:t>Celebrities,</a:t>
            </a:r>
            <a:r>
              <a:rPr sz="950" b="0" spc="130" dirty="0">
                <a:solidFill>
                  <a:srgbClr val="000000"/>
                </a:solidFill>
                <a:latin typeface="Arial"/>
                <a:cs typeface="Arial"/>
              </a:rPr>
              <a:t> </a:t>
            </a:r>
            <a:r>
              <a:rPr sz="950" b="0" spc="-20" dirty="0">
                <a:solidFill>
                  <a:srgbClr val="000000"/>
                </a:solidFill>
                <a:latin typeface="Arial"/>
                <a:cs typeface="Arial"/>
              </a:rPr>
              <a:t>etc.</a:t>
            </a:r>
            <a:endParaRPr sz="950" dirty="0">
              <a:latin typeface="Arial"/>
              <a:cs typeface="Arial"/>
            </a:endParaRPr>
          </a:p>
          <a:p>
            <a:pPr>
              <a:lnSpc>
                <a:spcPct val="100000"/>
              </a:lnSpc>
              <a:spcBef>
                <a:spcPts val="400"/>
              </a:spcBef>
            </a:pPr>
            <a:endParaRPr sz="950" dirty="0">
              <a:latin typeface="Arial"/>
              <a:cs typeface="Arial"/>
            </a:endParaRPr>
          </a:p>
          <a:p>
            <a:pPr marL="12700">
              <a:lnSpc>
                <a:spcPct val="100000"/>
              </a:lnSpc>
            </a:pPr>
            <a:r>
              <a:rPr sz="950" spc="10" dirty="0">
                <a:solidFill>
                  <a:srgbClr val="000000"/>
                </a:solidFill>
              </a:rPr>
              <a:t>Competitive</a:t>
            </a:r>
            <a:r>
              <a:rPr sz="950" spc="80" dirty="0">
                <a:solidFill>
                  <a:srgbClr val="000000"/>
                </a:solidFill>
              </a:rPr>
              <a:t> </a:t>
            </a:r>
            <a:r>
              <a:rPr sz="950" spc="10" dirty="0">
                <a:solidFill>
                  <a:srgbClr val="000000"/>
                </a:solidFill>
              </a:rPr>
              <a:t>Research</a:t>
            </a:r>
            <a:r>
              <a:rPr sz="950" b="0" spc="10" dirty="0">
                <a:solidFill>
                  <a:srgbClr val="000000"/>
                </a:solidFill>
                <a:latin typeface="Arial"/>
                <a:cs typeface="Arial"/>
              </a:rPr>
              <a:t>:</a:t>
            </a:r>
            <a:r>
              <a:rPr lang="en-US" sz="950" b="0" spc="10" dirty="0">
                <a:solidFill>
                  <a:srgbClr val="000000"/>
                </a:solidFill>
                <a:latin typeface="Arial"/>
                <a:cs typeface="Arial"/>
              </a:rPr>
              <a:t> DryBar Salons, Blushington, Benefit Brow Bar, Glamsquad</a:t>
            </a:r>
          </a:p>
          <a:p>
            <a:pPr marL="12700">
              <a:lnSpc>
                <a:spcPct val="100000"/>
              </a:lnSpc>
            </a:pPr>
            <a:endParaRPr lang="en-US" sz="950" b="0" spc="10" dirty="0">
              <a:solidFill>
                <a:srgbClr val="000000"/>
              </a:solidFill>
            </a:endParaRPr>
          </a:p>
          <a:p>
            <a:pPr marL="12700">
              <a:lnSpc>
                <a:spcPct val="100000"/>
              </a:lnSpc>
            </a:pPr>
            <a:r>
              <a:rPr lang="en-US" sz="950" spc="10" dirty="0">
                <a:solidFill>
                  <a:srgbClr val="000000"/>
                </a:solidFill>
              </a:rPr>
              <a:t>Target Audience: </a:t>
            </a:r>
            <a:r>
              <a:rPr lang="en-US" sz="950" b="0" spc="10" dirty="0">
                <a:solidFill>
                  <a:srgbClr val="000000"/>
                </a:solidFill>
              </a:rPr>
              <a:t>Primary W25-54; Secondary: Teens (specifically during prom and homecoming season)</a:t>
            </a:r>
            <a:endParaRPr sz="950" dirty="0">
              <a:latin typeface="Arial"/>
              <a:cs typeface="Arial"/>
            </a:endParaRPr>
          </a:p>
        </p:txBody>
      </p:sp>
      <p:pic>
        <p:nvPicPr>
          <p:cNvPr id="7" name="object 7"/>
          <p:cNvPicPr/>
          <p:nvPr/>
        </p:nvPicPr>
        <p:blipFill>
          <a:blip r:embed="rId2" cstate="email">
            <a:extLst>
              <a:ext uri="{28A0092B-C50C-407E-A947-70E740481C1C}">
                <a14:useLocalDpi xmlns:a14="http://schemas.microsoft.com/office/drawing/2010/main"/>
              </a:ext>
            </a:extLst>
          </a:blip>
          <a:stretch>
            <a:fillRect/>
          </a:stretch>
        </p:blipFill>
        <p:spPr>
          <a:xfrm>
            <a:off x="7086600" y="314325"/>
            <a:ext cx="4781550" cy="6229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842CCC-4FD8-C8B3-4917-5DFF933EAC7C}"/>
              </a:ext>
            </a:extLst>
          </p:cNvPr>
          <p:cNvSpPr/>
          <p:nvPr/>
        </p:nvSpPr>
        <p:spPr>
          <a:xfrm>
            <a:off x="4739321" y="6988"/>
            <a:ext cx="745268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ounded Rectangle 13">
            <a:extLst>
              <a:ext uri="{FF2B5EF4-FFF2-40B4-BE49-F238E27FC236}">
                <a16:creationId xmlns:a16="http://schemas.microsoft.com/office/drawing/2014/main" id="{A2C5A670-4C00-3136-DCCD-0471088DD27D}"/>
              </a:ext>
            </a:extLst>
          </p:cNvPr>
          <p:cNvSpPr/>
          <p:nvPr/>
        </p:nvSpPr>
        <p:spPr>
          <a:xfrm>
            <a:off x="5290546" y="3762530"/>
            <a:ext cx="6408000" cy="2755589"/>
          </a:xfrm>
          <a:prstGeom prst="roundRect">
            <a:avLst>
              <a:gd name="adj" fmla="val 0"/>
            </a:avLst>
          </a:prstGeom>
          <a:solidFill>
            <a:schemeClr val="bg1">
              <a:alpha val="8308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16000" rIns="182880" rtlCol="0" anchor="ctr"/>
          <a:lstStyle/>
          <a:p>
            <a:pPr hangingPunct="0">
              <a:lnSpc>
                <a:spcPct val="120000"/>
              </a:lnSpc>
              <a:spcAft>
                <a:spcPts val="600"/>
              </a:spcAft>
              <a:defRPr sz="1600" b="1">
                <a:solidFill>
                  <a:srgbClr val="4A21A8"/>
                </a:solidFill>
                <a:latin typeface="SF Pro Semibold"/>
                <a:ea typeface="SF Pro Semibold"/>
                <a:cs typeface="SF Pro Semibold"/>
                <a:sym typeface="SF Pro Semibold"/>
              </a:defRPr>
            </a:pPr>
            <a:r>
              <a:rPr lang="en-IN" sz="1200" b="1" kern="0" dirty="0">
                <a:solidFill>
                  <a:srgbClr val="4A21A8"/>
                </a:solidFill>
                <a:latin typeface="Arial" panose="020B0604020202020204" pitchFamily="34" charset="0"/>
                <a:ea typeface="SF Pro Semibold"/>
                <a:cs typeface="Arial" panose="020B0604020202020204" pitchFamily="34" charset="0"/>
              </a:rPr>
              <a:t>Coverage · Conversation · Search</a:t>
            </a:r>
          </a:p>
          <a:p>
            <a:pPr marL="171450" indent="-171450">
              <a:lnSpc>
                <a:spcPct val="120000"/>
              </a:lnSpc>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Share of Voice: </a:t>
            </a:r>
            <a:r>
              <a:rPr lang="en-IN" sz="1100" dirty="0">
                <a:solidFill>
                  <a:schemeClr val="tx1"/>
                </a:solidFill>
                <a:latin typeface="Arial" panose="020B0604020202020204" pitchFamily="34" charset="0"/>
                <a:cs typeface="Arial" panose="020B0604020202020204" pitchFamily="34" charset="0"/>
              </a:rPr>
              <a:t>≈13% of beauty services (3</a:t>
            </a:r>
            <a:r>
              <a:rPr lang="en-IN" sz="1100" baseline="30000" dirty="0">
                <a:solidFill>
                  <a:schemeClr val="tx1"/>
                </a:solidFill>
                <a:latin typeface="Arial" panose="020B0604020202020204" pitchFamily="34" charset="0"/>
                <a:cs typeface="Arial" panose="020B0604020202020204" pitchFamily="34" charset="0"/>
              </a:rPr>
              <a:t>rd</a:t>
            </a:r>
            <a:r>
              <a:rPr lang="en-IN" sz="1100" dirty="0">
                <a:solidFill>
                  <a:schemeClr val="tx1"/>
                </a:solidFill>
                <a:latin typeface="Arial" panose="020B0604020202020204" pitchFamily="34" charset="0"/>
                <a:cs typeface="Arial" panose="020B0604020202020204" pitchFamily="34" charset="0"/>
              </a:rPr>
              <a:t> after Benefit Brow Bar, DryBar)</a:t>
            </a:r>
          </a:p>
          <a:p>
            <a:pPr marL="171450" indent="-171450">
              <a:lnSpc>
                <a:spcPct val="120000"/>
              </a:lnSpc>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Sentiment: </a:t>
            </a:r>
            <a:r>
              <a:rPr lang="en-IN" sz="1100" dirty="0">
                <a:solidFill>
                  <a:schemeClr val="tx1"/>
                </a:solidFill>
                <a:latin typeface="Arial" panose="020B0604020202020204" pitchFamily="34" charset="0"/>
                <a:cs typeface="Arial" panose="020B0604020202020204" pitchFamily="34" charset="0"/>
              </a:rPr>
              <a:t>59% positive · 39% neutral · 2% negative</a:t>
            </a:r>
          </a:p>
          <a:p>
            <a:pPr marL="171450" indent="-171450">
              <a:lnSpc>
                <a:spcPct val="120000"/>
              </a:lnSpc>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Themes: </a:t>
            </a:r>
            <a:r>
              <a:rPr lang="en-IN" sz="1100" dirty="0">
                <a:solidFill>
                  <a:schemeClr val="tx1"/>
                </a:solidFill>
                <a:latin typeface="Arial" panose="020B0604020202020204" pitchFamily="34" charset="0"/>
                <a:cs typeface="Arial" panose="020B0604020202020204" pitchFamily="34" charset="0"/>
              </a:rPr>
              <a:t>bridal &amp; permanent makeup services; trending colours (butterscotch blonde, silver highlights); celebrity/influencer campaigns (e.g. NYX with Paris Hilton &amp; Saweetie); rising costs and tipping debates; inclusive &amp; gender affirming services plus tech led convenience (AI booking, mobile salons)</a:t>
            </a:r>
          </a:p>
          <a:p>
            <a:pPr marL="171450" indent="-171450">
              <a:lnSpc>
                <a:spcPct val="120000"/>
              </a:lnSpc>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Top hashtags: </a:t>
            </a:r>
            <a:r>
              <a:rPr lang="en-IN" sz="1100" dirty="0">
                <a:solidFill>
                  <a:schemeClr val="tx1"/>
                </a:solidFill>
                <a:latin typeface="Arial" panose="020B0604020202020204" pitchFamily="34" charset="0"/>
                <a:cs typeface="Arial" panose="020B0604020202020204" pitchFamily="34" charset="0"/>
              </a:rPr>
              <a:t>#skincare · #haircolor · #hairstylist · #hairstyles · #beauty</a:t>
            </a:r>
          </a:p>
          <a:p>
            <a:pPr marL="171450" indent="-171450">
              <a:lnSpc>
                <a:spcPct val="120000"/>
              </a:lnSpc>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Seasonal peaks: </a:t>
            </a:r>
            <a:r>
              <a:rPr lang="en-IN" sz="1100" dirty="0">
                <a:solidFill>
                  <a:schemeClr val="tx1"/>
                </a:solidFill>
                <a:latin typeface="Arial" panose="020B0604020202020204" pitchFamily="34" charset="0"/>
                <a:cs typeface="Arial" panose="020B0604020202020204" pitchFamily="34" charset="0"/>
              </a:rPr>
              <a:t>holiday season (November–December) and back to school (September)</a:t>
            </a:r>
          </a:p>
        </p:txBody>
      </p:sp>
      <p:sp>
        <p:nvSpPr>
          <p:cNvPr id="5" name="Text Placeholder 26">
            <a:extLst>
              <a:ext uri="{FF2B5EF4-FFF2-40B4-BE49-F238E27FC236}">
                <a16:creationId xmlns:a16="http://schemas.microsoft.com/office/drawing/2014/main" id="{7ECB19F5-B793-EF49-B344-B89F2C3E95F4}"/>
              </a:ext>
            </a:extLst>
          </p:cNvPr>
          <p:cNvSpPr txBox="1">
            <a:spLocks/>
          </p:cNvSpPr>
          <p:nvPr/>
        </p:nvSpPr>
        <p:spPr>
          <a:xfrm>
            <a:off x="493454" y="433093"/>
            <a:ext cx="2911724" cy="978729"/>
          </a:xfrm>
          <a:prstGeom prst="rect">
            <a:avLst/>
          </a:prstGeom>
        </p:spPr>
        <p:txBody>
          <a:bodyPr vert="horz" wrap="square" lIns="91440" tIns="45720" rIns="91440" bIns="45720" rtlCol="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latin typeface="Aptos SemiBold" panose="020B0004020202020204" pitchFamily="34" charset="0"/>
              </a:rPr>
              <a:t>Hunter Intelligence</a:t>
            </a:r>
          </a:p>
        </p:txBody>
      </p:sp>
      <p:sp>
        <p:nvSpPr>
          <p:cNvPr id="6" name="Text Placeholder 23">
            <a:extLst>
              <a:ext uri="{FF2B5EF4-FFF2-40B4-BE49-F238E27FC236}">
                <a16:creationId xmlns:a16="http://schemas.microsoft.com/office/drawing/2014/main" id="{E2C00628-31F8-8E89-6785-DA7CF4EB7BD1}"/>
              </a:ext>
            </a:extLst>
          </p:cNvPr>
          <p:cNvSpPr txBox="1">
            <a:spLocks/>
          </p:cNvSpPr>
          <p:nvPr/>
        </p:nvSpPr>
        <p:spPr>
          <a:xfrm>
            <a:off x="581946" y="1869478"/>
            <a:ext cx="2264272" cy="286232"/>
          </a:xfrm>
          <a:prstGeom prst="rect">
            <a:avLst/>
          </a:prstGeom>
        </p:spPr>
        <p:txBody>
          <a:bodyPr vert="horz" lIns="91440" tIns="45720" rIns="91440" bIns="45720" rtlCol="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solidFill>
                  <a:srgbClr val="7030A0"/>
                </a:solidFill>
                <a:latin typeface="Arial" panose="020B0604020202020204" pitchFamily="34" charset="0"/>
                <a:cs typeface="Arial" panose="020B0604020202020204" pitchFamily="34" charset="0"/>
              </a:rPr>
              <a:t>SUMMARY</a:t>
            </a:r>
          </a:p>
        </p:txBody>
      </p:sp>
      <p:sp>
        <p:nvSpPr>
          <p:cNvPr id="11" name="Rounded Rectangle 10">
            <a:extLst>
              <a:ext uri="{FF2B5EF4-FFF2-40B4-BE49-F238E27FC236}">
                <a16:creationId xmlns:a16="http://schemas.microsoft.com/office/drawing/2014/main" id="{40EA27CD-8546-699C-7774-7ED913B18768}"/>
              </a:ext>
            </a:extLst>
          </p:cNvPr>
          <p:cNvSpPr/>
          <p:nvPr/>
        </p:nvSpPr>
        <p:spPr>
          <a:xfrm>
            <a:off x="493454" y="2061448"/>
            <a:ext cx="4157374" cy="122309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rIns="182880" rtlCol="0" anchor="ctr"/>
          <a:lstStyle/>
          <a:p>
            <a:pPr>
              <a:lnSpc>
                <a:spcPct val="120000"/>
              </a:lnSpc>
              <a:spcBef>
                <a:spcPts val="600"/>
              </a:spcBef>
            </a:pPr>
            <a:r>
              <a:rPr lang="en-US" sz="1000" b="1" dirty="0">
                <a:solidFill>
                  <a:srgbClr val="003B4D"/>
                </a:solidFill>
                <a:latin typeface="Arial" panose="020B0604020202020204" pitchFamily="34" charset="0"/>
                <a:cs typeface="Arial" panose="020B0604020202020204" pitchFamily="34" charset="0"/>
              </a:rPr>
              <a:t>Client: </a:t>
            </a:r>
            <a:r>
              <a:rPr lang="en-US" sz="1000" dirty="0">
                <a:solidFill>
                  <a:srgbClr val="003B4D"/>
                </a:solidFill>
                <a:latin typeface="Arial" panose="020B0604020202020204" pitchFamily="34" charset="0"/>
                <a:cs typeface="Arial" panose="020B0604020202020204" pitchFamily="34" charset="0"/>
              </a:rPr>
              <a:t>Blo Blow Dry Bar </a:t>
            </a:r>
          </a:p>
          <a:p>
            <a:pPr>
              <a:lnSpc>
                <a:spcPct val="120000"/>
              </a:lnSpc>
              <a:spcBef>
                <a:spcPts val="600"/>
              </a:spcBef>
            </a:pPr>
            <a:r>
              <a:rPr lang="en-US" sz="1000" b="1" dirty="0">
                <a:solidFill>
                  <a:srgbClr val="003B4D"/>
                </a:solidFill>
                <a:latin typeface="Arial" panose="020B0604020202020204" pitchFamily="34" charset="0"/>
                <a:cs typeface="Arial" panose="020B0604020202020204" pitchFamily="34" charset="0"/>
              </a:rPr>
              <a:t>Category: </a:t>
            </a:r>
            <a:r>
              <a:rPr lang="en-US" sz="1000" dirty="0">
                <a:solidFill>
                  <a:srgbClr val="003B4D"/>
                </a:solidFill>
                <a:latin typeface="Arial" panose="020B0604020202020204" pitchFamily="34" charset="0"/>
                <a:cs typeface="Arial" panose="020B0604020202020204" pitchFamily="34" charset="0"/>
              </a:rPr>
              <a:t>Beauty Services</a:t>
            </a:r>
          </a:p>
          <a:p>
            <a:pPr>
              <a:lnSpc>
                <a:spcPct val="120000"/>
              </a:lnSpc>
              <a:spcBef>
                <a:spcPts val="600"/>
              </a:spcBef>
            </a:pPr>
            <a:r>
              <a:rPr lang="en-US" sz="1000" b="1" dirty="0">
                <a:solidFill>
                  <a:srgbClr val="003B4D"/>
                </a:solidFill>
                <a:latin typeface="Arial" panose="020B0604020202020204" pitchFamily="34" charset="0"/>
                <a:cs typeface="Arial" panose="020B0604020202020204" pitchFamily="34" charset="0"/>
              </a:rPr>
              <a:t>Competitors: </a:t>
            </a:r>
            <a:r>
              <a:rPr lang="en-US" sz="1000" dirty="0">
                <a:solidFill>
                  <a:srgbClr val="003B4D"/>
                </a:solidFill>
                <a:latin typeface="Arial" panose="020B0604020202020204" pitchFamily="34" charset="0"/>
                <a:cs typeface="Arial" panose="020B0604020202020204" pitchFamily="34" charset="0"/>
              </a:rPr>
              <a:t>DryBar Salons, Blushington, Benefit Brow Bar, Glamsquad</a:t>
            </a:r>
          </a:p>
        </p:txBody>
      </p:sp>
      <p:sp>
        <p:nvSpPr>
          <p:cNvPr id="2" name="Rounded Rectangle 13">
            <a:extLst>
              <a:ext uri="{FF2B5EF4-FFF2-40B4-BE49-F238E27FC236}">
                <a16:creationId xmlns:a16="http://schemas.microsoft.com/office/drawing/2014/main" id="{809721BF-8FF9-0EEE-71E1-F514E464A747}"/>
              </a:ext>
            </a:extLst>
          </p:cNvPr>
          <p:cNvSpPr/>
          <p:nvPr/>
        </p:nvSpPr>
        <p:spPr>
          <a:xfrm>
            <a:off x="5290546" y="495300"/>
            <a:ext cx="6408000" cy="2987316"/>
          </a:xfrm>
          <a:prstGeom prst="roundRect">
            <a:avLst>
              <a:gd name="adj" fmla="val 0"/>
            </a:avLst>
          </a:prstGeom>
          <a:solidFill>
            <a:schemeClr val="bg1">
              <a:alpha val="8308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16000" rIns="182880" rtlCol="0" anchor="ctr"/>
          <a:lstStyle/>
          <a:p>
            <a:pPr hangingPunct="0">
              <a:lnSpc>
                <a:spcPct val="120000"/>
              </a:lnSpc>
              <a:spcAft>
                <a:spcPts val="600"/>
              </a:spcAft>
              <a:defRPr sz="1600" b="1">
                <a:solidFill>
                  <a:srgbClr val="4A21A8"/>
                </a:solidFill>
                <a:latin typeface="SF Pro Semibold"/>
                <a:ea typeface="SF Pro Semibold"/>
                <a:cs typeface="SF Pro Semibold"/>
                <a:sym typeface="SF Pro Semibold"/>
              </a:defRPr>
            </a:pPr>
            <a:r>
              <a:rPr lang="en-IN" sz="1200" b="1" kern="0" dirty="0">
                <a:solidFill>
                  <a:srgbClr val="4A21A8"/>
                </a:solidFill>
                <a:latin typeface="Arial" panose="020B0604020202020204" pitchFamily="34" charset="0"/>
                <a:ea typeface="SF Pro Semibold"/>
                <a:cs typeface="Arial" panose="020B0604020202020204" pitchFamily="34" charset="0"/>
              </a:rPr>
              <a:t>Consumer</a:t>
            </a:r>
          </a:p>
          <a:p>
            <a:pPr marL="171450" indent="-171450">
              <a:spcAft>
                <a:spcPts val="600"/>
              </a:spcAft>
              <a:buFont typeface="Arial" panose="020B0604020202020204" pitchFamily="34" charset="0"/>
              <a:buChar char="•"/>
            </a:pPr>
            <a:r>
              <a:rPr lang="en-US" sz="1100" dirty="0">
                <a:solidFill>
                  <a:srgbClr val="7030A0"/>
                </a:solidFill>
                <a:latin typeface="Arial" panose="020B0604020202020204" pitchFamily="34" charset="0"/>
                <a:cs typeface="Arial" panose="020B0604020202020204" pitchFamily="34" charset="0"/>
              </a:rPr>
              <a:t>“Occasion-Ready Crowd”</a:t>
            </a:r>
            <a:r>
              <a:rPr lang="en-US" sz="1100" dirty="0">
                <a:solidFill>
                  <a:schemeClr val="tx1"/>
                </a:solidFill>
                <a:latin typeface="Arial" panose="020B0604020202020204" pitchFamily="34" charset="0"/>
                <a:cs typeface="Arial" panose="020B0604020202020204" pitchFamily="34" charset="0"/>
              </a:rPr>
              <a:t>, mostly female, urban/suburban</a:t>
            </a:r>
            <a:endParaRPr lang="en-US" sz="1050" dirty="0">
              <a:solidFill>
                <a:schemeClr val="tx1"/>
              </a:solidFill>
              <a:latin typeface="Arial" panose="020B0604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Mindset: </a:t>
            </a:r>
            <a:r>
              <a:rPr lang="en-US" sz="1100" dirty="0">
                <a:solidFill>
                  <a:schemeClr val="tx1"/>
                </a:solidFill>
                <a:latin typeface="Arial" panose="020B0604020202020204" pitchFamily="34" charset="0"/>
                <a:cs typeface="Arial" panose="020B0604020202020204" pitchFamily="34" charset="0"/>
              </a:rPr>
              <a:t>Need quick, no-stress styling for proms, weddings, holidays</a:t>
            </a:r>
            <a:endParaRPr lang="en-IN" sz="1000" dirty="0">
              <a:solidFill>
                <a:schemeClr val="tx1"/>
              </a:solidFill>
              <a:latin typeface="Arial" panose="020B0604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Key Influences: </a:t>
            </a:r>
            <a:r>
              <a:rPr lang="en-US" sz="1100" dirty="0">
                <a:solidFill>
                  <a:schemeClr val="tx1"/>
                </a:solidFill>
                <a:latin typeface="Arial" panose="020B0604020202020204" pitchFamily="34" charset="0"/>
                <a:cs typeface="Arial" panose="020B0604020202020204" pitchFamily="34" charset="0"/>
              </a:rPr>
              <a:t>Influenced by TikTok before after reels, prom &amp; quinceañera boards, creator tutorials</a:t>
            </a:r>
            <a:endParaRPr lang="en-US" sz="1000" dirty="0">
              <a:solidFill>
                <a:schemeClr val="tx1"/>
              </a:solidFill>
              <a:latin typeface="Arial" panose="020B0604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Values: </a:t>
            </a:r>
            <a:r>
              <a:rPr lang="en-US" sz="1100" dirty="0">
                <a:solidFill>
                  <a:schemeClr val="tx1"/>
                </a:solidFill>
                <a:latin typeface="Arial" panose="020B0604020202020204" pitchFamily="34" charset="0"/>
                <a:cs typeface="Arial" panose="020B0604020202020204" pitchFamily="34" charset="0"/>
              </a:rPr>
              <a:t>Speed, consistent quality, friendly prices, cruelty-free products</a:t>
            </a:r>
            <a:r>
              <a:rPr lang="en-IN" sz="1100" dirty="0">
                <a:solidFill>
                  <a:schemeClr val="tx1"/>
                </a:solidFill>
                <a:latin typeface="Arial" panose="020B0604020202020204" pitchFamily="34" charset="0"/>
                <a:cs typeface="Arial" panose="020B0604020202020204" pitchFamily="34" charset="0"/>
              </a:rPr>
              <a:t>.</a:t>
            </a:r>
          </a:p>
          <a:p>
            <a:pPr marL="171450" indent="-171450">
              <a:spcAft>
                <a:spcPts val="600"/>
              </a:spcAft>
              <a:buFont typeface="Arial" panose="020B0604020202020204" pitchFamily="34" charset="0"/>
              <a:buChar char="•"/>
            </a:pPr>
            <a:r>
              <a:rPr lang="en-IN" sz="1100" dirty="0">
                <a:solidFill>
                  <a:srgbClr val="7030A0"/>
                </a:solidFill>
                <a:latin typeface="Arial" panose="020B0604020202020204" pitchFamily="34" charset="0"/>
                <a:cs typeface="Arial" panose="020B0604020202020204" pitchFamily="34" charset="0"/>
              </a:rPr>
              <a:t>Key Interests / Communities: </a:t>
            </a:r>
            <a:r>
              <a:rPr lang="en-US" sz="1100" dirty="0">
                <a:solidFill>
                  <a:schemeClr val="tx1"/>
                </a:solidFill>
                <a:latin typeface="Arial" panose="020B0604020202020204" pitchFamily="34" charset="0"/>
                <a:cs typeface="Arial" panose="020B0604020202020204" pitchFamily="34" charset="0"/>
              </a:rPr>
              <a:t>They follow hair-and-beauty subreddits and Instagram channels, campus style pages, wedding-planning groups, and TikTok channels that post quick hairstyle and makeup hacks.</a:t>
            </a:r>
            <a:endParaRPr lang="en-US" sz="1000" dirty="0">
              <a:solidFill>
                <a:schemeClr val="tx1"/>
              </a:solidFill>
              <a:latin typeface="Arial" panose="020B0604020202020204" pitchFamily="34" charset="0"/>
              <a:cs typeface="Arial" panose="020B0604020202020204" pitchFamily="34" charset="0"/>
            </a:endParaRPr>
          </a:p>
        </p:txBody>
      </p:sp>
      <p:pic>
        <p:nvPicPr>
          <p:cNvPr id="8" name="Picture 7" descr="A blue and purple cylinder shaped objects&#10;&#10;AI-generated content may be incorrect.">
            <a:extLst>
              <a:ext uri="{FF2B5EF4-FFF2-40B4-BE49-F238E27FC236}">
                <a16:creationId xmlns:a16="http://schemas.microsoft.com/office/drawing/2014/main" id="{7012EAED-CC2E-7542-E14E-BA39EF186EEC}"/>
              </a:ext>
            </a:extLst>
          </p:cNvPr>
          <p:cNvPicPr>
            <a:picLocks noChangeAspect="1"/>
          </p:cNvPicPr>
          <p:nvPr/>
        </p:nvPicPr>
        <p:blipFill>
          <a:blip r:embed="rId3"/>
          <a:srcRect r="30067"/>
          <a:stretch>
            <a:fillRect/>
          </a:stretch>
        </p:blipFill>
        <p:spPr>
          <a:xfrm flipH="1">
            <a:off x="-1" y="3476508"/>
            <a:ext cx="4739321" cy="3388480"/>
          </a:xfrm>
          <a:prstGeom prst="rect">
            <a:avLst/>
          </a:prstGeom>
        </p:spPr>
      </p:pic>
    </p:spTree>
    <p:extLst>
      <p:ext uri="{BB962C8B-B14F-4D97-AF65-F5344CB8AC3E}">
        <p14:creationId xmlns:p14="http://schemas.microsoft.com/office/powerpoint/2010/main" val="2191128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EA748-815E-39B8-6383-A2C96A51E5F8}"/>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275DF268-0C52-9BAD-D170-EECD5CB17BEA}"/>
              </a:ext>
            </a:extLst>
          </p:cNvPr>
          <p:cNvPicPr>
            <a:picLocks noGrp="1" noRo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rcRect l="-120"/>
          <a:stretch>
            <a:fillRect/>
          </a:stretch>
        </p:blipFill>
        <p:spPr>
          <a:xfrm>
            <a:off x="-132735" y="0"/>
            <a:ext cx="12324735" cy="6857999"/>
          </a:xfrm>
          <a:prstGeom prst="rect">
            <a:avLst/>
          </a:prstGeom>
        </p:spPr>
      </p:pic>
      <p:sp>
        <p:nvSpPr>
          <p:cNvPr id="2" name="Title 1">
            <a:extLst>
              <a:ext uri="{FF2B5EF4-FFF2-40B4-BE49-F238E27FC236}">
                <a16:creationId xmlns:a16="http://schemas.microsoft.com/office/drawing/2014/main" id="{D1CD6BF8-81FF-874B-8CED-9A2232F26F7B}"/>
              </a:ext>
            </a:extLst>
          </p:cNvPr>
          <p:cNvSpPr txBox="1">
            <a:spLocks/>
          </p:cNvSpPr>
          <p:nvPr/>
        </p:nvSpPr>
        <p:spPr>
          <a:xfrm>
            <a:off x="530555" y="1350893"/>
            <a:ext cx="7492567" cy="978729"/>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solidFill>
                  <a:schemeClr val="bg1"/>
                </a:solidFill>
                <a:latin typeface="Arial" panose="020B0604020202020204" pitchFamily="34" charset="0"/>
                <a:cs typeface="Arial" panose="020B0604020202020204" pitchFamily="34" charset="0"/>
              </a:rPr>
              <a:t>Beauty Services Landscape</a:t>
            </a:r>
          </a:p>
          <a:p>
            <a:r>
              <a:rPr lang="en-GB" sz="2400" dirty="0">
                <a:solidFill>
                  <a:schemeClr val="bg1"/>
                </a:solidFill>
                <a:latin typeface="Arial" panose="020B0604020202020204" pitchFamily="34" charset="0"/>
                <a:cs typeface="Arial" panose="020B0604020202020204" pitchFamily="34" charset="0"/>
              </a:rPr>
              <a:t>(Editorial &amp; Social)</a:t>
            </a:r>
          </a:p>
        </p:txBody>
      </p:sp>
    </p:spTree>
    <p:extLst>
      <p:ext uri="{BB962C8B-B14F-4D97-AF65-F5344CB8AC3E}">
        <p14:creationId xmlns:p14="http://schemas.microsoft.com/office/powerpoint/2010/main" val="9978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AD43B-067E-163D-DA93-FEBA2F347E7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C69CAAC-B218-03C9-5974-C73FCA037A61}"/>
              </a:ext>
            </a:extLst>
          </p:cNvPr>
          <p:cNvSpPr/>
          <p:nvPr/>
        </p:nvSpPr>
        <p:spPr>
          <a:xfrm>
            <a:off x="5821444" y="14991"/>
            <a:ext cx="6370556"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Google Shape;2436;p175">
            <a:extLst>
              <a:ext uri="{FF2B5EF4-FFF2-40B4-BE49-F238E27FC236}">
                <a16:creationId xmlns:a16="http://schemas.microsoft.com/office/drawing/2014/main" id="{77337526-C054-098C-E2E0-FF38A86C1E3E}"/>
              </a:ext>
            </a:extLst>
          </p:cNvPr>
          <p:cNvSpPr txBox="1"/>
          <p:nvPr/>
        </p:nvSpPr>
        <p:spPr>
          <a:xfrm>
            <a:off x="452580" y="985575"/>
            <a:ext cx="4602446" cy="1292647"/>
          </a:xfrm>
          <a:prstGeom prst="rect">
            <a:avLst/>
          </a:prstGeom>
          <a:noFill/>
          <a:ln>
            <a:noFill/>
          </a:ln>
        </p:spPr>
        <p:txBody>
          <a:bodyPr spcFirstLastPara="1" wrap="square" lIns="91433" tIns="91433" rIns="91433" bIns="91433" anchor="t" anchorCtr="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7030A0"/>
                </a:solidFill>
                <a:effectLst/>
                <a:uLnTx/>
                <a:uFillTx/>
                <a:latin typeface="Arial" panose="020B0604020202020204" pitchFamily="34" charset="0"/>
                <a:cs typeface="Arial" panose="020B0604020202020204" pitchFamily="34" charset="0"/>
              </a:rPr>
              <a:t>The beauty service industry is evolving through tech driven salon innovations, celebrity influence, and social media trends, particularly on TikTok, while also embracing natural treatments, AI, and noninvasive hair technologies. Industry players are navigating rising operational costs and regulatory changes, with shifting consumer expectations being shaped by digital platforms and evolving beauty standards.</a:t>
            </a:r>
            <a:endParaRPr kumimoji="0" lang="en" sz="1000" b="1" u="none" strike="noStrike" kern="1200" cap="none" spc="0" normalizeH="0" baseline="0" noProof="0" dirty="0">
              <a:ln>
                <a:noFill/>
              </a:ln>
              <a:solidFill>
                <a:srgbClr val="7030A0"/>
              </a:solidFill>
              <a:effectLst/>
              <a:uLnTx/>
              <a:uFillTx/>
              <a:latin typeface="Arial" panose="020B0604020202020204" pitchFamily="34" charset="0"/>
              <a:ea typeface="Arial"/>
              <a:cs typeface="Arial" panose="020B0604020202020204" pitchFamily="34" charset="0"/>
              <a:sym typeface="Arial"/>
            </a:endParaRPr>
          </a:p>
        </p:txBody>
      </p:sp>
      <p:sp>
        <p:nvSpPr>
          <p:cNvPr id="6" name="TextBox 5">
            <a:extLst>
              <a:ext uri="{FF2B5EF4-FFF2-40B4-BE49-F238E27FC236}">
                <a16:creationId xmlns:a16="http://schemas.microsoft.com/office/drawing/2014/main" id="{471C8B45-1429-8757-E7F1-5CA002E9ECD7}"/>
              </a:ext>
            </a:extLst>
          </p:cNvPr>
          <p:cNvSpPr txBox="1"/>
          <p:nvPr/>
        </p:nvSpPr>
        <p:spPr>
          <a:xfrm>
            <a:off x="6096000" y="523110"/>
            <a:ext cx="2346953" cy="523220"/>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tabLst/>
              <a:defRPr/>
            </a:pPr>
            <a:r>
              <a:rPr lang="en-US" sz="1400" b="1" dirty="0">
                <a:solidFill>
                  <a:srgbClr val="7030A0"/>
                </a:solidFill>
                <a:latin typeface="Arial" panose="020B0604020202020204" pitchFamily="34" charset="0"/>
                <a:cs typeface="Arial" panose="020B0604020202020204" pitchFamily="34" charset="0"/>
              </a:rPr>
              <a:t>Beauty Services</a:t>
            </a:r>
          </a:p>
          <a:p>
            <a:pPr marR="0" lvl="0" indent="0" fontAlgn="auto">
              <a:lnSpc>
                <a:spcPct val="100000"/>
              </a:lnSpc>
              <a:spcBef>
                <a:spcPts val="0"/>
              </a:spcBef>
              <a:spcAft>
                <a:spcPts val="0"/>
              </a:spcAft>
              <a:buClrTx/>
              <a:buSzTx/>
              <a:buFontTx/>
              <a:buNone/>
              <a:tabLst/>
              <a:defRPr/>
            </a:pPr>
            <a:r>
              <a:rPr lang="en-US" sz="1400" b="1" dirty="0">
                <a:solidFill>
                  <a:srgbClr val="7030A0"/>
                </a:solidFill>
                <a:latin typeface="Arial" panose="020B0604020202020204" pitchFamily="34" charset="0"/>
                <a:cs typeface="Arial" panose="020B0604020202020204" pitchFamily="34" charset="0"/>
              </a:rPr>
              <a:t>Coverage: Cluster Map</a:t>
            </a:r>
          </a:p>
        </p:txBody>
      </p:sp>
      <p:sp>
        <p:nvSpPr>
          <p:cNvPr id="10" name="TextBox 9">
            <a:extLst>
              <a:ext uri="{FF2B5EF4-FFF2-40B4-BE49-F238E27FC236}">
                <a16:creationId xmlns:a16="http://schemas.microsoft.com/office/drawing/2014/main" id="{BD56B4F8-F475-C261-8FF8-386CAA1BCFCD}"/>
              </a:ext>
            </a:extLst>
          </p:cNvPr>
          <p:cNvSpPr txBox="1"/>
          <p:nvPr/>
        </p:nvSpPr>
        <p:spPr>
          <a:xfrm>
            <a:off x="321845" y="2388834"/>
            <a:ext cx="4989806" cy="4080156"/>
          </a:xfrm>
          <a:prstGeom prst="rect">
            <a:avLst/>
          </a:prstGeom>
          <a:noFill/>
        </p:spPr>
        <p:txBody>
          <a:bodyPr wrap="square" rtlCol="0">
            <a:spAutoFit/>
          </a:bodyPr>
          <a:lstStyle/>
          <a:p>
            <a:pPr marL="114300" marR="0" lvl="0" indent="-114300" algn="l" defTabSz="914400" rtl="0" eaLnBrk="1" fontAlgn="base" latinLnBrk="0" hangingPunct="1">
              <a:lnSpc>
                <a:spcPct val="120000"/>
              </a:lnSpc>
              <a:spcBef>
                <a:spcPts val="800"/>
              </a:spcBef>
              <a:spcAft>
                <a:spcPts val="0"/>
              </a:spcAft>
              <a:buClrTx/>
              <a:buSzTx/>
              <a:buFont typeface="Arial" panose="020B0604020202020204" pitchFamily="34" charset="0"/>
              <a:buChar char="•"/>
              <a:tabLst/>
              <a:defRPr/>
            </a:pPr>
            <a:r>
              <a:rPr kumimoji="0" lang="en-US" sz="900" b="1"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Innovative Trends in Salon and Beauty: </a:t>
            </a:r>
            <a:r>
              <a:rPr kumimoji="0" lang="en-US" sz="900"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The beauty and salon industry features new openings, AI advancements, and community initiatives. Notable are holistic therapies, the rise of natural hair salons, and impactful social media strategies. Challenges include increased rents and regulatory shifts.</a:t>
            </a:r>
          </a:p>
          <a:p>
            <a:pPr marL="114300" marR="0" lvl="0" indent="-114300" algn="l" defTabSz="914400" rtl="0" eaLnBrk="1" fontAlgn="base" latinLnBrk="0" hangingPunct="1">
              <a:lnSpc>
                <a:spcPct val="120000"/>
              </a:lnSpc>
              <a:spcBef>
                <a:spcPts val="800"/>
              </a:spcBef>
              <a:spcAft>
                <a:spcPts val="0"/>
              </a:spcAft>
              <a:buClrTx/>
              <a:buSzTx/>
              <a:buFont typeface="Arial" panose="020B0604020202020204" pitchFamily="34" charset="0"/>
              <a:buChar char="•"/>
              <a:tabLst/>
              <a:defRPr/>
            </a:pPr>
            <a:r>
              <a:rPr kumimoji="0" lang="en-US" sz="900" b="1"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Celeb's Influence on Beauty: </a:t>
            </a:r>
            <a:r>
              <a:rPr kumimoji="0" lang="en-US" sz="900"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This cluster explores celebrity beauty trends at high-profile events, focusing on Pamela Anderson's makeup-free approach and Nicole Kidman's standout looks. It examines trends like 'Contrast Makeup Theory', the impact of social media, and minimal makeup strategies for mature celebrities.</a:t>
            </a:r>
          </a:p>
          <a:p>
            <a:pPr marL="114300" lvl="0" indent="-114300" fontAlgn="base">
              <a:lnSpc>
                <a:spcPct val="120000"/>
              </a:lnSpc>
              <a:spcBef>
                <a:spcPts val="800"/>
              </a:spcBef>
              <a:buFont typeface="Arial" panose="020B0604020202020204" pitchFamily="34" charset="0"/>
              <a:buChar char="•"/>
              <a:defRPr/>
            </a:pPr>
            <a:r>
              <a:rPr kumimoji="0" lang="en-US" sz="900" b="1"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Influential Makeup Artists in Entertainment</a:t>
            </a:r>
            <a:r>
              <a:rPr kumimoji="0" lang="en-US" sz="900" b="0"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 This cluster examines the impact of makeup artists and hairstylists in the entertainment sector, highlighting industry luminaries and their contributions to iconic looks in film and TV. It includes discussions on major awards and the influence of celebrity beauty standards.</a:t>
            </a:r>
          </a:p>
          <a:p>
            <a:pPr marL="114300" lvl="0" indent="-114300" fontAlgn="base">
              <a:lnSpc>
                <a:spcPct val="120000"/>
              </a:lnSpc>
              <a:spcBef>
                <a:spcPts val="800"/>
              </a:spcBef>
              <a:buFont typeface="Arial" panose="020B0604020202020204" pitchFamily="34" charset="0"/>
              <a:buChar char="•"/>
              <a:defRPr/>
            </a:pPr>
            <a:r>
              <a:rPr kumimoji="0" lang="en-US" sz="900" b="1"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Advancements in Hair Treatment Technologies</a:t>
            </a:r>
            <a:r>
              <a:rPr kumimoji="0" lang="en-US" sz="900" b="0"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 This cluster highlights advancements in hair treatment and cosmetics, including innovative products like Keranet, Bello Hair Helper Spray, and non-surgical restoration techniques. It also covers the impact of K-beauty and tech-enhanced salon experiences.</a:t>
            </a:r>
          </a:p>
          <a:p>
            <a:pPr marL="114300" lvl="0" indent="-114300" fontAlgn="base">
              <a:lnSpc>
                <a:spcPct val="120000"/>
              </a:lnSpc>
              <a:spcBef>
                <a:spcPts val="800"/>
              </a:spcBef>
              <a:buFont typeface="Arial" panose="020B0604020202020204" pitchFamily="34" charset="0"/>
              <a:buChar char="•"/>
              <a:defRPr/>
            </a:pPr>
            <a:r>
              <a:rPr kumimoji="0" lang="en-US" sz="900" b="1"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TikTok Makeup Trends and Artist Tips</a:t>
            </a:r>
            <a:r>
              <a:rPr kumimoji="0" lang="en-US" sz="900" b="0" i="0" u="none" strike="noStrike" kern="1200" cap="none" spc="0" normalizeH="0" baseline="0" noProof="0" dirty="0">
                <a:ln>
                  <a:noFill/>
                </a:ln>
                <a:solidFill>
                  <a:srgbClr val="030712"/>
                </a:solidFill>
                <a:effectLst/>
                <a:uLnTx/>
                <a:uFillTx/>
                <a:latin typeface="Arial" panose="020B0604020202020204" pitchFamily="34" charset="0"/>
                <a:cs typeface="Arial" panose="020B0604020202020204" pitchFamily="34" charset="0"/>
              </a:rPr>
              <a:t>: This cluster focuses on makeup trends like 'sunburnt' and 'contrast makeup' from TikTok, offering product selection tips for various skin types. It provides expert advice on occasion-specific makeup, discusses environmental impacts on beauty routines, and includes skincare and hair care tips.</a:t>
            </a:r>
          </a:p>
          <a:p>
            <a:pPr lvl="0" fontAlgn="base">
              <a:lnSpc>
                <a:spcPct val="120000"/>
              </a:lnSpc>
              <a:spcBef>
                <a:spcPts val="800"/>
              </a:spcBef>
              <a:defRPr/>
            </a:pPr>
            <a:endParaRPr lang="en-US" sz="900" dirty="0">
              <a:solidFill>
                <a:srgbClr val="030712"/>
              </a:solidFill>
              <a:latin typeface="Arial" panose="020B0604020202020204" pitchFamily="34" charset="0"/>
              <a:cs typeface="Arial" panose="020B0604020202020204" pitchFamily="34" charset="0"/>
            </a:endParaRPr>
          </a:p>
        </p:txBody>
      </p:sp>
      <p:sp>
        <p:nvSpPr>
          <p:cNvPr id="13" name="Google Shape;2440;p175">
            <a:extLst>
              <a:ext uri="{FF2B5EF4-FFF2-40B4-BE49-F238E27FC236}">
                <a16:creationId xmlns:a16="http://schemas.microsoft.com/office/drawing/2014/main" id="{4BB017C0-EF25-EA58-293C-9F9A78F008BB}"/>
              </a:ext>
            </a:extLst>
          </p:cNvPr>
          <p:cNvSpPr txBox="1"/>
          <p:nvPr/>
        </p:nvSpPr>
        <p:spPr>
          <a:xfrm>
            <a:off x="6096000" y="6409995"/>
            <a:ext cx="4637404" cy="423982"/>
          </a:xfrm>
          <a:prstGeom prst="rect">
            <a:avLst/>
          </a:prstGeom>
          <a:noFill/>
          <a:ln>
            <a:noFill/>
          </a:ln>
        </p:spPr>
        <p:txBody>
          <a:bodyPr spcFirstLastPara="1" wrap="square" lIns="91433" tIns="45700" rIns="91433" bIns="45700" anchor="ctr" anchorCtr="0">
            <a:normAutofit/>
          </a:bodyPr>
          <a:lstStyle/>
          <a:p>
            <a:pPr lvl="0">
              <a:lnSpc>
                <a:spcPct val="90000"/>
              </a:lnSpc>
              <a:buClr>
                <a:srgbClr val="E8E8E8"/>
              </a:buClr>
              <a:buSzPts val="800"/>
              <a:defRPr/>
            </a:pP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SOURCE: QUID DISCOVER | AUGUST 2024 – </a:t>
            </a:r>
            <a:r>
              <a:rPr lang="en-US" sz="1067" dirty="0">
                <a:solidFill>
                  <a:srgbClr val="E8E8E8">
                    <a:lumMod val="50000"/>
                  </a:srgbClr>
                </a:solidFill>
              </a:rPr>
              <a:t>AUGUST</a:t>
            </a: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 2025 </a:t>
            </a:r>
            <a:endParaRPr kumimoji="0" lang="en-US" sz="14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endParaRPr>
          </a:p>
        </p:txBody>
      </p:sp>
      <p:graphicFrame>
        <p:nvGraphicFramePr>
          <p:cNvPr id="8" name="Table 7">
            <a:extLst>
              <a:ext uri="{FF2B5EF4-FFF2-40B4-BE49-F238E27FC236}">
                <a16:creationId xmlns:a16="http://schemas.microsoft.com/office/drawing/2014/main" id="{39C41FC5-BB0B-A966-9215-17A300FA3A73}"/>
              </a:ext>
            </a:extLst>
          </p:cNvPr>
          <p:cNvGraphicFramePr>
            <a:graphicFrameLocks noGrp="1"/>
          </p:cNvGraphicFramePr>
          <p:nvPr>
            <p:extLst>
              <p:ext uri="{D42A27DB-BD31-4B8C-83A1-F6EECF244321}">
                <p14:modId xmlns:p14="http://schemas.microsoft.com/office/powerpoint/2010/main" val="2230591036"/>
              </p:ext>
            </p:extLst>
          </p:nvPr>
        </p:nvGraphicFramePr>
        <p:xfrm>
          <a:off x="10329916" y="567987"/>
          <a:ext cx="1764523" cy="5019826"/>
        </p:xfrm>
        <a:graphic>
          <a:graphicData uri="http://schemas.openxmlformats.org/drawingml/2006/table">
            <a:tbl>
              <a:tblPr firstRow="1" bandRow="1">
                <a:tableStyleId>{5C22544A-7EE6-4342-B048-85BDC9FD1C3A}</a:tableStyleId>
              </a:tblPr>
              <a:tblGrid>
                <a:gridCol w="307387">
                  <a:extLst>
                    <a:ext uri="{9D8B030D-6E8A-4147-A177-3AD203B41FA5}">
                      <a16:colId xmlns:a16="http://schemas.microsoft.com/office/drawing/2014/main" val="20000"/>
                    </a:ext>
                  </a:extLst>
                </a:gridCol>
                <a:gridCol w="1077006">
                  <a:extLst>
                    <a:ext uri="{9D8B030D-6E8A-4147-A177-3AD203B41FA5}">
                      <a16:colId xmlns:a16="http://schemas.microsoft.com/office/drawing/2014/main" val="20001"/>
                    </a:ext>
                  </a:extLst>
                </a:gridCol>
                <a:gridCol w="380130">
                  <a:extLst>
                    <a:ext uri="{9D8B030D-6E8A-4147-A177-3AD203B41FA5}">
                      <a16:colId xmlns:a16="http://schemas.microsoft.com/office/drawing/2014/main" val="20002"/>
                    </a:ext>
                  </a:extLst>
                </a:gridCol>
              </a:tblGrid>
              <a:tr h="758262">
                <a:tc gridSpan="2">
                  <a:txBody>
                    <a:bodyPr/>
                    <a:lstStyle/>
                    <a:p>
                      <a:pPr>
                        <a:defRPr sz="1000" b="1">
                          <a:solidFill>
                            <a:srgbClr val="000000"/>
                          </a:solidFill>
                          <a:latin typeface="Calibri"/>
                        </a:defRPr>
                      </a:pPr>
                      <a:r>
                        <a:rPr sz="700" dirty="0">
                          <a:latin typeface="+mn-lt"/>
                        </a:rPr>
                        <a:t>Clusters</a:t>
                      </a:r>
                    </a:p>
                  </a:txBody>
                  <a:tcPr anchor="ctr">
                    <a:solidFill>
                      <a:srgbClr val="F7F7F7"/>
                    </a:solidFill>
                  </a:tcPr>
                </a:tc>
                <a:tc hMerge="1">
                  <a:txBody>
                    <a:bodyPr/>
                    <a:lstStyle/>
                    <a:p>
                      <a:endParaRPr/>
                    </a:p>
                  </a:txBody>
                  <a:tcPr>
                    <a:solidFill>
                      <a:srgbClr val="F7F7F7"/>
                    </a:solidFill>
                  </a:tcPr>
                </a:tc>
                <a:tc>
                  <a:txBody>
                    <a:bodyPr/>
                    <a:lstStyle/>
                    <a:p>
                      <a:endParaRPr sz="700" dirty="0">
                        <a:latin typeface="+mn-lt"/>
                      </a:endParaRPr>
                    </a:p>
                  </a:txBody>
                  <a:tcPr>
                    <a:solidFill>
                      <a:srgbClr val="F7F7F7"/>
                    </a:solidFill>
                  </a:tcPr>
                </a:tc>
                <a:extLst>
                  <a:ext uri="{0D108BD9-81ED-4DB2-BD59-A6C34878D82A}">
                    <a16:rowId xmlns:a16="http://schemas.microsoft.com/office/drawing/2014/main" val="10000"/>
                  </a:ext>
                </a:extLst>
              </a:tr>
              <a:tr h="286823">
                <a:tc>
                  <a:txBody>
                    <a:bodyPr/>
                    <a:lstStyle/>
                    <a:p>
                      <a:pPr>
                        <a:defRPr sz="1600" b="0">
                          <a:solidFill>
                            <a:srgbClr val="72C3C6"/>
                          </a:solidFill>
                          <a:latin typeface="Calibri"/>
                        </a:defRPr>
                      </a:pPr>
                      <a:r>
                        <a:rPr lang="en-IN" sz="1100" dirty="0">
                          <a:solidFill>
                            <a:srgbClr val="C15BCB"/>
                          </a:solidFill>
                          <a:latin typeface="+mn-lt"/>
                        </a:rPr>
                        <a:t>●</a:t>
                      </a:r>
                    </a:p>
                  </a:txBody>
                  <a:tcPr anchor="ctr">
                    <a:solidFill>
                      <a:srgbClr val="F7F7F7"/>
                    </a:solidFill>
                  </a:tcPr>
                </a:tc>
                <a:tc>
                  <a:txBody>
                    <a:bodyPr/>
                    <a:lstStyle/>
                    <a:p>
                      <a:pPr>
                        <a:defRPr sz="900" b="0">
                          <a:solidFill>
                            <a:srgbClr val="000000"/>
                          </a:solidFill>
                          <a:latin typeface="Calibri"/>
                        </a:defRPr>
                      </a:pPr>
                      <a:r>
                        <a:rPr lang="en-US" sz="700" b="0" dirty="0">
                          <a:latin typeface="+mn-lt"/>
                        </a:rPr>
                        <a:t>Innovative Trends in Salon and Beauty</a:t>
                      </a:r>
                    </a:p>
                  </a:txBody>
                  <a:tcPr anchor="ctr">
                    <a:solidFill>
                      <a:srgbClr val="F7F7F7"/>
                    </a:solidFill>
                  </a:tcPr>
                </a:tc>
                <a:tc>
                  <a:txBody>
                    <a:bodyPr/>
                    <a:lstStyle/>
                    <a:p>
                      <a:pPr>
                        <a:defRPr sz="900" b="0">
                          <a:solidFill>
                            <a:srgbClr val="666666"/>
                          </a:solidFill>
                          <a:latin typeface="Calibri"/>
                        </a:defRPr>
                      </a:pPr>
                      <a:r>
                        <a:rPr lang="en-US" sz="700" dirty="0">
                          <a:latin typeface="+mn-lt"/>
                        </a:rPr>
                        <a:t>29%</a:t>
                      </a:r>
                    </a:p>
                  </a:txBody>
                  <a:tcPr anchor="ctr">
                    <a:solidFill>
                      <a:srgbClr val="F7F7F7"/>
                    </a:solidFill>
                  </a:tcPr>
                </a:tc>
                <a:extLst>
                  <a:ext uri="{0D108BD9-81ED-4DB2-BD59-A6C34878D82A}">
                    <a16:rowId xmlns:a16="http://schemas.microsoft.com/office/drawing/2014/main" val="10001"/>
                  </a:ext>
                </a:extLst>
              </a:tr>
              <a:tr h="3872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600" b="0">
                          <a:solidFill>
                            <a:srgbClr val="EE7875"/>
                          </a:solidFill>
                          <a:latin typeface="Calibri"/>
                        </a:defRPr>
                      </a:pPr>
                      <a:r>
                        <a:rPr kumimoji="0" lang="en-IN" sz="1100" b="0" i="0" u="none" strike="noStrike" kern="1200" cap="none" spc="0" normalizeH="0" baseline="0" noProof="0" dirty="0">
                          <a:ln>
                            <a:noFill/>
                          </a:ln>
                          <a:solidFill>
                            <a:srgbClr val="72C3C6"/>
                          </a:solidFill>
                          <a:effectLst/>
                          <a:uLnTx/>
                          <a:uFillTx/>
                          <a:latin typeface="+mn-lt"/>
                          <a:ea typeface="+mn-ea"/>
                          <a:cs typeface="+mn-cs"/>
                        </a:rPr>
                        <a:t>●</a:t>
                      </a:r>
                      <a:endParaRPr sz="1100" dirty="0">
                        <a:solidFill>
                          <a:srgbClr val="72C3C6"/>
                        </a:solidFill>
                        <a:latin typeface="+mn-lt"/>
                      </a:endParaRP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Celeb's Influence on Beauty</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13%</a:t>
                      </a:r>
                    </a:p>
                  </a:txBody>
                  <a:tcPr anchor="ctr">
                    <a:solidFill>
                      <a:srgbClr val="F7F7F7"/>
                    </a:solidFill>
                  </a:tcPr>
                </a:tc>
                <a:extLst>
                  <a:ext uri="{0D108BD9-81ED-4DB2-BD59-A6C34878D82A}">
                    <a16:rowId xmlns:a16="http://schemas.microsoft.com/office/drawing/2014/main" val="10002"/>
                  </a:ext>
                </a:extLst>
              </a:tr>
              <a:tr h="3872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600" b="0">
                          <a:solidFill>
                            <a:srgbClr val="85D044"/>
                          </a:solidFill>
                          <a:latin typeface="Calibri"/>
                        </a:defRPr>
                      </a:pPr>
                      <a:r>
                        <a:rPr kumimoji="0" lang="en-IN" sz="1100" b="0" i="0" u="none" strike="noStrike" kern="1200" cap="none" spc="0" normalizeH="0" baseline="0" noProof="0" dirty="0">
                          <a:ln>
                            <a:noFill/>
                          </a:ln>
                          <a:solidFill>
                            <a:srgbClr val="FEDE44"/>
                          </a:solidFill>
                          <a:effectLst/>
                          <a:uLnTx/>
                          <a:uFillTx/>
                          <a:latin typeface="+mn-lt"/>
                          <a:ea typeface="+mn-ea"/>
                          <a:cs typeface="+mn-cs"/>
                        </a:rPr>
                        <a:t>●</a:t>
                      </a:r>
                      <a:endParaRPr sz="1100" dirty="0">
                        <a:solidFill>
                          <a:srgbClr val="FEDE44"/>
                        </a:solidFill>
                        <a:latin typeface="+mn-lt"/>
                      </a:endParaRP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Beauty Trends and Tips</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7.7%</a:t>
                      </a:r>
                    </a:p>
                  </a:txBody>
                  <a:tcPr anchor="ctr">
                    <a:solidFill>
                      <a:srgbClr val="F7F7F7"/>
                    </a:solidFill>
                  </a:tcPr>
                </a:tc>
                <a:extLst>
                  <a:ext uri="{0D108BD9-81ED-4DB2-BD59-A6C34878D82A}">
                    <a16:rowId xmlns:a16="http://schemas.microsoft.com/office/drawing/2014/main" val="10003"/>
                  </a:ext>
                </a:extLst>
              </a:tr>
              <a:tr h="387211">
                <a:tc>
                  <a:txBody>
                    <a:bodyPr/>
                    <a:lstStyle/>
                    <a:p>
                      <a:pPr>
                        <a:defRPr sz="1600" b="0">
                          <a:solidFill>
                            <a:srgbClr val="C15BCB"/>
                          </a:solidFill>
                          <a:latin typeface="Calibri"/>
                        </a:defRPr>
                      </a:pPr>
                      <a:r>
                        <a:rPr lang="en-IN" sz="1100" dirty="0">
                          <a:solidFill>
                            <a:srgbClr val="F7ADA5"/>
                          </a:solidFill>
                          <a:latin typeface="+mn-lt"/>
                        </a:rPr>
                        <a:t>●</a:t>
                      </a: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Influential Makeup Artists in Entertainment</a:t>
                      </a:r>
                    </a:p>
                  </a:txBody>
                  <a:tcPr anchor="ctr">
                    <a:solidFill>
                      <a:srgbClr val="F7F7F7"/>
                    </a:solidFill>
                  </a:tcPr>
                </a:tc>
                <a:tc>
                  <a:txBody>
                    <a:bodyPr/>
                    <a:lstStyle/>
                    <a:p>
                      <a:pPr>
                        <a:defRPr sz="900" b="0">
                          <a:solidFill>
                            <a:srgbClr val="666666"/>
                          </a:solidFill>
                          <a:latin typeface="Calibri"/>
                        </a:defRPr>
                      </a:pPr>
                      <a:r>
                        <a:rPr lang="en-US" sz="700" dirty="0">
                          <a:latin typeface="+mn-lt"/>
                        </a:rPr>
                        <a:t>7.5%</a:t>
                      </a:r>
                    </a:p>
                  </a:txBody>
                  <a:tcPr anchor="ctr">
                    <a:solidFill>
                      <a:srgbClr val="F7F7F7"/>
                    </a:solidFill>
                  </a:tcPr>
                </a:tc>
                <a:extLst>
                  <a:ext uri="{0D108BD9-81ED-4DB2-BD59-A6C34878D82A}">
                    <a16:rowId xmlns:a16="http://schemas.microsoft.com/office/drawing/2014/main" val="10004"/>
                  </a:ext>
                </a:extLst>
              </a:tr>
              <a:tr h="387211">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a:solidFill>
                            <a:srgbClr val="FEDE44"/>
                          </a:solidFill>
                          <a:latin typeface="Calibri"/>
                        </a:defRPr>
                      </a:pPr>
                      <a:r>
                        <a:rPr kumimoji="0" lang="en-IN" sz="1100" b="0" i="0" u="none" strike="noStrike" kern="1200" cap="none" spc="0" normalizeH="0" baseline="0" noProof="0" dirty="0">
                          <a:ln>
                            <a:noFill/>
                          </a:ln>
                          <a:solidFill>
                            <a:srgbClr val="D13C44"/>
                          </a:solidFill>
                          <a:effectLst/>
                          <a:uLnTx/>
                          <a:uFillTx/>
                          <a:latin typeface="+mn-lt"/>
                          <a:ea typeface="+mn-ea"/>
                          <a:cs typeface="+mn-cs"/>
                        </a:rPr>
                        <a:t>●</a:t>
                      </a:r>
                      <a:endParaRPr sz="1100" dirty="0">
                        <a:solidFill>
                          <a:srgbClr val="D13C44"/>
                        </a:solidFill>
                        <a:latin typeface="+mn-lt"/>
                      </a:endParaRP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Emerging Sustainable Trends in Cosmetics</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6.4%</a:t>
                      </a:r>
                    </a:p>
                  </a:txBody>
                  <a:tcPr anchor="ctr">
                    <a:solidFill>
                      <a:srgbClr val="F7F7F7"/>
                    </a:solidFill>
                  </a:tcPr>
                </a:tc>
                <a:extLst>
                  <a:ext uri="{0D108BD9-81ED-4DB2-BD59-A6C34878D82A}">
                    <a16:rowId xmlns:a16="http://schemas.microsoft.com/office/drawing/2014/main" val="10005"/>
                  </a:ext>
                </a:extLst>
              </a:tr>
              <a:tr h="3872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600" b="0">
                          <a:solidFill>
                            <a:srgbClr val="1B959A"/>
                          </a:solidFill>
                          <a:latin typeface="Calibri"/>
                        </a:defRPr>
                      </a:pPr>
                      <a:r>
                        <a:rPr kumimoji="0" lang="en-IN" sz="1100" b="0" i="0" u="none" strike="noStrike" kern="1200" cap="none" spc="0" normalizeH="0" baseline="0" noProof="0" dirty="0">
                          <a:ln>
                            <a:noFill/>
                          </a:ln>
                          <a:solidFill>
                            <a:srgbClr val="57A1E7"/>
                          </a:solidFill>
                          <a:effectLst/>
                          <a:uLnTx/>
                          <a:uFillTx/>
                          <a:latin typeface="+mn-lt"/>
                          <a:ea typeface="+mn-ea"/>
                          <a:cs typeface="+mn-cs"/>
                        </a:rPr>
                        <a:t>●</a:t>
                      </a:r>
                      <a:endParaRPr sz="1100" dirty="0">
                        <a:solidFill>
                          <a:srgbClr val="57A1E7"/>
                        </a:solidFill>
                        <a:latin typeface="+mn-lt"/>
                      </a:endParaRP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Advancements in Hair Treatment Technologies</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6.0%</a:t>
                      </a:r>
                    </a:p>
                  </a:txBody>
                  <a:tcPr anchor="ctr">
                    <a:solidFill>
                      <a:srgbClr val="F7F7F7"/>
                    </a:solidFill>
                  </a:tcPr>
                </a:tc>
                <a:extLst>
                  <a:ext uri="{0D108BD9-81ED-4DB2-BD59-A6C34878D82A}">
                    <a16:rowId xmlns:a16="http://schemas.microsoft.com/office/drawing/2014/main" val="10006"/>
                  </a:ext>
                </a:extLst>
              </a:tr>
              <a:tr h="286823">
                <a:tc>
                  <a:txBody>
                    <a:bodyPr/>
                    <a:lstStyle/>
                    <a:p>
                      <a:pPr>
                        <a:defRPr sz="1600" b="0">
                          <a:solidFill>
                            <a:srgbClr val="EE7875"/>
                          </a:solidFill>
                          <a:latin typeface="Calibri"/>
                        </a:defRPr>
                      </a:pPr>
                      <a:r>
                        <a:rPr lang="en-IN" sz="1100" dirty="0">
                          <a:solidFill>
                            <a:srgbClr val="2B7232"/>
                          </a:solidFill>
                          <a:latin typeface="+mn-lt"/>
                        </a:rPr>
                        <a:t>●</a:t>
                      </a: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TikTok Makeup Trends and Artist Tips</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5.5</a:t>
                      </a:r>
                      <a:r>
                        <a:rPr sz="700" dirty="0">
                          <a:latin typeface="+mn-lt"/>
                        </a:rPr>
                        <a:t>%</a:t>
                      </a:r>
                    </a:p>
                  </a:txBody>
                  <a:tcPr anchor="ctr">
                    <a:solidFill>
                      <a:srgbClr val="F7F7F7"/>
                    </a:solidFill>
                  </a:tcPr>
                </a:tc>
                <a:extLst>
                  <a:ext uri="{0D108BD9-81ED-4DB2-BD59-A6C34878D82A}">
                    <a16:rowId xmlns:a16="http://schemas.microsoft.com/office/drawing/2014/main" val="10007"/>
                  </a:ext>
                </a:extLst>
              </a:tr>
              <a:tr h="286823">
                <a:tc>
                  <a:txBody>
                    <a:bodyPr/>
                    <a:lstStyle/>
                    <a:p>
                      <a:pPr>
                        <a:defRPr sz="1600" b="0">
                          <a:solidFill>
                            <a:srgbClr val="D13C44"/>
                          </a:solidFill>
                          <a:latin typeface="Calibri"/>
                        </a:defRPr>
                      </a:pPr>
                      <a:r>
                        <a:rPr lang="en-IN" sz="1100" dirty="0">
                          <a:solidFill>
                            <a:srgbClr val="D4672D"/>
                          </a:solidFill>
                          <a:latin typeface="+mn-lt"/>
                        </a:rPr>
                        <a:t>●</a:t>
                      </a: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Bridal Makeup: Trends and Artist Roles</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4.9</a:t>
                      </a:r>
                      <a:r>
                        <a:rPr sz="700" dirty="0">
                          <a:latin typeface="+mn-lt"/>
                        </a:rPr>
                        <a:t>%</a:t>
                      </a:r>
                    </a:p>
                  </a:txBody>
                  <a:tcPr anchor="ctr">
                    <a:solidFill>
                      <a:srgbClr val="F7F7F7"/>
                    </a:solidFill>
                  </a:tcPr>
                </a:tc>
                <a:extLst>
                  <a:ext uri="{0D108BD9-81ED-4DB2-BD59-A6C34878D82A}">
                    <a16:rowId xmlns:a16="http://schemas.microsoft.com/office/drawing/2014/main" val="10008"/>
                  </a:ext>
                </a:extLst>
              </a:tr>
              <a:tr h="286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600" b="0">
                          <a:solidFill>
                            <a:srgbClr val="57A1E7"/>
                          </a:solidFill>
                          <a:latin typeface="Calibri"/>
                        </a:defRPr>
                      </a:pPr>
                      <a:r>
                        <a:rPr kumimoji="0" lang="en-IN" sz="1100" b="0" i="0" u="none" strike="noStrike" kern="1200" cap="none" spc="0" normalizeH="0" baseline="0" noProof="0" dirty="0">
                          <a:ln>
                            <a:noFill/>
                          </a:ln>
                          <a:solidFill>
                            <a:srgbClr val="4444B0"/>
                          </a:solidFill>
                          <a:effectLst/>
                          <a:uLnTx/>
                          <a:uFillTx/>
                          <a:latin typeface="+mn-lt"/>
                          <a:ea typeface="+mn-ea"/>
                          <a:cs typeface="+mn-cs"/>
                        </a:rPr>
                        <a:t>●</a:t>
                      </a:r>
                      <a:endParaRPr sz="1100" dirty="0">
                        <a:solidFill>
                          <a:srgbClr val="4444B0"/>
                        </a:solidFill>
                        <a:latin typeface="+mn-lt"/>
                      </a:endParaRP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Cosmetic Chemicals: Health Risks and Regulation</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4.2</a:t>
                      </a:r>
                      <a:r>
                        <a:rPr sz="700" dirty="0">
                          <a:latin typeface="+mn-lt"/>
                        </a:rPr>
                        <a:t>%</a:t>
                      </a:r>
                    </a:p>
                  </a:txBody>
                  <a:tcPr anchor="ctr">
                    <a:solidFill>
                      <a:srgbClr val="F7F7F7"/>
                    </a:solidFill>
                  </a:tcPr>
                </a:tc>
                <a:extLst>
                  <a:ext uri="{0D108BD9-81ED-4DB2-BD59-A6C34878D82A}">
                    <a16:rowId xmlns:a16="http://schemas.microsoft.com/office/drawing/2014/main" val="10009"/>
                  </a:ext>
                </a:extLst>
              </a:tr>
              <a:tr h="387211">
                <a:tc>
                  <a:txBody>
                    <a:bodyPr/>
                    <a:lstStyle/>
                    <a:p>
                      <a:pPr>
                        <a:defRPr sz="1600" b="0">
                          <a:solidFill>
                            <a:srgbClr val="2B7232"/>
                          </a:solidFill>
                          <a:latin typeface="Calibri"/>
                        </a:defRPr>
                      </a:pPr>
                      <a:r>
                        <a:rPr lang="en-IN" sz="1100" dirty="0">
                          <a:solidFill>
                            <a:srgbClr val="F7AC07"/>
                          </a:solidFill>
                          <a:latin typeface="+mn-lt"/>
                        </a:rPr>
                        <a:t>●</a:t>
                      </a: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Innovative Trends in Hair Care Brands</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2.8</a:t>
                      </a:r>
                      <a:r>
                        <a:rPr sz="700" dirty="0">
                          <a:latin typeface="+mn-lt"/>
                        </a:rPr>
                        <a:t>%</a:t>
                      </a:r>
                    </a:p>
                  </a:txBody>
                  <a:tcPr anchor="ctr">
                    <a:solidFill>
                      <a:srgbClr val="F7F7F7"/>
                    </a:solidFill>
                  </a:tcPr>
                </a:tc>
                <a:extLst>
                  <a:ext uri="{0D108BD9-81ED-4DB2-BD59-A6C34878D82A}">
                    <a16:rowId xmlns:a16="http://schemas.microsoft.com/office/drawing/2014/main" val="10010"/>
                  </a:ext>
                </a:extLst>
              </a:tr>
              <a:tr h="243800">
                <a:tc>
                  <a:txBody>
                    <a:bodyPr/>
                    <a:lstStyle/>
                    <a:p>
                      <a:pPr marL="0" indent="0">
                        <a:buClr>
                          <a:srgbClr val="CC6600"/>
                        </a:buClr>
                        <a:buFont typeface="Arial" panose="020B0604020202020204" pitchFamily="34" charset="0"/>
                        <a:buNone/>
                        <a:defRPr sz="1600" b="0">
                          <a:solidFill>
                            <a:srgbClr val="D4672D"/>
                          </a:solidFill>
                          <a:latin typeface="Calibri"/>
                        </a:defRPr>
                      </a:pPr>
                      <a:r>
                        <a:rPr lang="en-IN" sz="1100" dirty="0">
                          <a:solidFill>
                            <a:srgbClr val="BD2D7C"/>
                          </a:solidFill>
                          <a:latin typeface="+mn-lt"/>
                        </a:rPr>
                        <a:t>●</a:t>
                      </a:r>
                    </a:p>
                  </a:txBody>
                  <a:tcPr anchor="ctr">
                    <a:solidFill>
                      <a:srgbClr val="F7F7F7"/>
                    </a:solidFill>
                  </a:tcPr>
                </a:tc>
                <a:tc>
                  <a:txBody>
                    <a:bodyPr/>
                    <a:lstStyle/>
                    <a:p>
                      <a:pPr>
                        <a:defRPr sz="900" b="0">
                          <a:solidFill>
                            <a:srgbClr val="000000"/>
                          </a:solidFill>
                          <a:latin typeface="Calibri"/>
                        </a:defRPr>
                      </a:pPr>
                      <a:r>
                        <a:rPr lang="en-IN" sz="700" b="0" i="0" kern="1200" dirty="0">
                          <a:solidFill>
                            <a:schemeClr val="dk1"/>
                          </a:solidFill>
                          <a:effectLst/>
                          <a:latin typeface="+mn-lt"/>
                          <a:ea typeface="+mn-ea"/>
                          <a:cs typeface="+mn-cs"/>
                        </a:rPr>
                        <a:t>Eco Beauty Market</a:t>
                      </a:r>
                      <a:endParaRPr lang="en-IN"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2.8</a:t>
                      </a:r>
                      <a:r>
                        <a:rPr sz="700" dirty="0">
                          <a:latin typeface="+mn-lt"/>
                        </a:rPr>
                        <a:t>%</a:t>
                      </a:r>
                    </a:p>
                  </a:txBody>
                  <a:tcPr anchor="ctr">
                    <a:solidFill>
                      <a:srgbClr val="F7F7F7"/>
                    </a:solidFill>
                  </a:tcPr>
                </a:tc>
                <a:extLst>
                  <a:ext uri="{0D108BD9-81ED-4DB2-BD59-A6C34878D82A}">
                    <a16:rowId xmlns:a16="http://schemas.microsoft.com/office/drawing/2014/main" val="10011"/>
                  </a:ext>
                </a:extLst>
              </a:tr>
              <a:tr h="286823">
                <a:tc>
                  <a:txBody>
                    <a:bodyPr/>
                    <a:lstStyle/>
                    <a:p>
                      <a:pPr>
                        <a:defRPr sz="1600" b="0">
                          <a:solidFill>
                            <a:srgbClr val="4444B0"/>
                          </a:solidFill>
                          <a:latin typeface="Calibri"/>
                        </a:defRPr>
                      </a:pPr>
                      <a:r>
                        <a:rPr lang="en-IN" sz="1100" dirty="0">
                          <a:latin typeface="+mn-lt"/>
                        </a:rPr>
                        <a:t>●</a:t>
                      </a:r>
                    </a:p>
                  </a:txBody>
                  <a:tcPr anchor="ctr">
                    <a:solidFill>
                      <a:srgbClr val="F7F7F7"/>
                    </a:solidFill>
                  </a:tcPr>
                </a:tc>
                <a:tc>
                  <a:txBody>
                    <a:bodyPr/>
                    <a:lstStyle/>
                    <a:p>
                      <a:pPr>
                        <a:defRPr sz="900" b="0">
                          <a:solidFill>
                            <a:srgbClr val="000000"/>
                          </a:solidFill>
                          <a:latin typeface="Calibri"/>
                        </a:defRPr>
                      </a:pPr>
                      <a:r>
                        <a:rPr lang="en-US" sz="700" b="0" i="0" kern="1200" dirty="0">
                          <a:solidFill>
                            <a:schemeClr val="dk1"/>
                          </a:solidFill>
                          <a:effectLst/>
                          <a:latin typeface="+mn-lt"/>
                          <a:ea typeface="+mn-ea"/>
                          <a:cs typeface="+mn-cs"/>
                        </a:rPr>
                        <a:t>Forecast and Trends in Cosmetic Industry</a:t>
                      </a:r>
                      <a:endParaRPr lang="en-US" sz="700" b="0" dirty="0">
                        <a:latin typeface="+mn-lt"/>
                      </a:endParaRPr>
                    </a:p>
                  </a:txBody>
                  <a:tcPr anchor="ctr">
                    <a:solidFill>
                      <a:srgbClr val="F7F7F7"/>
                    </a:solidFill>
                  </a:tcPr>
                </a:tc>
                <a:tc>
                  <a:txBody>
                    <a:bodyPr/>
                    <a:lstStyle/>
                    <a:p>
                      <a:pPr>
                        <a:defRPr sz="900" b="0">
                          <a:solidFill>
                            <a:srgbClr val="666666"/>
                          </a:solidFill>
                          <a:latin typeface="Calibri"/>
                        </a:defRPr>
                      </a:pPr>
                      <a:r>
                        <a:rPr lang="en-US" sz="700" dirty="0">
                          <a:latin typeface="+mn-lt"/>
                        </a:rPr>
                        <a:t>2.5</a:t>
                      </a:r>
                      <a:r>
                        <a:rPr sz="700" dirty="0">
                          <a:latin typeface="+mn-lt"/>
                        </a:rPr>
                        <a:t>%</a:t>
                      </a:r>
                    </a:p>
                  </a:txBody>
                  <a:tcPr anchor="ctr">
                    <a:solidFill>
                      <a:srgbClr val="F7F7F7"/>
                    </a:solidFill>
                  </a:tcPr>
                </a:tc>
                <a:extLst>
                  <a:ext uri="{0D108BD9-81ED-4DB2-BD59-A6C34878D82A}">
                    <a16:rowId xmlns:a16="http://schemas.microsoft.com/office/drawing/2014/main" val="10012"/>
                  </a:ext>
                </a:extLst>
              </a:tr>
            </a:tbl>
          </a:graphicData>
        </a:graphic>
      </p:graphicFrame>
      <p:sp>
        <p:nvSpPr>
          <p:cNvPr id="2" name="Text Placeholder 26">
            <a:extLst>
              <a:ext uri="{FF2B5EF4-FFF2-40B4-BE49-F238E27FC236}">
                <a16:creationId xmlns:a16="http://schemas.microsoft.com/office/drawing/2014/main" id="{77339259-1273-748A-ED64-D49FD00D54CE}"/>
              </a:ext>
            </a:extLst>
          </p:cNvPr>
          <p:cNvSpPr txBox="1">
            <a:spLocks/>
          </p:cNvSpPr>
          <p:nvPr/>
        </p:nvSpPr>
        <p:spPr>
          <a:xfrm>
            <a:off x="415819" y="309673"/>
            <a:ext cx="4989806" cy="743089"/>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300"/>
              </a:spcBef>
              <a:buNone/>
            </a:pPr>
            <a:r>
              <a:rPr lang="en-US" sz="3200" b="1" dirty="0">
                <a:latin typeface="Aptos SemiBold" panose="020B0004020202020204" pitchFamily="34" charset="0"/>
              </a:rPr>
              <a:t>Category Landscape</a:t>
            </a:r>
          </a:p>
        </p:txBody>
      </p:sp>
      <p:pic>
        <p:nvPicPr>
          <p:cNvPr id="9" name="Picture 8" descr="A colorful text on a black background&#10;&#10;AI-generated content may be incorrect.">
            <a:extLst>
              <a:ext uri="{FF2B5EF4-FFF2-40B4-BE49-F238E27FC236}">
                <a16:creationId xmlns:a16="http://schemas.microsoft.com/office/drawing/2014/main" id="{41C8F79A-F577-74B0-39FD-38AAF6EE7D4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5727470" y="1868512"/>
            <a:ext cx="4602446" cy="2810517"/>
          </a:xfrm>
          <a:prstGeom prst="rect">
            <a:avLst/>
          </a:prstGeom>
        </p:spPr>
      </p:pic>
    </p:spTree>
    <p:extLst>
      <p:ext uri="{BB962C8B-B14F-4D97-AF65-F5344CB8AC3E}">
        <p14:creationId xmlns:p14="http://schemas.microsoft.com/office/powerpoint/2010/main" val="1104462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2DF35-D60C-0753-B04D-21BA29D3287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9FE6493-FE2B-BD7A-3FE5-0C2D0317B5B0}"/>
              </a:ext>
            </a:extLst>
          </p:cNvPr>
          <p:cNvSpPr/>
          <p:nvPr/>
        </p:nvSpPr>
        <p:spPr>
          <a:xfrm flipV="1">
            <a:off x="1" y="0"/>
            <a:ext cx="12192000" cy="136978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Google Shape;2436;p175">
            <a:extLst>
              <a:ext uri="{FF2B5EF4-FFF2-40B4-BE49-F238E27FC236}">
                <a16:creationId xmlns:a16="http://schemas.microsoft.com/office/drawing/2014/main" id="{931E9EBB-DBEA-CF49-71A6-28B6EFECC762}"/>
              </a:ext>
            </a:extLst>
          </p:cNvPr>
          <p:cNvSpPr txBox="1"/>
          <p:nvPr/>
        </p:nvSpPr>
        <p:spPr>
          <a:xfrm>
            <a:off x="5323767" y="382761"/>
            <a:ext cx="6588369" cy="954093"/>
          </a:xfrm>
          <a:prstGeom prst="rect">
            <a:avLst/>
          </a:prstGeom>
          <a:noFill/>
          <a:ln>
            <a:noFill/>
          </a:ln>
        </p:spPr>
        <p:txBody>
          <a:bodyPr spcFirstLastPara="1" wrap="square" lIns="91433" tIns="91433" rIns="91433" bIns="91433" anchor="t" anchorCtr="0">
            <a:spAutoFit/>
          </a:bodyPr>
          <a:lstStyle/>
          <a:p>
            <a:r>
              <a:rPr lang="en-US" sz="1000" dirty="0">
                <a:solidFill>
                  <a:prstClr val="black"/>
                </a:solidFill>
                <a:latin typeface="Arial"/>
                <a:cs typeface="Arial"/>
              </a:rPr>
              <a:t>Benefit Brow Bar dominated brand conversation, fueled by viral creator content, strategic product collaborations, and memorable service experiences. Drybar followed with trend-led buzz and the popularity of its styling tools, despite pockets of user concern. Blo Blow Dry Bar, Glamsquad, and Blushington generated targeted attention through expansion announcements, milestone makeovers, and inclusive beauty initiatives, each receiving varied levels of service feedback.</a:t>
            </a:r>
          </a:p>
        </p:txBody>
      </p:sp>
      <p:sp>
        <p:nvSpPr>
          <p:cNvPr id="9" name="TextBox 8">
            <a:extLst>
              <a:ext uri="{FF2B5EF4-FFF2-40B4-BE49-F238E27FC236}">
                <a16:creationId xmlns:a16="http://schemas.microsoft.com/office/drawing/2014/main" id="{AB4EC2BA-34BF-A027-82E7-2AA2B13E10E7}"/>
              </a:ext>
            </a:extLst>
          </p:cNvPr>
          <p:cNvSpPr txBox="1"/>
          <p:nvPr/>
        </p:nvSpPr>
        <p:spPr>
          <a:xfrm>
            <a:off x="5815677" y="1471266"/>
            <a:ext cx="1829090" cy="307777"/>
          </a:xfrm>
          <a:prstGeom prst="rect">
            <a:avLst/>
          </a:prstGeom>
          <a:noFill/>
        </p:spPr>
        <p:txBody>
          <a:bodyPr wrap="none"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030A0"/>
                </a:solidFill>
                <a:effectLst/>
                <a:uLnTx/>
                <a:uFillTx/>
                <a:latin typeface="Arial" panose="020B0604020202020204" pitchFamily="34" charset="0"/>
                <a:cs typeface="Arial" panose="020B0604020202020204" pitchFamily="34" charset="0"/>
              </a:rPr>
              <a:t>Sentiment Analysis</a:t>
            </a:r>
          </a:p>
        </p:txBody>
      </p:sp>
      <p:sp>
        <p:nvSpPr>
          <p:cNvPr id="3" name="TextBox 2">
            <a:extLst>
              <a:ext uri="{FF2B5EF4-FFF2-40B4-BE49-F238E27FC236}">
                <a16:creationId xmlns:a16="http://schemas.microsoft.com/office/drawing/2014/main" id="{0E83E8D8-2A18-D814-F4FB-FC5DA18AEFA3}"/>
              </a:ext>
            </a:extLst>
          </p:cNvPr>
          <p:cNvSpPr txBox="1"/>
          <p:nvPr/>
        </p:nvSpPr>
        <p:spPr>
          <a:xfrm>
            <a:off x="383694" y="1471266"/>
            <a:ext cx="2065933" cy="307777"/>
          </a:xfrm>
          <a:prstGeom prst="rect">
            <a:avLst/>
          </a:prstGeom>
          <a:noFill/>
        </p:spPr>
        <p:txBody>
          <a:bodyPr wrap="square" rtlCol="0" anchor="ctr">
            <a:spAutoFit/>
          </a:bodyPr>
          <a:lstStyle/>
          <a:p>
            <a:pPr>
              <a:defRPr/>
            </a:pPr>
            <a:r>
              <a:rPr lang="en-US" sz="1400" b="1" dirty="0">
                <a:solidFill>
                  <a:srgbClr val="7030A0"/>
                </a:solidFill>
                <a:latin typeface="Arial" panose="020B0604020202020204" pitchFamily="34" charset="0"/>
                <a:cs typeface="Arial" panose="020B0604020202020204" pitchFamily="34" charset="0"/>
              </a:rPr>
              <a:t>SOV Analysis</a:t>
            </a:r>
          </a:p>
        </p:txBody>
      </p:sp>
      <p:sp>
        <p:nvSpPr>
          <p:cNvPr id="2" name="Text Placeholder 26">
            <a:extLst>
              <a:ext uri="{FF2B5EF4-FFF2-40B4-BE49-F238E27FC236}">
                <a16:creationId xmlns:a16="http://schemas.microsoft.com/office/drawing/2014/main" id="{5C54A567-FCD6-C05B-927E-B54AF29DB750}"/>
              </a:ext>
            </a:extLst>
          </p:cNvPr>
          <p:cNvSpPr txBox="1">
            <a:spLocks/>
          </p:cNvSpPr>
          <p:nvPr/>
        </p:nvSpPr>
        <p:spPr>
          <a:xfrm>
            <a:off x="515286" y="380205"/>
            <a:ext cx="4422474" cy="740203"/>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300"/>
              </a:spcBef>
              <a:buNone/>
            </a:pPr>
            <a:r>
              <a:rPr lang="en-US" sz="3200" b="1" dirty="0">
                <a:latin typeface="Aptos SemiBold" panose="020B0004020202020204" pitchFamily="34" charset="0"/>
              </a:rPr>
              <a:t>Brand Analysis</a:t>
            </a:r>
          </a:p>
        </p:txBody>
      </p:sp>
      <p:cxnSp>
        <p:nvCxnSpPr>
          <p:cNvPr id="7" name="Straight Connector 6">
            <a:extLst>
              <a:ext uri="{FF2B5EF4-FFF2-40B4-BE49-F238E27FC236}">
                <a16:creationId xmlns:a16="http://schemas.microsoft.com/office/drawing/2014/main" id="{3A892EFF-3504-ACBE-34DF-1637DDF24455}"/>
              </a:ext>
            </a:extLst>
          </p:cNvPr>
          <p:cNvCxnSpPr>
            <a:cxnSpLocks/>
          </p:cNvCxnSpPr>
          <p:nvPr/>
        </p:nvCxnSpPr>
        <p:spPr>
          <a:xfrm flipV="1">
            <a:off x="5571144" y="1372674"/>
            <a:ext cx="0" cy="5532120"/>
          </a:xfrm>
          <a:prstGeom prst="line">
            <a:avLst/>
          </a:prstGeom>
          <a:ln w="15875">
            <a:solidFill>
              <a:schemeClr val="bg1">
                <a:lumMod val="85000"/>
                <a:alpha val="27000"/>
              </a:schemeClr>
            </a:solidFill>
          </a:ln>
        </p:spPr>
        <p:style>
          <a:lnRef idx="2">
            <a:schemeClr val="accent1"/>
          </a:lnRef>
          <a:fillRef idx="0">
            <a:schemeClr val="accent1"/>
          </a:fillRef>
          <a:effectRef idx="1">
            <a:schemeClr val="accent1"/>
          </a:effectRef>
          <a:fontRef idx="minor">
            <a:schemeClr val="tx1"/>
          </a:fontRef>
        </p:style>
      </p:cxnSp>
      <p:graphicFrame>
        <p:nvGraphicFramePr>
          <p:cNvPr id="4" name="Chart 3">
            <a:extLst>
              <a:ext uri="{FF2B5EF4-FFF2-40B4-BE49-F238E27FC236}">
                <a16:creationId xmlns:a16="http://schemas.microsoft.com/office/drawing/2014/main" id="{763FEDB1-A758-78B1-427F-E372FF2AC129}"/>
              </a:ext>
            </a:extLst>
          </p:cNvPr>
          <p:cNvGraphicFramePr/>
          <p:nvPr>
            <p:extLst>
              <p:ext uri="{D42A27DB-BD31-4B8C-83A1-F6EECF244321}">
                <p14:modId xmlns:p14="http://schemas.microsoft.com/office/powerpoint/2010/main" val="50827067"/>
              </p:ext>
            </p:extLst>
          </p:nvPr>
        </p:nvGraphicFramePr>
        <p:xfrm>
          <a:off x="5633451" y="1631527"/>
          <a:ext cx="5969002" cy="223121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2B002C09-3484-0280-8755-8CF1C82A6AF3}"/>
              </a:ext>
            </a:extLst>
          </p:cNvPr>
          <p:cNvGraphicFramePr/>
          <p:nvPr>
            <p:extLst>
              <p:ext uri="{D42A27DB-BD31-4B8C-83A1-F6EECF244321}">
                <p14:modId xmlns:p14="http://schemas.microsoft.com/office/powerpoint/2010/main" val="1717942454"/>
              </p:ext>
            </p:extLst>
          </p:nvPr>
        </p:nvGraphicFramePr>
        <p:xfrm>
          <a:off x="54608" y="1866780"/>
          <a:ext cx="5055859" cy="1935871"/>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AFB84410-8AA4-B8E8-60C0-2F39A958F83A}"/>
              </a:ext>
            </a:extLst>
          </p:cNvPr>
          <p:cNvSpPr txBox="1"/>
          <p:nvPr/>
        </p:nvSpPr>
        <p:spPr>
          <a:xfrm>
            <a:off x="5781573" y="4110109"/>
            <a:ext cx="5936813" cy="2369880"/>
          </a:xfrm>
          <a:prstGeom prst="rect">
            <a:avLst/>
          </a:prstGeom>
          <a:noFill/>
          <a:ln>
            <a:noFill/>
          </a:ln>
        </p:spPr>
        <p:txBody>
          <a:bodyPr wrap="square" rtlCol="0" anchor="ctr">
            <a:spAutoFit/>
          </a:bodyPr>
          <a:lstStyle/>
          <a:p>
            <a:pPr marL="171450" indent="-171450">
              <a:spcAft>
                <a:spcPts val="600"/>
              </a:spcAft>
              <a:buFont typeface="Arial" panose="020B0604020202020204" pitchFamily="34" charset="0"/>
              <a:buChar char="•"/>
            </a:pPr>
            <a:r>
              <a:rPr lang="en-US" sz="800" b="1" dirty="0">
                <a:latin typeface="Arial" panose="020B0604020202020204" pitchFamily="34" charset="0"/>
                <a:cs typeface="Arial" panose="020B0604020202020204" pitchFamily="34" charset="0"/>
              </a:rPr>
              <a:t>Benefit Brow Bar </a:t>
            </a:r>
            <a:r>
              <a:rPr lang="en-US" sz="800" dirty="0">
                <a:latin typeface="Arial" panose="020B0604020202020204" pitchFamily="34" charset="0"/>
                <a:cs typeface="Arial" panose="020B0604020202020204" pitchFamily="34" charset="0"/>
              </a:rPr>
              <a:t>at Ulta</a:t>
            </a:r>
            <a:r>
              <a:rPr lang="en-US" sz="800" dirty="0">
                <a:solidFill>
                  <a:schemeClr val="accent6"/>
                </a:solidFill>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received</a:t>
            </a:r>
            <a:r>
              <a:rPr lang="en-US" sz="800" dirty="0">
                <a:solidFill>
                  <a:schemeClr val="accent6"/>
                </a:solidFill>
                <a:latin typeface="Arial" panose="020B0604020202020204" pitchFamily="34" charset="0"/>
                <a:cs typeface="Arial" panose="020B0604020202020204" pitchFamily="34" charset="0"/>
              </a:rPr>
              <a:t> praise </a:t>
            </a:r>
            <a:r>
              <a:rPr lang="en-US" sz="800" dirty="0">
                <a:latin typeface="Arial" panose="020B0604020202020204" pitchFamily="34" charset="0"/>
                <a:cs typeface="Arial" panose="020B0604020202020204" pitchFamily="34" charset="0"/>
              </a:rPr>
              <a:t>for its precise brow sculpting and warm, attentive service. Enthusiasm spiked around Taeyeon’s brow pen collaboration and the Cookie Highlighter’s glossy finish, which inspired viral TikTok content. However, some beauty editors noted comparable dupes under $12, sparking mild </a:t>
            </a:r>
            <a:r>
              <a:rPr lang="en-US" sz="800" dirty="0">
                <a:solidFill>
                  <a:srgbClr val="FF0000"/>
                </a:solidFill>
                <a:latin typeface="Arial" panose="020B0604020202020204" pitchFamily="34" charset="0"/>
                <a:cs typeface="Arial" panose="020B0604020202020204" pitchFamily="34" charset="0"/>
              </a:rPr>
              <a:t>pushback </a:t>
            </a:r>
            <a:r>
              <a:rPr lang="en-US" sz="800" dirty="0">
                <a:latin typeface="Arial" panose="020B0604020202020204" pitchFamily="34" charset="0"/>
                <a:cs typeface="Arial" panose="020B0604020202020204" pitchFamily="34" charset="0"/>
              </a:rPr>
              <a:t>on pricing.</a:t>
            </a:r>
          </a:p>
          <a:p>
            <a:pPr marL="171450" indent="-171450">
              <a:spcAft>
                <a:spcPts val="600"/>
              </a:spcAft>
              <a:buFont typeface="Arial" panose="020B0604020202020204" pitchFamily="34" charset="0"/>
              <a:buChar char="•"/>
            </a:pPr>
            <a:r>
              <a:rPr lang="en-US" sz="800" b="1" dirty="0">
                <a:latin typeface="Arial" panose="020B0604020202020204" pitchFamily="34" charset="0"/>
                <a:cs typeface="Arial" panose="020B0604020202020204" pitchFamily="34" charset="0"/>
              </a:rPr>
              <a:t>Drybar</a:t>
            </a:r>
            <a:r>
              <a:rPr lang="en-US" sz="800" dirty="0">
                <a:latin typeface="Arial" panose="020B0604020202020204" pitchFamily="34" charset="0"/>
                <a:cs typeface="Arial" panose="020B0604020202020204" pitchFamily="34" charset="0"/>
              </a:rPr>
              <a:t> gained </a:t>
            </a:r>
            <a:r>
              <a:rPr lang="en-US" sz="800" dirty="0">
                <a:solidFill>
                  <a:schemeClr val="accent6"/>
                </a:solidFill>
                <a:latin typeface="Arial" panose="020B0604020202020204" pitchFamily="34" charset="0"/>
                <a:cs typeface="Arial" panose="020B0604020202020204" pitchFamily="34" charset="0"/>
              </a:rPr>
              <a:t>momentum </a:t>
            </a:r>
            <a:r>
              <a:rPr lang="en-US" sz="800" dirty="0">
                <a:latin typeface="Arial" panose="020B0604020202020204" pitchFamily="34" charset="0"/>
                <a:cs typeface="Arial" panose="020B0604020202020204" pitchFamily="34" charset="0"/>
              </a:rPr>
              <a:t>through</a:t>
            </a:r>
            <a:r>
              <a:rPr lang="en-US" sz="800" dirty="0">
                <a:solidFill>
                  <a:schemeClr val="accent6"/>
                </a:solidFill>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tools like the Double Shot and Brush Crush, featured in at-home styling tutorials for creating voluminous, frizz-free looks. While many appreciated the professional-grade results, </a:t>
            </a:r>
            <a:r>
              <a:rPr lang="en-US" sz="800" dirty="0">
                <a:solidFill>
                  <a:srgbClr val="FF0000"/>
                </a:solidFill>
                <a:latin typeface="Arial" panose="020B0604020202020204" pitchFamily="34" charset="0"/>
                <a:cs typeface="Arial" panose="020B0604020202020204" pitchFamily="34" charset="0"/>
              </a:rPr>
              <a:t>critical reviews </a:t>
            </a:r>
            <a:r>
              <a:rPr lang="en-US" sz="800" dirty="0">
                <a:latin typeface="Arial" panose="020B0604020202020204" pitchFamily="34" charset="0"/>
                <a:cs typeface="Arial" panose="020B0604020202020204" pitchFamily="34" charset="0"/>
              </a:rPr>
              <a:t>on Reddit and Amazon highlighted issues such as tool malfunctions, excessive heat damage on fine hair, and failures occurring just after warranty expiration.</a:t>
            </a:r>
          </a:p>
          <a:p>
            <a:pPr marL="171450" indent="-171450">
              <a:spcAft>
                <a:spcPts val="600"/>
              </a:spcAft>
              <a:buFont typeface="Arial" panose="020B0604020202020204" pitchFamily="34" charset="0"/>
              <a:buChar char="•"/>
            </a:pPr>
            <a:r>
              <a:rPr lang="en-US" sz="800" b="1" dirty="0">
                <a:latin typeface="Arial" panose="020B0604020202020204" pitchFamily="34" charset="0"/>
                <a:cs typeface="Arial" panose="020B0604020202020204" pitchFamily="34" charset="0"/>
              </a:rPr>
              <a:t>Blo Blow Dry Bar</a:t>
            </a:r>
            <a:r>
              <a:rPr lang="en-US" sz="800" dirty="0">
                <a:latin typeface="Arial" panose="020B0604020202020204" pitchFamily="34" charset="0"/>
                <a:cs typeface="Arial" panose="020B0604020202020204" pitchFamily="34" charset="0"/>
              </a:rPr>
              <a:t> was </a:t>
            </a:r>
            <a:r>
              <a:rPr lang="en-US" sz="800" dirty="0">
                <a:solidFill>
                  <a:schemeClr val="accent6"/>
                </a:solidFill>
                <a:latin typeface="Arial" panose="020B0604020202020204" pitchFamily="34" charset="0"/>
                <a:cs typeface="Arial" panose="020B0604020202020204" pitchFamily="34" charset="0"/>
              </a:rPr>
              <a:t>recognized for </a:t>
            </a:r>
            <a:r>
              <a:rPr lang="en-US" sz="800" dirty="0">
                <a:latin typeface="Arial" panose="020B0604020202020204" pitchFamily="34" charset="0"/>
                <a:cs typeface="Arial" panose="020B0604020202020204" pitchFamily="34" charset="0"/>
              </a:rPr>
              <a:t>its convenient pairing of hair and makeup services, as well as community-driven salon launches and themed offerings like kids’ tinsel parties. </a:t>
            </a:r>
            <a:r>
              <a:rPr lang="en-US" sz="800" dirty="0">
                <a:solidFill>
                  <a:schemeClr val="accent6"/>
                </a:solidFill>
                <a:latin typeface="Arial" panose="020B0604020202020204" pitchFamily="34" charset="0"/>
                <a:cs typeface="Arial" panose="020B0604020202020204" pitchFamily="34" charset="0"/>
              </a:rPr>
              <a:t>Positive</a:t>
            </a:r>
            <a:r>
              <a:rPr lang="en-US" sz="800" dirty="0">
                <a:latin typeface="Arial" panose="020B0604020202020204" pitchFamily="34" charset="0"/>
                <a:cs typeface="Arial" panose="020B0604020202020204" pitchFamily="34" charset="0"/>
              </a:rPr>
              <a:t> conversations were also fueled by the acquisition of LashBar, which signaled strategic expansion and strengthened brand positioning.</a:t>
            </a:r>
          </a:p>
          <a:p>
            <a:pPr marL="171450" indent="-171450">
              <a:spcAft>
                <a:spcPts val="600"/>
              </a:spcAft>
              <a:buFont typeface="Arial" panose="020B0604020202020204" pitchFamily="34" charset="0"/>
              <a:buChar char="•"/>
            </a:pPr>
            <a:r>
              <a:rPr lang="en-US" sz="800" b="1" dirty="0">
                <a:latin typeface="Arial" panose="020B0604020202020204" pitchFamily="34" charset="0"/>
                <a:cs typeface="Arial" panose="020B0604020202020204" pitchFamily="34" charset="0"/>
              </a:rPr>
              <a:t>Glamsquad</a:t>
            </a:r>
            <a:r>
              <a:rPr lang="en-US" sz="800" dirty="0">
                <a:latin typeface="Arial" panose="020B0604020202020204" pitchFamily="34" charset="0"/>
                <a:cs typeface="Arial" panose="020B0604020202020204" pitchFamily="34" charset="0"/>
              </a:rPr>
              <a:t> earned</a:t>
            </a:r>
            <a:r>
              <a:rPr lang="en-US" sz="800" dirty="0">
                <a:solidFill>
                  <a:schemeClr val="accent6"/>
                </a:solidFill>
                <a:latin typeface="Arial" panose="020B0604020202020204" pitchFamily="34" charset="0"/>
                <a:cs typeface="Arial" panose="020B0604020202020204" pitchFamily="34" charset="0"/>
              </a:rPr>
              <a:t> admiration </a:t>
            </a:r>
            <a:r>
              <a:rPr lang="en-US" sz="800" dirty="0">
                <a:latin typeface="Arial" panose="020B0604020202020204" pitchFamily="34" charset="0"/>
                <a:cs typeface="Arial" panose="020B0604020202020204" pitchFamily="34" charset="0"/>
              </a:rPr>
              <a:t>for nostalgic glam experiences tied to events like proms and quinceañeras, with many celebrating its polished blowouts and sharp contouring. However, some </a:t>
            </a:r>
            <a:r>
              <a:rPr lang="en-US" sz="800" dirty="0">
                <a:solidFill>
                  <a:srgbClr val="FF0000"/>
                </a:solidFill>
                <a:latin typeface="Arial" panose="020B0604020202020204" pitchFamily="34" charset="0"/>
                <a:cs typeface="Arial" panose="020B0604020202020204" pitchFamily="34" charset="0"/>
              </a:rPr>
              <a:t>criticism</a:t>
            </a:r>
            <a:r>
              <a:rPr lang="en-US" sz="800" dirty="0">
                <a:latin typeface="Arial" panose="020B0604020202020204" pitchFamily="34" charset="0"/>
                <a:cs typeface="Arial" panose="020B0604020202020204" pitchFamily="34" charset="0"/>
              </a:rPr>
              <a:t> emerged around overly dramatic makeup and awkward hair extensions, particularly in influencer-led looks seen during red-carpet appearances or livestreams.</a:t>
            </a:r>
          </a:p>
          <a:p>
            <a:pPr marL="171450" indent="-171450">
              <a:buFont typeface="Arial" panose="020B0604020202020204" pitchFamily="34" charset="0"/>
              <a:buChar char="•"/>
            </a:pPr>
            <a:r>
              <a:rPr lang="en-US" sz="800" b="1" dirty="0">
                <a:latin typeface="Arial" panose="020B0604020202020204" pitchFamily="34" charset="0"/>
                <a:cs typeface="Arial" panose="020B0604020202020204" pitchFamily="34" charset="0"/>
              </a:rPr>
              <a:t>Blushington</a:t>
            </a:r>
            <a:r>
              <a:rPr lang="en-US" sz="800" dirty="0">
                <a:latin typeface="Arial" panose="020B0604020202020204" pitchFamily="34" charset="0"/>
                <a:cs typeface="Arial" panose="020B0604020202020204" pitchFamily="34" charset="0"/>
              </a:rPr>
              <a:t> was celebrated for its compassionate lace-front wig applications during chemo makeovers, with users </a:t>
            </a:r>
            <a:r>
              <a:rPr lang="en-US" sz="800" dirty="0">
                <a:solidFill>
                  <a:schemeClr val="accent6"/>
                </a:solidFill>
                <a:latin typeface="Arial" panose="020B0604020202020204" pitchFamily="34" charset="0"/>
                <a:cs typeface="Arial" panose="020B0604020202020204" pitchFamily="34" charset="0"/>
              </a:rPr>
              <a:t>praising</a:t>
            </a:r>
            <a:r>
              <a:rPr lang="en-US" sz="800" dirty="0">
                <a:latin typeface="Arial" panose="020B0604020202020204" pitchFamily="34" charset="0"/>
                <a:cs typeface="Arial" panose="020B0604020202020204" pitchFamily="34" charset="0"/>
              </a:rPr>
              <a:t> the “realistic hairlines” and “seamless tinting.” Prom </a:t>
            </a:r>
            <a:r>
              <a:rPr lang="en-IN" sz="800" dirty="0">
                <a:latin typeface="Arial" panose="020B0604020202020204" pitchFamily="34" charset="0"/>
                <a:cs typeface="Arial" panose="020B0604020202020204" pitchFamily="34" charset="0"/>
              </a:rPr>
              <a:t>attendees</a:t>
            </a:r>
            <a:r>
              <a:rPr lang="en-US" sz="800" dirty="0">
                <a:latin typeface="Arial" panose="020B0604020202020204" pitchFamily="34" charset="0"/>
                <a:cs typeface="Arial" panose="020B0604020202020204" pitchFamily="34" charset="0"/>
              </a:rPr>
              <a:t> also highlighted the “cry-proof” airbrushed foundation and soft-glam contouring that held up beautifully in photos.</a:t>
            </a:r>
          </a:p>
        </p:txBody>
      </p:sp>
      <p:sp>
        <p:nvSpPr>
          <p:cNvPr id="11" name="TextBox 10">
            <a:extLst>
              <a:ext uri="{FF2B5EF4-FFF2-40B4-BE49-F238E27FC236}">
                <a16:creationId xmlns:a16="http://schemas.microsoft.com/office/drawing/2014/main" id="{C990BE3C-FAE8-CA92-BFC2-7812D6CB7276}"/>
              </a:ext>
            </a:extLst>
          </p:cNvPr>
          <p:cNvSpPr txBox="1"/>
          <p:nvPr/>
        </p:nvSpPr>
        <p:spPr>
          <a:xfrm>
            <a:off x="304857" y="4053198"/>
            <a:ext cx="5055859" cy="2369880"/>
          </a:xfrm>
          <a:prstGeom prst="rect">
            <a:avLst/>
          </a:prstGeom>
          <a:noFill/>
          <a:ln>
            <a:noFill/>
          </a:ln>
        </p:spPr>
        <p:txBody>
          <a:bodyPr wrap="square" rtlCol="0" anchor="ctr">
            <a:spAutoFit/>
          </a:bodyPr>
          <a:lstStyle/>
          <a:p>
            <a:pPr marL="171450" indent="-171450">
              <a:spcAft>
                <a:spcPts val="600"/>
              </a:spcAft>
              <a:buFont typeface="Arial" panose="020B0604020202020204" pitchFamily="34" charset="0"/>
              <a:buChar char="•"/>
            </a:pPr>
            <a:r>
              <a:rPr lang="en-US" sz="800" b="1" dirty="0">
                <a:latin typeface="Arial" panose="020B0604020202020204" pitchFamily="34" charset="0"/>
                <a:cs typeface="Arial" panose="020B0604020202020204" pitchFamily="34" charset="0"/>
              </a:rPr>
              <a:t>Benefit Brow Bar</a:t>
            </a:r>
            <a:r>
              <a:rPr lang="en-US" sz="800" dirty="0">
                <a:latin typeface="Arial" panose="020B0604020202020204" pitchFamily="34" charset="0"/>
                <a:cs typeface="Arial" panose="020B0604020202020204" pitchFamily="34" charset="0"/>
              </a:rPr>
              <a:t> led the media attention, driven by discussions around its Mighty Fine Brow Pen featured in beauty makeup tutorials; its campaign featuring TXT's Yeonjun for POREfessional line; and gained traction across TikTok and Instagram through creator-led transformations, seasonal promotions, loyalty rewards.</a:t>
            </a:r>
          </a:p>
          <a:p>
            <a:pPr marL="171450" indent="-171450">
              <a:spcAft>
                <a:spcPts val="600"/>
              </a:spcAft>
              <a:buFont typeface="Arial" panose="020B0604020202020204" pitchFamily="34" charset="0"/>
              <a:buChar char="•"/>
            </a:pPr>
            <a:r>
              <a:rPr lang="en-US" sz="800" b="1" dirty="0">
                <a:latin typeface="Arial" panose="020B0604020202020204" pitchFamily="34" charset="0"/>
                <a:cs typeface="Arial" panose="020B0604020202020204" pitchFamily="34" charset="0"/>
              </a:rPr>
              <a:t>Drybar</a:t>
            </a:r>
            <a:r>
              <a:rPr lang="en-US" sz="800" dirty="0">
                <a:latin typeface="Arial" panose="020B0604020202020204" pitchFamily="34" charset="0"/>
                <a:cs typeface="Arial" panose="020B0604020202020204" pitchFamily="34" charset="0"/>
              </a:rPr>
              <a:t> saw the second-highest volume of mentions, driven by trending styles like “MomTok Waves,” holiday gift card promotions, new franchise expansions, and founder Alli Webb’s pivot to her new brand </a:t>
            </a:r>
            <a:r>
              <a:rPr lang="en-US" sz="800" i="1" dirty="0">
                <a:latin typeface="Arial" panose="020B0604020202020204" pitchFamily="34" charset="0"/>
                <a:cs typeface="Arial" panose="020B0604020202020204" pitchFamily="34" charset="0"/>
              </a:rPr>
              <a:t>Messy</a:t>
            </a:r>
            <a:r>
              <a:rPr lang="en-US" sz="800" dirty="0">
                <a:latin typeface="Arial" panose="020B0604020202020204" pitchFamily="34" charset="0"/>
                <a:cs typeface="Arial" panose="020B0604020202020204" pitchFamily="34" charset="0"/>
              </a:rPr>
              <a:t>, which embraces natural textures and an anti-blowout approach.</a:t>
            </a:r>
          </a:p>
          <a:p>
            <a:pPr marL="171450" indent="-171450">
              <a:spcAft>
                <a:spcPts val="600"/>
              </a:spcAft>
              <a:buFont typeface="Arial" panose="020B0604020202020204" pitchFamily="34" charset="0"/>
              <a:buChar char="•"/>
            </a:pPr>
            <a:r>
              <a:rPr lang="en-US" sz="800" b="1" dirty="0">
                <a:latin typeface="Arial" panose="020B0604020202020204" pitchFamily="34" charset="0"/>
                <a:cs typeface="Arial" panose="020B0604020202020204" pitchFamily="34" charset="0"/>
              </a:rPr>
              <a:t>Blo Blow Dry Bar </a:t>
            </a:r>
            <a:r>
              <a:rPr lang="en-US" sz="800" dirty="0">
                <a:latin typeface="Arial" panose="020B0604020202020204" pitchFamily="34" charset="0"/>
                <a:cs typeface="Arial" panose="020B0604020202020204" pitchFamily="34" charset="0"/>
              </a:rPr>
              <a:t>gained buzz for its strong growth trajectory, marked by 21 new franchise units sold, new salon openings in Plano, Canton, and Argyle, the acquisition of LashBar, and CEO Vanessa Yakobson being named 'CEO of the Year' by NewSpring.</a:t>
            </a:r>
          </a:p>
          <a:p>
            <a:pPr marL="171450" indent="-171450">
              <a:spcAft>
                <a:spcPts val="600"/>
              </a:spcAft>
              <a:buFont typeface="Arial" panose="020B0604020202020204" pitchFamily="34" charset="0"/>
              <a:buChar char="•"/>
            </a:pPr>
            <a:r>
              <a:rPr lang="en-IN" sz="800" b="1" dirty="0">
                <a:latin typeface="Arial" panose="020B0604020202020204" pitchFamily="34" charset="0"/>
                <a:cs typeface="Arial" panose="020B0604020202020204" pitchFamily="34" charset="0"/>
              </a:rPr>
              <a:t>Glamsquad</a:t>
            </a:r>
            <a:r>
              <a:rPr lang="en-IN" sz="800" dirty="0">
                <a:latin typeface="Arial" panose="020B0604020202020204" pitchFamily="34" charset="0"/>
                <a:cs typeface="Arial" panose="020B0604020202020204" pitchFamily="34" charset="0"/>
              </a:rPr>
              <a:t> drew media attention with “Prom Squad” makeovers and GlamLy TV reels, highlighting prom and quinceañera transformations, cancer recovery glam, and earning praise for artist reliability, long-lasting styles, and flash-proof makeup.</a:t>
            </a:r>
          </a:p>
          <a:p>
            <a:pPr marL="171450" indent="-171450">
              <a:buFont typeface="Arial" panose="020B0604020202020204" pitchFamily="34" charset="0"/>
              <a:buChar char="•"/>
            </a:pPr>
            <a:r>
              <a:rPr lang="en-IN" sz="800" b="1" dirty="0">
                <a:latin typeface="Arial" panose="020B0604020202020204" pitchFamily="34" charset="0"/>
                <a:cs typeface="Arial" panose="020B0604020202020204" pitchFamily="34" charset="0"/>
              </a:rPr>
              <a:t>Blushington</a:t>
            </a:r>
            <a:r>
              <a:rPr lang="en-IN" sz="800" dirty="0">
                <a:latin typeface="Arial" panose="020B0604020202020204" pitchFamily="34" charset="0"/>
                <a:cs typeface="Arial" panose="020B0604020202020204" pitchFamily="34" charset="0"/>
              </a:rPr>
              <a:t> saw lower mention volumes, with most buzz centered on franchising momentum through investor webinars and CEO Natasha Cornstein’s media features highlighting accessible luxury and women-led entrepreneurship.</a:t>
            </a:r>
          </a:p>
        </p:txBody>
      </p:sp>
      <p:sp>
        <p:nvSpPr>
          <p:cNvPr id="12" name="Rectangle 11">
            <a:extLst>
              <a:ext uri="{FF2B5EF4-FFF2-40B4-BE49-F238E27FC236}">
                <a16:creationId xmlns:a16="http://schemas.microsoft.com/office/drawing/2014/main" id="{997409C8-6049-9F9A-B1E4-B79FF9CDDC4E}"/>
              </a:ext>
            </a:extLst>
          </p:cNvPr>
          <p:cNvSpPr/>
          <p:nvPr/>
        </p:nvSpPr>
        <p:spPr>
          <a:xfrm>
            <a:off x="3944995" y="1490243"/>
            <a:ext cx="1154243" cy="2698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4A20A8"/>
                </a:solidFill>
                <a:latin typeface="Arial" panose="020B0604020202020204" pitchFamily="34" charset="0"/>
                <a:cs typeface="Arial" panose="020B0604020202020204" pitchFamily="34" charset="0"/>
              </a:rPr>
              <a:t>N = 3,023</a:t>
            </a:r>
          </a:p>
        </p:txBody>
      </p:sp>
      <p:sp>
        <p:nvSpPr>
          <p:cNvPr id="13" name="Rectangle 12">
            <a:extLst>
              <a:ext uri="{FF2B5EF4-FFF2-40B4-BE49-F238E27FC236}">
                <a16:creationId xmlns:a16="http://schemas.microsoft.com/office/drawing/2014/main" id="{B742676E-F79B-E10A-C34D-EC50884DB3D2}"/>
              </a:ext>
            </a:extLst>
          </p:cNvPr>
          <p:cNvSpPr/>
          <p:nvPr/>
        </p:nvSpPr>
        <p:spPr>
          <a:xfrm>
            <a:off x="10070019" y="1490243"/>
            <a:ext cx="1154243" cy="2698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4A20A8"/>
                </a:solidFill>
                <a:latin typeface="Arial" panose="020B0604020202020204" pitchFamily="34" charset="0"/>
                <a:cs typeface="Arial" panose="020B0604020202020204" pitchFamily="34" charset="0"/>
              </a:rPr>
              <a:t>N = 3,023</a:t>
            </a:r>
          </a:p>
        </p:txBody>
      </p:sp>
      <p:sp>
        <p:nvSpPr>
          <p:cNvPr id="14" name="Google Shape;2440;p175">
            <a:extLst>
              <a:ext uri="{FF2B5EF4-FFF2-40B4-BE49-F238E27FC236}">
                <a16:creationId xmlns:a16="http://schemas.microsoft.com/office/drawing/2014/main" id="{0692B888-C494-F83E-F791-749CA031A274}"/>
              </a:ext>
            </a:extLst>
          </p:cNvPr>
          <p:cNvSpPr txBox="1"/>
          <p:nvPr/>
        </p:nvSpPr>
        <p:spPr>
          <a:xfrm>
            <a:off x="4768761" y="6538522"/>
            <a:ext cx="4637404" cy="423982"/>
          </a:xfrm>
          <a:prstGeom prst="rect">
            <a:avLst/>
          </a:prstGeom>
          <a:noFill/>
          <a:ln>
            <a:noFill/>
          </a:ln>
        </p:spPr>
        <p:txBody>
          <a:bodyPr spcFirstLastPara="1" wrap="square" lIns="91433" tIns="45700" rIns="91433" bIns="45700" anchor="ctr" anchorCtr="0">
            <a:normAutofit/>
          </a:bodyPr>
          <a:lstStyle/>
          <a:p>
            <a:pPr marL="0" marR="0" lvl="0" indent="0" algn="l" defTabSz="914400" rtl="0" eaLnBrk="1" fontAlgn="auto" latinLnBrk="0" hangingPunct="1">
              <a:lnSpc>
                <a:spcPct val="90000"/>
              </a:lnSpc>
              <a:spcBef>
                <a:spcPts val="0"/>
              </a:spcBef>
              <a:spcAft>
                <a:spcPts val="0"/>
              </a:spcAft>
              <a:buClr>
                <a:srgbClr val="E8E8E8"/>
              </a:buClr>
              <a:buSzPts val="800"/>
              <a:buFontTx/>
              <a:buNone/>
              <a:tabLst/>
              <a:defRPr/>
            </a:pP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SOURCE: </a:t>
            </a:r>
            <a:r>
              <a:rPr lang="en-US" sz="1067" dirty="0">
                <a:solidFill>
                  <a:srgbClr val="E8E8E8">
                    <a:lumMod val="50000"/>
                  </a:srgbClr>
                </a:solidFill>
                <a:latin typeface="Aptos" panose="02110004020202020204"/>
              </a:rPr>
              <a:t>MELTWATER</a:t>
            </a: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 AUGUST  2024 – AUGUST 2025 </a:t>
            </a:r>
            <a:endParaRPr kumimoji="0" lang="en-US" sz="14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7C215AD6-495F-6BA7-E26D-9C23F5388EEE}"/>
              </a:ext>
            </a:extLst>
          </p:cNvPr>
          <p:cNvSpPr txBox="1"/>
          <p:nvPr/>
        </p:nvSpPr>
        <p:spPr>
          <a:xfrm>
            <a:off x="8231753" y="6627168"/>
            <a:ext cx="3960247" cy="230832"/>
          </a:xfrm>
          <a:prstGeom prst="rect">
            <a:avLst/>
          </a:prstGeom>
          <a:noFill/>
        </p:spPr>
        <p:txBody>
          <a:bodyPr wrap="square">
            <a:spAutoFit/>
          </a:bodyPr>
          <a:lstStyle/>
          <a:p>
            <a:r>
              <a:rPr lang="en-US" sz="900" i="1" dirty="0"/>
              <a:t>The above insights are based on analysis of a representative sample of data.</a:t>
            </a:r>
          </a:p>
        </p:txBody>
      </p:sp>
    </p:spTree>
    <p:extLst>
      <p:ext uri="{BB962C8B-B14F-4D97-AF65-F5344CB8AC3E}">
        <p14:creationId xmlns:p14="http://schemas.microsoft.com/office/powerpoint/2010/main" val="1610281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FBAFB-550C-6AFE-6098-9EEC5F3A60B1}"/>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8AA9980E-02F2-830C-9463-E9CC5CB9FD51}"/>
              </a:ext>
            </a:extLst>
          </p:cNvPr>
          <p:cNvPicPr/>
          <p:nvPr/>
        </p:nvPicPr>
        <p:blipFill>
          <a:blip r:embed="rId2" cstate="email">
            <a:extLst>
              <a:ext uri="{28A0092B-C50C-407E-A947-70E740481C1C}">
                <a14:useLocalDpi xmlns:a14="http://schemas.microsoft.com/office/drawing/2010/main"/>
              </a:ext>
            </a:extLst>
          </a:blip>
          <a:srcRect l="-120"/>
          <a:stretch>
            <a:fillRect/>
          </a:stretch>
        </p:blipFill>
        <p:spPr>
          <a:xfrm>
            <a:off x="-132735" y="0"/>
            <a:ext cx="12324735" cy="6857999"/>
          </a:xfrm>
          <a:prstGeom prst="rect">
            <a:avLst/>
          </a:prstGeom>
        </p:spPr>
      </p:pic>
      <p:sp>
        <p:nvSpPr>
          <p:cNvPr id="3" name="Title 1">
            <a:extLst>
              <a:ext uri="{FF2B5EF4-FFF2-40B4-BE49-F238E27FC236}">
                <a16:creationId xmlns:a16="http://schemas.microsoft.com/office/drawing/2014/main" id="{AABA9903-6B9E-9CDB-202C-A54BA10152DD}"/>
              </a:ext>
            </a:extLst>
          </p:cNvPr>
          <p:cNvSpPr txBox="1">
            <a:spLocks/>
          </p:cNvSpPr>
          <p:nvPr/>
        </p:nvSpPr>
        <p:spPr>
          <a:xfrm>
            <a:off x="530555" y="1350893"/>
            <a:ext cx="7624094" cy="978729"/>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solidFill>
                  <a:schemeClr val="bg1"/>
                </a:solidFill>
                <a:latin typeface="Arial" panose="020B0604020202020204" pitchFamily="34" charset="0"/>
                <a:cs typeface="Arial" panose="020B0604020202020204" pitchFamily="34" charset="0"/>
              </a:rPr>
              <a:t>Editorial Analysis</a:t>
            </a:r>
          </a:p>
          <a:p>
            <a:r>
              <a:rPr lang="en-GB" sz="2400" dirty="0">
                <a:solidFill>
                  <a:schemeClr val="bg1"/>
                </a:solidFill>
                <a:latin typeface="Arial" panose="020B0604020202020204" pitchFamily="34" charset="0"/>
                <a:cs typeface="Arial" panose="020B0604020202020204" pitchFamily="34" charset="0"/>
              </a:rPr>
              <a:t>(Beauty Services - </a:t>
            </a:r>
            <a:r>
              <a:rPr lang="en-US" sz="2400" dirty="0">
                <a:solidFill>
                  <a:schemeClr val="bg1"/>
                </a:solidFill>
                <a:latin typeface="Arial" panose="020B0604020202020204" pitchFamily="34" charset="0"/>
                <a:cs typeface="Arial" panose="020B0604020202020204" pitchFamily="34" charset="0"/>
              </a:rPr>
              <a:t>Hair / Make-up</a:t>
            </a:r>
            <a:r>
              <a:rPr lang="en-GB" sz="24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3565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53B8C-61AA-61E8-C457-7F38CDA1183A}"/>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56C12BC2-EF8C-6253-BCB3-847A8F03009C}"/>
              </a:ext>
            </a:extLst>
          </p:cNvPr>
          <p:cNvSpPr txBox="1"/>
          <p:nvPr/>
        </p:nvSpPr>
        <p:spPr>
          <a:xfrm>
            <a:off x="5681272" y="300380"/>
            <a:ext cx="5843431" cy="1015663"/>
          </a:xfrm>
          <a:prstGeom prst="rect">
            <a:avLst/>
          </a:prstGeom>
          <a:noFill/>
        </p:spPr>
        <p:txBody>
          <a:bodyPr wrap="square" rtlCol="0">
            <a:spAutoFit/>
          </a:bodyPr>
          <a:lstStyle/>
          <a:p>
            <a:r>
              <a:rPr lang="en-US" sz="1200" dirty="0">
                <a:solidFill>
                  <a:schemeClr val="tx1">
                    <a:lumMod val="75000"/>
                    <a:lumOff val="25000"/>
                  </a:schemeClr>
                </a:solidFill>
                <a:latin typeface="Arial" panose="020B0604020202020204" pitchFamily="34" charset="0"/>
                <a:cs typeface="Arial" panose="020B0604020202020204" pitchFamily="34" charset="0"/>
              </a:rPr>
              <a:t>Hair and makeup services reflect a blend of specialized expertise, trending products, and celebrity driven inspiration, ranging from bridal styling to viral red carpet looks. Alongside business growth and economic shifts, salons increasingly serve as community anchors, offering inclusive, confidence-boosting support to underserved groups.</a:t>
            </a:r>
          </a:p>
        </p:txBody>
      </p:sp>
      <p:sp>
        <p:nvSpPr>
          <p:cNvPr id="4" name="Text Placeholder 26">
            <a:extLst>
              <a:ext uri="{FF2B5EF4-FFF2-40B4-BE49-F238E27FC236}">
                <a16:creationId xmlns:a16="http://schemas.microsoft.com/office/drawing/2014/main" id="{5967B75B-CBEC-154B-1031-98868429788B}"/>
              </a:ext>
            </a:extLst>
          </p:cNvPr>
          <p:cNvSpPr txBox="1">
            <a:spLocks/>
          </p:cNvSpPr>
          <p:nvPr/>
        </p:nvSpPr>
        <p:spPr>
          <a:xfrm>
            <a:off x="475116" y="391174"/>
            <a:ext cx="5026274" cy="740203"/>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300"/>
              </a:spcBef>
              <a:buNone/>
            </a:pPr>
            <a:r>
              <a:rPr lang="en-US" sz="3200" b="1" dirty="0">
                <a:latin typeface="Arial" panose="020B0604020202020204" pitchFamily="34" charset="0"/>
                <a:cs typeface="Arial" panose="020B0604020202020204" pitchFamily="34" charset="0"/>
              </a:rPr>
              <a:t>Key Topics (1/2)</a:t>
            </a:r>
            <a:endParaRPr lang="en-US" sz="1800" dirty="0">
              <a:latin typeface="Arial" panose="020B0604020202020204" pitchFamily="34" charset="0"/>
              <a:cs typeface="Arial" panose="020B0604020202020204" pitchFamily="34" charset="0"/>
            </a:endParaRPr>
          </a:p>
        </p:txBody>
      </p:sp>
      <p:sp>
        <p:nvSpPr>
          <p:cNvPr id="3" name="Freeform: Shape 8">
            <a:extLst>
              <a:ext uri="{FF2B5EF4-FFF2-40B4-BE49-F238E27FC236}">
                <a16:creationId xmlns:a16="http://schemas.microsoft.com/office/drawing/2014/main" id="{B00FF778-C376-C4AB-0A67-D8A28B9D4DDD}"/>
              </a:ext>
            </a:extLst>
          </p:cNvPr>
          <p:cNvSpPr/>
          <p:nvPr/>
        </p:nvSpPr>
        <p:spPr>
          <a:xfrm>
            <a:off x="594618" y="1960999"/>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US" sz="1100" dirty="0">
                <a:solidFill>
                  <a:srgbClr val="5E38B1"/>
                </a:solidFill>
                <a:latin typeface="Arial" panose="020B0604020202020204" pitchFamily="34" charset="0"/>
                <a:cs typeface="Arial" panose="020B0604020202020204" pitchFamily="34" charset="0"/>
              </a:rPr>
              <a:t>Specialized Hair &amp; Makeup Services</a:t>
            </a:r>
          </a:p>
        </p:txBody>
      </p:sp>
      <p:sp>
        <p:nvSpPr>
          <p:cNvPr id="23" name="Freeform: Shape 7">
            <a:extLst>
              <a:ext uri="{FF2B5EF4-FFF2-40B4-BE49-F238E27FC236}">
                <a16:creationId xmlns:a16="http://schemas.microsoft.com/office/drawing/2014/main" id="{F44FDFD8-C99A-8008-E6C5-F67858999F70}"/>
              </a:ext>
            </a:extLst>
          </p:cNvPr>
          <p:cNvSpPr/>
          <p:nvPr/>
        </p:nvSpPr>
        <p:spPr>
          <a:xfrm>
            <a:off x="2303283" y="2038190"/>
            <a:ext cx="9136515"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Specialized hair and makeup services </a:t>
            </a:r>
            <a:r>
              <a:rPr lang="en-US" sz="1000" dirty="0">
                <a:solidFill>
                  <a:schemeClr val="tx1">
                    <a:lumMod val="75000"/>
                    <a:lumOff val="25000"/>
                  </a:schemeClr>
                </a:solidFill>
                <a:latin typeface="Arial" panose="020B0604020202020204" pitchFamily="34" charset="0"/>
                <a:cs typeface="Arial" panose="020B0604020202020204" pitchFamily="34" charset="0"/>
              </a:rPr>
              <a:t>are a key topic of discussion in the beauty space, with consumers increasingly seeking expert-led offerings for significant life events such as </a:t>
            </a:r>
            <a:r>
              <a:rPr lang="en-US" sz="1000" b="1" dirty="0">
                <a:solidFill>
                  <a:schemeClr val="tx1">
                    <a:lumMod val="75000"/>
                    <a:lumOff val="25000"/>
                  </a:schemeClr>
                </a:solidFill>
                <a:latin typeface="Arial" panose="020B0604020202020204" pitchFamily="34" charset="0"/>
                <a:cs typeface="Arial" panose="020B0604020202020204" pitchFamily="34" charset="0"/>
              </a:rPr>
              <a:t>weddings</a:t>
            </a:r>
            <a:r>
              <a:rPr lang="en-US" sz="1000" dirty="0">
                <a:solidFill>
                  <a:schemeClr val="tx1">
                    <a:lumMod val="75000"/>
                    <a:lumOff val="25000"/>
                  </a:schemeClr>
                </a:solidFill>
                <a:latin typeface="Arial" panose="020B0604020202020204" pitchFamily="34" charset="0"/>
                <a:cs typeface="Arial" panose="020B0604020202020204" pitchFamily="34" charset="0"/>
              </a:rPr>
              <a:t> and formal occasions. </a:t>
            </a:r>
            <a:r>
              <a:rPr lang="en-US" sz="1000" b="1" dirty="0">
                <a:solidFill>
                  <a:schemeClr val="tx1">
                    <a:lumMod val="75000"/>
                    <a:lumOff val="25000"/>
                  </a:schemeClr>
                </a:solidFill>
                <a:latin typeface="Arial" panose="020B0604020202020204" pitchFamily="34" charset="0"/>
                <a:cs typeface="Arial" panose="020B0604020202020204" pitchFamily="34" charset="0"/>
              </a:rPr>
              <a:t>Bridal styling, permanent makeup, and personalized care </a:t>
            </a:r>
            <a:r>
              <a:rPr lang="en-US" sz="1000" dirty="0">
                <a:solidFill>
                  <a:schemeClr val="tx1">
                    <a:lumMod val="75000"/>
                    <a:lumOff val="25000"/>
                  </a:schemeClr>
                </a:solidFill>
                <a:latin typeface="Arial" panose="020B0604020202020204" pitchFamily="34" charset="0"/>
                <a:cs typeface="Arial" panose="020B0604020202020204" pitchFamily="34" charset="0"/>
              </a:rPr>
              <a:t>for textured hair are especially in demand. There is a clear shift toward tailored, high-skill services that reflect both aesthetic preferences and cultural needs.</a:t>
            </a:r>
          </a:p>
        </p:txBody>
      </p:sp>
      <p:pic>
        <p:nvPicPr>
          <p:cNvPr id="40" name="Graphic 39">
            <a:extLst>
              <a:ext uri="{FF2B5EF4-FFF2-40B4-BE49-F238E27FC236}">
                <a16:creationId xmlns:a16="http://schemas.microsoft.com/office/drawing/2014/main" id="{F306549C-8D9C-9CFD-8C21-9B65EF273D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2168772"/>
            <a:ext cx="123825" cy="117307"/>
          </a:xfrm>
          <a:prstGeom prst="rect">
            <a:avLst/>
          </a:prstGeom>
        </p:spPr>
      </p:pic>
      <p:sp>
        <p:nvSpPr>
          <p:cNvPr id="7" name="Freeform: Shape 14">
            <a:extLst>
              <a:ext uri="{FF2B5EF4-FFF2-40B4-BE49-F238E27FC236}">
                <a16:creationId xmlns:a16="http://schemas.microsoft.com/office/drawing/2014/main" id="{2EAC81FD-050D-F106-F3CA-543FAA0E7711}"/>
              </a:ext>
            </a:extLst>
          </p:cNvPr>
          <p:cNvSpPr/>
          <p:nvPr/>
        </p:nvSpPr>
        <p:spPr>
          <a:xfrm>
            <a:off x="594618" y="2819502"/>
            <a:ext cx="1863447"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IN" sz="1100" dirty="0">
                <a:solidFill>
                  <a:srgbClr val="5E38B1"/>
                </a:solidFill>
                <a:latin typeface="Arial" panose="020B0604020202020204" pitchFamily="34" charset="0"/>
                <a:cs typeface="Arial" panose="020B0604020202020204" pitchFamily="34" charset="0"/>
              </a:rPr>
              <a:t>Product Trends &amp; Recommendations</a:t>
            </a:r>
          </a:p>
        </p:txBody>
      </p:sp>
      <p:sp>
        <p:nvSpPr>
          <p:cNvPr id="27" name="Freeform: Shape 13">
            <a:extLst>
              <a:ext uri="{FF2B5EF4-FFF2-40B4-BE49-F238E27FC236}">
                <a16:creationId xmlns:a16="http://schemas.microsoft.com/office/drawing/2014/main" id="{9F8B506E-00E4-02A7-DFC7-56657D8095BA}"/>
              </a:ext>
            </a:extLst>
          </p:cNvPr>
          <p:cNvSpPr/>
          <p:nvPr/>
        </p:nvSpPr>
        <p:spPr>
          <a:xfrm>
            <a:off x="2460867" y="2901462"/>
            <a:ext cx="9136515"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Product trends and recommendations </a:t>
            </a:r>
            <a:r>
              <a:rPr lang="en-US" sz="1000" dirty="0">
                <a:solidFill>
                  <a:schemeClr val="tx1">
                    <a:lumMod val="75000"/>
                    <a:lumOff val="25000"/>
                  </a:schemeClr>
                </a:solidFill>
                <a:latin typeface="Arial" panose="020B0604020202020204" pitchFamily="34" charset="0"/>
                <a:cs typeface="Arial" panose="020B0604020202020204" pitchFamily="34" charset="0"/>
              </a:rPr>
              <a:t>have emerged as a key topic among beauty consumers, </a:t>
            </a:r>
            <a:r>
              <a:rPr lang="en-US" sz="1000" b="1" dirty="0">
                <a:solidFill>
                  <a:schemeClr val="tx1">
                    <a:lumMod val="75000"/>
                    <a:lumOff val="25000"/>
                  </a:schemeClr>
                </a:solidFill>
                <a:latin typeface="Arial" panose="020B0604020202020204" pitchFamily="34" charset="0"/>
                <a:cs typeface="Arial" panose="020B0604020202020204" pitchFamily="34" charset="0"/>
              </a:rPr>
              <a:t>influencing their purchase decisions </a:t>
            </a:r>
            <a:r>
              <a:rPr lang="en-US" sz="1000" dirty="0">
                <a:solidFill>
                  <a:schemeClr val="tx1">
                    <a:lumMod val="75000"/>
                    <a:lumOff val="25000"/>
                  </a:schemeClr>
                </a:solidFill>
                <a:latin typeface="Arial" panose="020B0604020202020204" pitchFamily="34" charset="0"/>
                <a:cs typeface="Arial" panose="020B0604020202020204" pitchFamily="34" charset="0"/>
              </a:rPr>
              <a:t>and</a:t>
            </a:r>
            <a:r>
              <a:rPr lang="en-US" sz="1000" b="1" dirty="0">
                <a:solidFill>
                  <a:schemeClr val="tx1">
                    <a:lumMod val="75000"/>
                    <a:lumOff val="25000"/>
                  </a:schemeClr>
                </a:solidFill>
                <a:latin typeface="Arial" panose="020B0604020202020204" pitchFamily="34" charset="0"/>
                <a:cs typeface="Arial" panose="020B0604020202020204" pitchFamily="34" charset="0"/>
              </a:rPr>
              <a:t> brand preferences</a:t>
            </a:r>
            <a:r>
              <a:rPr lang="en-US" sz="1000" dirty="0">
                <a:solidFill>
                  <a:schemeClr val="tx1">
                    <a:lumMod val="75000"/>
                    <a:lumOff val="25000"/>
                  </a:schemeClr>
                </a:solidFill>
                <a:latin typeface="Arial" panose="020B0604020202020204" pitchFamily="34" charset="0"/>
                <a:cs typeface="Arial" panose="020B0604020202020204" pitchFamily="34" charset="0"/>
              </a:rPr>
              <a:t>. Social media and influencer endorsements amplify these trends, making them more impactful. Consumers use trending products to express personal style and stay relevant. Trusted recommendations also encourage confident experimentation in an oversaturated market.</a:t>
            </a:r>
            <a:endParaRPr lang="en-US" sz="1000" dirty="0">
              <a:solidFill>
                <a:schemeClr val="tx1">
                  <a:lumMod val="75000"/>
                  <a:lumOff val="25000"/>
                </a:schemeClr>
              </a:solidFill>
              <a:highlight>
                <a:srgbClr val="FFFF00"/>
              </a:highlight>
              <a:latin typeface="Arial" panose="020B0604020202020204" pitchFamily="34" charset="0"/>
              <a:cs typeface="Arial" panose="020B0604020202020204" pitchFamily="34" charset="0"/>
            </a:endParaRPr>
          </a:p>
        </p:txBody>
      </p:sp>
      <p:pic>
        <p:nvPicPr>
          <p:cNvPr id="41" name="Graphic 40">
            <a:extLst>
              <a:ext uri="{FF2B5EF4-FFF2-40B4-BE49-F238E27FC236}">
                <a16:creationId xmlns:a16="http://schemas.microsoft.com/office/drawing/2014/main" id="{E069BE40-38E8-BCF5-FAF5-BF794798A7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3037889"/>
            <a:ext cx="123825" cy="117307"/>
          </a:xfrm>
          <a:prstGeom prst="rect">
            <a:avLst/>
          </a:prstGeom>
        </p:spPr>
      </p:pic>
      <p:grpSp>
        <p:nvGrpSpPr>
          <p:cNvPr id="5" name="Group 4">
            <a:extLst>
              <a:ext uri="{FF2B5EF4-FFF2-40B4-BE49-F238E27FC236}">
                <a16:creationId xmlns:a16="http://schemas.microsoft.com/office/drawing/2014/main" id="{B8707B8C-C166-8E8D-B242-97573BB42185}"/>
              </a:ext>
            </a:extLst>
          </p:cNvPr>
          <p:cNvGrpSpPr/>
          <p:nvPr/>
        </p:nvGrpSpPr>
        <p:grpSpPr>
          <a:xfrm>
            <a:off x="594618" y="4838521"/>
            <a:ext cx="10930087" cy="671388"/>
            <a:chOff x="594618" y="4939621"/>
            <a:chExt cx="11140182" cy="671388"/>
          </a:xfrm>
        </p:grpSpPr>
        <p:sp>
          <p:nvSpPr>
            <p:cNvPr id="19" name="Freeform: Shape 25">
              <a:extLst>
                <a:ext uri="{FF2B5EF4-FFF2-40B4-BE49-F238E27FC236}">
                  <a16:creationId xmlns:a16="http://schemas.microsoft.com/office/drawing/2014/main" id="{4F170F4E-F58F-5C8D-FFDB-373D71B30A72}"/>
                </a:ext>
              </a:extLst>
            </p:cNvPr>
            <p:cNvSpPr/>
            <p:nvPr/>
          </p:nvSpPr>
          <p:spPr>
            <a:xfrm>
              <a:off x="594618" y="4939621"/>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IN" sz="1100" dirty="0">
                  <a:solidFill>
                    <a:srgbClr val="5E38B1"/>
                  </a:solidFill>
                  <a:latin typeface="Arial" panose="020B0604020202020204" pitchFamily="34" charset="0"/>
                  <a:cs typeface="Arial" panose="020B0604020202020204" pitchFamily="34" charset="0"/>
                </a:rPr>
                <a:t>Economic &amp; Business Aspects</a:t>
              </a:r>
            </a:p>
          </p:txBody>
        </p:sp>
        <p:sp>
          <p:nvSpPr>
            <p:cNvPr id="29" name="Freeform: Shape 24">
              <a:extLst>
                <a:ext uri="{FF2B5EF4-FFF2-40B4-BE49-F238E27FC236}">
                  <a16:creationId xmlns:a16="http://schemas.microsoft.com/office/drawing/2014/main" id="{2651C251-6202-728E-E02F-869332C28BBA}"/>
                </a:ext>
              </a:extLst>
            </p:cNvPr>
            <p:cNvSpPr/>
            <p:nvPr/>
          </p:nvSpPr>
          <p:spPr>
            <a:xfrm>
              <a:off x="2303283" y="5016812"/>
              <a:ext cx="9431517"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Discussions around the </a:t>
              </a:r>
              <a:r>
                <a:rPr lang="en-US" sz="1000" b="1" dirty="0">
                  <a:solidFill>
                    <a:schemeClr val="tx1">
                      <a:lumMod val="75000"/>
                      <a:lumOff val="25000"/>
                    </a:schemeClr>
                  </a:solidFill>
                  <a:latin typeface="Arial" panose="020B0604020202020204" pitchFamily="34" charset="0"/>
                  <a:cs typeface="Arial" panose="020B0604020202020204" pitchFamily="34" charset="0"/>
                </a:rPr>
                <a:t>economic and business aspects </a:t>
              </a:r>
              <a:r>
                <a:rPr lang="en-US" sz="1000" dirty="0">
                  <a:solidFill>
                    <a:schemeClr val="tx1">
                      <a:lumMod val="75000"/>
                      <a:lumOff val="25000"/>
                    </a:schemeClr>
                  </a:solidFill>
                  <a:latin typeface="Arial" panose="020B0604020202020204" pitchFamily="34" charset="0"/>
                  <a:cs typeface="Arial" panose="020B0604020202020204" pitchFamily="34" charset="0"/>
                </a:rPr>
                <a:t>of the beauty industry are gaining momentum, with </a:t>
              </a:r>
              <a:r>
                <a:rPr lang="en-US" sz="1000" b="1" dirty="0">
                  <a:solidFill>
                    <a:schemeClr val="tx1">
                      <a:lumMod val="75000"/>
                      <a:lumOff val="25000"/>
                    </a:schemeClr>
                  </a:solidFill>
                  <a:latin typeface="Arial" panose="020B0604020202020204" pitchFamily="34" charset="0"/>
                  <a:cs typeface="Arial" panose="020B0604020202020204" pitchFamily="34" charset="0"/>
                </a:rPr>
                <a:t>rising costs </a:t>
              </a:r>
              <a:r>
                <a:rPr lang="en-US" sz="1000" dirty="0">
                  <a:solidFill>
                    <a:schemeClr val="tx1">
                      <a:lumMod val="75000"/>
                      <a:lumOff val="25000"/>
                    </a:schemeClr>
                  </a:solidFill>
                  <a:latin typeface="Arial" panose="020B0604020202020204" pitchFamily="34" charset="0"/>
                  <a:cs typeface="Arial" panose="020B0604020202020204" pitchFamily="34" charset="0"/>
                </a:rPr>
                <a:t>and </a:t>
              </a:r>
              <a:r>
                <a:rPr lang="en-US" sz="1000" b="1" dirty="0">
                  <a:solidFill>
                    <a:schemeClr val="tx1">
                      <a:lumMod val="75000"/>
                      <a:lumOff val="25000"/>
                    </a:schemeClr>
                  </a:solidFill>
                  <a:latin typeface="Arial" panose="020B0604020202020204" pitchFamily="34" charset="0"/>
                  <a:cs typeface="Arial" panose="020B0604020202020204" pitchFamily="34" charset="0"/>
                </a:rPr>
                <a:t>inflation</a:t>
              </a:r>
              <a:r>
                <a:rPr lang="en-US" sz="1000" dirty="0">
                  <a:solidFill>
                    <a:schemeClr val="tx1">
                      <a:lumMod val="75000"/>
                      <a:lumOff val="25000"/>
                    </a:schemeClr>
                  </a:solidFill>
                  <a:latin typeface="Arial" panose="020B0604020202020204" pitchFamily="34" charset="0"/>
                  <a:cs typeface="Arial" panose="020B0604020202020204" pitchFamily="34" charset="0"/>
                </a:rPr>
                <a:t> emerging as key concerns. Conversations increasingly highlight </a:t>
              </a:r>
              <a:r>
                <a:rPr lang="en-US" sz="1000" b="1" dirty="0">
                  <a:solidFill>
                    <a:schemeClr val="tx1">
                      <a:lumMod val="75000"/>
                      <a:lumOff val="25000"/>
                    </a:schemeClr>
                  </a:solidFill>
                  <a:latin typeface="Arial" panose="020B0604020202020204" pitchFamily="34" charset="0"/>
                  <a:cs typeface="Arial" panose="020B0604020202020204" pitchFamily="34" charset="0"/>
                </a:rPr>
                <a:t>challenges facing franchising models</a:t>
              </a:r>
              <a:r>
                <a:rPr lang="en-US" sz="1000" dirty="0">
                  <a:solidFill>
                    <a:schemeClr val="tx1">
                      <a:lumMod val="75000"/>
                      <a:lumOff val="25000"/>
                    </a:schemeClr>
                  </a:solidFill>
                  <a:latin typeface="Arial" panose="020B0604020202020204" pitchFamily="34" charset="0"/>
                  <a:cs typeface="Arial" panose="020B0604020202020204" pitchFamily="34" charset="0"/>
                </a:rPr>
                <a:t>, </a:t>
              </a:r>
              <a:r>
                <a:rPr lang="en-US" sz="1000" b="1" dirty="0">
                  <a:solidFill>
                    <a:schemeClr val="tx1">
                      <a:lumMod val="75000"/>
                      <a:lumOff val="25000"/>
                    </a:schemeClr>
                  </a:solidFill>
                  <a:latin typeface="Arial" panose="020B0604020202020204" pitchFamily="34" charset="0"/>
                  <a:cs typeface="Arial" panose="020B0604020202020204" pitchFamily="34" charset="0"/>
                </a:rPr>
                <a:t>mobile beauty services, and salon expansions</a:t>
              </a:r>
              <a:r>
                <a:rPr lang="en-US" sz="1000" dirty="0">
                  <a:solidFill>
                    <a:schemeClr val="tx1">
                      <a:lumMod val="75000"/>
                      <a:lumOff val="25000"/>
                    </a:schemeClr>
                  </a:solidFill>
                  <a:latin typeface="Arial" panose="020B0604020202020204" pitchFamily="34" charset="0"/>
                  <a:cs typeface="Arial" panose="020B0604020202020204" pitchFamily="34" charset="0"/>
                </a:rPr>
                <a:t>. Many view the hairdressing and beauty sector as facing an </a:t>
              </a:r>
              <a:r>
                <a:rPr lang="en-US" sz="1000" b="1" dirty="0">
                  <a:solidFill>
                    <a:schemeClr val="tx1">
                      <a:lumMod val="75000"/>
                      <a:lumOff val="25000"/>
                    </a:schemeClr>
                  </a:solidFill>
                  <a:latin typeface="Arial" panose="020B0604020202020204" pitchFamily="34" charset="0"/>
                  <a:cs typeface="Arial" panose="020B0604020202020204" pitchFamily="34" charset="0"/>
                </a:rPr>
                <a:t>existential crisis</a:t>
              </a:r>
              <a:r>
                <a:rPr lang="en-US" sz="1000" dirty="0">
                  <a:solidFill>
                    <a:schemeClr val="tx1">
                      <a:lumMod val="75000"/>
                      <a:lumOff val="25000"/>
                    </a:schemeClr>
                  </a:solidFill>
                  <a:latin typeface="Arial" panose="020B0604020202020204" pitchFamily="34" charset="0"/>
                  <a:cs typeface="Arial" panose="020B0604020202020204" pitchFamily="34" charset="0"/>
                </a:rPr>
                <a:t>, driven by shrinking margins and shifting consumer behavior.</a:t>
              </a:r>
            </a:p>
          </p:txBody>
        </p:sp>
      </p:grpSp>
      <p:pic>
        <p:nvPicPr>
          <p:cNvPr id="43" name="Graphic 42">
            <a:extLst>
              <a:ext uri="{FF2B5EF4-FFF2-40B4-BE49-F238E27FC236}">
                <a16:creationId xmlns:a16="http://schemas.microsoft.com/office/drawing/2014/main" id="{E3709A73-9E98-2DAC-B2F5-C22363A9A9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4956237"/>
            <a:ext cx="123825" cy="117307"/>
          </a:xfrm>
          <a:prstGeom prst="rect">
            <a:avLst/>
          </a:prstGeom>
        </p:spPr>
      </p:pic>
      <p:sp>
        <p:nvSpPr>
          <p:cNvPr id="14" name="Freeform: Shape 23">
            <a:extLst>
              <a:ext uri="{FF2B5EF4-FFF2-40B4-BE49-F238E27FC236}">
                <a16:creationId xmlns:a16="http://schemas.microsoft.com/office/drawing/2014/main" id="{B15E81DA-7CD1-EEC0-EE66-D393C165C54B}"/>
              </a:ext>
            </a:extLst>
          </p:cNvPr>
          <p:cNvSpPr/>
          <p:nvPr/>
        </p:nvSpPr>
        <p:spPr>
          <a:xfrm>
            <a:off x="594618" y="3879347"/>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IN" sz="1100" dirty="0">
                <a:solidFill>
                  <a:srgbClr val="5E38B1"/>
                </a:solidFill>
                <a:latin typeface="Arial" panose="020B0604020202020204" pitchFamily="34" charset="0"/>
                <a:cs typeface="Arial" panose="020B0604020202020204" pitchFamily="34" charset="0"/>
              </a:rPr>
              <a:t>Celebrity &amp; Influencer Culture</a:t>
            </a:r>
          </a:p>
        </p:txBody>
      </p:sp>
      <p:sp>
        <p:nvSpPr>
          <p:cNvPr id="28" name="Freeform: Shape 17">
            <a:extLst>
              <a:ext uri="{FF2B5EF4-FFF2-40B4-BE49-F238E27FC236}">
                <a16:creationId xmlns:a16="http://schemas.microsoft.com/office/drawing/2014/main" id="{77C889C3-C00C-AF73-CE55-C265D67FDD30}"/>
              </a:ext>
            </a:extLst>
          </p:cNvPr>
          <p:cNvSpPr/>
          <p:nvPr/>
        </p:nvSpPr>
        <p:spPr>
          <a:xfrm>
            <a:off x="2303284" y="3956538"/>
            <a:ext cx="9221420"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Celebrity and influencer collaborations </a:t>
            </a:r>
            <a:r>
              <a:rPr lang="en-US" sz="1000" dirty="0">
                <a:solidFill>
                  <a:schemeClr val="tx1">
                    <a:lumMod val="75000"/>
                    <a:lumOff val="25000"/>
                  </a:schemeClr>
                </a:solidFill>
                <a:latin typeface="Arial" panose="020B0604020202020204" pitchFamily="34" charset="0"/>
                <a:cs typeface="Arial" panose="020B0604020202020204" pitchFamily="34" charset="0"/>
              </a:rPr>
              <a:t>are observed to be a major topic of discussion among beauty consumers, often sparking buzz around </a:t>
            </a:r>
            <a:r>
              <a:rPr lang="en-US" sz="1000" b="1" dirty="0">
                <a:solidFill>
                  <a:schemeClr val="tx1">
                    <a:lumMod val="75000"/>
                    <a:lumOff val="25000"/>
                  </a:schemeClr>
                </a:solidFill>
                <a:latin typeface="Arial" panose="020B0604020202020204" pitchFamily="34" charset="0"/>
                <a:cs typeface="Arial" panose="020B0604020202020204" pitchFamily="34" charset="0"/>
              </a:rPr>
              <a:t>new launches </a:t>
            </a:r>
            <a:r>
              <a:rPr lang="en-US" sz="1000" dirty="0">
                <a:solidFill>
                  <a:schemeClr val="tx1">
                    <a:lumMod val="75000"/>
                    <a:lumOff val="25000"/>
                  </a:schemeClr>
                </a:solidFill>
                <a:latin typeface="Arial" panose="020B0604020202020204" pitchFamily="34" charset="0"/>
                <a:cs typeface="Arial" panose="020B0604020202020204" pitchFamily="34" charset="0"/>
              </a:rPr>
              <a:t>and </a:t>
            </a:r>
            <a:r>
              <a:rPr lang="en-US" sz="1000" b="1" dirty="0">
                <a:solidFill>
                  <a:schemeClr val="tx1">
                    <a:lumMod val="75000"/>
                    <a:lumOff val="25000"/>
                  </a:schemeClr>
                </a:solidFill>
                <a:latin typeface="Arial" panose="020B0604020202020204" pitchFamily="34" charset="0"/>
                <a:cs typeface="Arial" panose="020B0604020202020204" pitchFamily="34" charset="0"/>
              </a:rPr>
              <a:t>limited-edition products</a:t>
            </a:r>
            <a:r>
              <a:rPr lang="en-US" sz="1000" dirty="0">
                <a:solidFill>
                  <a:schemeClr val="tx1">
                    <a:lumMod val="75000"/>
                    <a:lumOff val="25000"/>
                  </a:schemeClr>
                </a:solidFill>
                <a:latin typeface="Arial" panose="020B0604020202020204" pitchFamily="34" charset="0"/>
                <a:cs typeface="Arial" panose="020B0604020202020204" pitchFamily="34" charset="0"/>
              </a:rPr>
              <a:t>. These </a:t>
            </a:r>
            <a:r>
              <a:rPr lang="en-US" sz="1000" b="1" dirty="0">
                <a:solidFill>
                  <a:schemeClr val="tx1">
                    <a:lumMod val="75000"/>
                    <a:lumOff val="25000"/>
                  </a:schemeClr>
                </a:solidFill>
                <a:latin typeface="Arial" panose="020B0604020202020204" pitchFamily="34" charset="0"/>
                <a:cs typeface="Arial" panose="020B0604020202020204" pitchFamily="34" charset="0"/>
              </a:rPr>
              <a:t>partnerships</a:t>
            </a:r>
            <a:r>
              <a:rPr lang="en-US" sz="1000" dirty="0">
                <a:solidFill>
                  <a:schemeClr val="tx1">
                    <a:lumMod val="75000"/>
                    <a:lumOff val="25000"/>
                  </a:schemeClr>
                </a:solidFill>
                <a:latin typeface="Arial" panose="020B0604020202020204" pitchFamily="34" charset="0"/>
                <a:cs typeface="Arial" panose="020B0604020202020204" pitchFamily="34" charset="0"/>
              </a:rPr>
              <a:t> resonate due to their </a:t>
            </a:r>
            <a:r>
              <a:rPr lang="en-US" sz="1000" b="1" dirty="0">
                <a:solidFill>
                  <a:schemeClr val="tx1">
                    <a:lumMod val="75000"/>
                    <a:lumOff val="25000"/>
                  </a:schemeClr>
                </a:solidFill>
                <a:latin typeface="Arial" panose="020B0604020202020204" pitchFamily="34" charset="0"/>
                <a:cs typeface="Arial" panose="020B0604020202020204" pitchFamily="34" charset="0"/>
              </a:rPr>
              <a:t>authenticity</a:t>
            </a:r>
            <a:r>
              <a:rPr lang="en-US" sz="1000" dirty="0">
                <a:solidFill>
                  <a:schemeClr val="tx1">
                    <a:lumMod val="75000"/>
                    <a:lumOff val="25000"/>
                  </a:schemeClr>
                </a:solidFill>
                <a:latin typeface="Arial" panose="020B0604020202020204" pitchFamily="34" charset="0"/>
                <a:cs typeface="Arial" panose="020B0604020202020204" pitchFamily="34" charset="0"/>
              </a:rPr>
              <a:t> and </a:t>
            </a:r>
            <a:r>
              <a:rPr lang="en-US" sz="1000" b="1" dirty="0">
                <a:solidFill>
                  <a:schemeClr val="tx1">
                    <a:lumMod val="75000"/>
                    <a:lumOff val="25000"/>
                  </a:schemeClr>
                </a:solidFill>
                <a:latin typeface="Arial" panose="020B0604020202020204" pitchFamily="34" charset="0"/>
                <a:cs typeface="Arial" panose="020B0604020202020204" pitchFamily="34" charset="0"/>
              </a:rPr>
              <a:t>aspirational appeal</a:t>
            </a:r>
            <a:r>
              <a:rPr lang="en-US" sz="1000" dirty="0">
                <a:solidFill>
                  <a:schemeClr val="tx1">
                    <a:lumMod val="75000"/>
                    <a:lumOff val="25000"/>
                  </a:schemeClr>
                </a:solidFill>
                <a:latin typeface="Arial" panose="020B0604020202020204" pitchFamily="34" charset="0"/>
                <a:cs typeface="Arial" panose="020B0604020202020204" pitchFamily="34" charset="0"/>
              </a:rPr>
              <a:t>, making them highly shareable on social platforms. Consumers frequently engage with and seek out products tied to familiar, trusted faces. As a result, such collaborations play a key role in driving brand engagement and shaping beauty trends.</a:t>
            </a:r>
          </a:p>
        </p:txBody>
      </p:sp>
      <p:pic>
        <p:nvPicPr>
          <p:cNvPr id="44" name="Graphic 43">
            <a:extLst>
              <a:ext uri="{FF2B5EF4-FFF2-40B4-BE49-F238E27FC236}">
                <a16:creationId xmlns:a16="http://schemas.microsoft.com/office/drawing/2014/main" id="{0F9F3FB4-7D9D-2733-FB98-62BADB5881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3997063"/>
            <a:ext cx="123825" cy="117307"/>
          </a:xfrm>
          <a:prstGeom prst="rect">
            <a:avLst/>
          </a:prstGeom>
        </p:spPr>
      </p:pic>
      <p:sp>
        <p:nvSpPr>
          <p:cNvPr id="2" name="TextBox 1">
            <a:extLst>
              <a:ext uri="{FF2B5EF4-FFF2-40B4-BE49-F238E27FC236}">
                <a16:creationId xmlns:a16="http://schemas.microsoft.com/office/drawing/2014/main" id="{D1EFA0BB-74BC-BFC7-18C4-682CEA2A166A}"/>
              </a:ext>
            </a:extLst>
          </p:cNvPr>
          <p:cNvSpPr txBox="1"/>
          <p:nvPr/>
        </p:nvSpPr>
        <p:spPr>
          <a:xfrm>
            <a:off x="475117" y="1411415"/>
            <a:ext cx="11049586" cy="369332"/>
          </a:xfrm>
          <a:prstGeom prst="rect">
            <a:avLst/>
          </a:prstGeom>
          <a:gradFill>
            <a:gsLst>
              <a:gs pos="0">
                <a:srgbClr val="6D4AB8"/>
              </a:gs>
              <a:gs pos="98000">
                <a:srgbClr val="4A20A8"/>
              </a:gs>
            </a:gsLst>
            <a:lin ang="5400000" scaled="0"/>
          </a:gradFill>
        </p:spPr>
        <p:txBody>
          <a:bodyPr wrap="square" lIns="182880" tIns="91440" bIns="91440" rtlCol="0" anchor="ctr">
            <a:spAutoFit/>
          </a:bodyPr>
          <a:lstStyle/>
          <a:p>
            <a:pPr algn="ctr"/>
            <a:r>
              <a:rPr lang="en-US" sz="1200" dirty="0">
                <a:solidFill>
                  <a:schemeClr val="bg1"/>
                </a:solidFill>
                <a:latin typeface="Arial" panose="020B0604020202020204" pitchFamily="34" charset="0"/>
                <a:cs typeface="Arial" panose="020B0604020202020204" pitchFamily="34" charset="0"/>
              </a:rPr>
              <a:t>The Beauty Breakdown: Hot Topics in Hair &amp; Makeup Services</a:t>
            </a:r>
          </a:p>
        </p:txBody>
      </p:sp>
      <p:grpSp>
        <p:nvGrpSpPr>
          <p:cNvPr id="12" name="Group 11">
            <a:extLst>
              <a:ext uri="{FF2B5EF4-FFF2-40B4-BE49-F238E27FC236}">
                <a16:creationId xmlns:a16="http://schemas.microsoft.com/office/drawing/2014/main" id="{D354A31E-FAA9-6434-8D04-4FBA0855BD7A}"/>
              </a:ext>
            </a:extLst>
          </p:cNvPr>
          <p:cNvGrpSpPr/>
          <p:nvPr/>
        </p:nvGrpSpPr>
        <p:grpSpPr>
          <a:xfrm>
            <a:off x="594618" y="5797696"/>
            <a:ext cx="10930086" cy="671388"/>
            <a:chOff x="594618" y="4939621"/>
            <a:chExt cx="10930086" cy="671388"/>
          </a:xfrm>
        </p:grpSpPr>
        <p:sp>
          <p:nvSpPr>
            <p:cNvPr id="15" name="Freeform: Shape 25">
              <a:extLst>
                <a:ext uri="{FF2B5EF4-FFF2-40B4-BE49-F238E27FC236}">
                  <a16:creationId xmlns:a16="http://schemas.microsoft.com/office/drawing/2014/main" id="{3FB67BAB-EEDC-F056-E08A-A13D2A2542A8}"/>
                </a:ext>
              </a:extLst>
            </p:cNvPr>
            <p:cNvSpPr/>
            <p:nvPr/>
          </p:nvSpPr>
          <p:spPr>
            <a:xfrm>
              <a:off x="594618" y="4939621"/>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US" sz="1100" dirty="0">
                  <a:solidFill>
                    <a:srgbClr val="5E38B1"/>
                  </a:solidFill>
                  <a:latin typeface="Arial" panose="020B0604020202020204" pitchFamily="34" charset="0"/>
                  <a:cs typeface="Arial" panose="020B0604020202020204" pitchFamily="34" charset="0"/>
                </a:rPr>
                <a:t>Community &amp; Social Impact</a:t>
              </a:r>
            </a:p>
          </p:txBody>
        </p:sp>
        <p:sp>
          <p:nvSpPr>
            <p:cNvPr id="16" name="Freeform: Shape 24">
              <a:extLst>
                <a:ext uri="{FF2B5EF4-FFF2-40B4-BE49-F238E27FC236}">
                  <a16:creationId xmlns:a16="http://schemas.microsoft.com/office/drawing/2014/main" id="{D0529E05-0259-63DB-2B59-B11FC1EF752A}"/>
                </a:ext>
              </a:extLst>
            </p:cNvPr>
            <p:cNvSpPr/>
            <p:nvPr/>
          </p:nvSpPr>
          <p:spPr>
            <a:xfrm>
              <a:off x="2303284" y="5016812"/>
              <a:ext cx="9221420"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dirty="0">
                  <a:solidFill>
                    <a:schemeClr val="tx1">
                      <a:lumMod val="75000"/>
                      <a:lumOff val="25000"/>
                    </a:schemeClr>
                  </a:solidFill>
                  <a:latin typeface="Arial" panose="020B0604020202020204" pitchFamily="34" charset="0"/>
                  <a:cs typeface="Arial" panose="020B0604020202020204" pitchFamily="34" charset="0"/>
                </a:rPr>
                <a:t>Discussions on how beauty services are driving </a:t>
              </a:r>
              <a:r>
                <a:rPr lang="en-US" sz="1000" b="1" dirty="0">
                  <a:solidFill>
                    <a:schemeClr val="tx1">
                      <a:lumMod val="75000"/>
                      <a:lumOff val="25000"/>
                    </a:schemeClr>
                  </a:solidFill>
                  <a:latin typeface="Arial" panose="020B0604020202020204" pitchFamily="34" charset="0"/>
                  <a:cs typeface="Arial" panose="020B0604020202020204" pitchFamily="34" charset="0"/>
                </a:rPr>
                <a:t>community and social impact </a:t>
              </a:r>
              <a:r>
                <a:rPr lang="en-US" sz="1000" dirty="0">
                  <a:solidFill>
                    <a:schemeClr val="tx1">
                      <a:lumMod val="75000"/>
                      <a:lumOff val="25000"/>
                    </a:schemeClr>
                  </a:solidFill>
                  <a:latin typeface="Arial" panose="020B0604020202020204" pitchFamily="34" charset="0"/>
                  <a:cs typeface="Arial" panose="020B0604020202020204" pitchFamily="34" charset="0"/>
                </a:rPr>
                <a:t>have become key topics within the industry. Salons are being recognized not just as service providers, but as spaces that </a:t>
              </a:r>
              <a:r>
                <a:rPr lang="en-US" sz="1000" b="1" dirty="0">
                  <a:solidFill>
                    <a:schemeClr val="tx1">
                      <a:lumMod val="75000"/>
                      <a:lumOff val="25000"/>
                    </a:schemeClr>
                  </a:solidFill>
                  <a:latin typeface="Arial" panose="020B0604020202020204" pitchFamily="34" charset="0"/>
                  <a:cs typeface="Arial" panose="020B0604020202020204" pitchFamily="34" charset="0"/>
                </a:rPr>
                <a:t>foster belonging, confidence, and empowerment</a:t>
              </a:r>
              <a:r>
                <a:rPr lang="en-US" sz="1000" dirty="0">
                  <a:solidFill>
                    <a:schemeClr val="tx1">
                      <a:lumMod val="75000"/>
                      <a:lumOff val="25000"/>
                    </a:schemeClr>
                  </a:solidFill>
                  <a:latin typeface="Arial" panose="020B0604020202020204" pitchFamily="34" charset="0"/>
                  <a:cs typeface="Arial" panose="020B0604020202020204" pitchFamily="34" charset="0"/>
                </a:rPr>
                <a:t>, particularly in </a:t>
              </a:r>
              <a:r>
                <a:rPr lang="en-US" sz="1000" b="1" dirty="0">
                  <a:solidFill>
                    <a:schemeClr val="tx1">
                      <a:lumMod val="75000"/>
                      <a:lumOff val="25000"/>
                    </a:schemeClr>
                  </a:solidFill>
                  <a:latin typeface="Arial" panose="020B0604020202020204" pitchFamily="34" charset="0"/>
                  <a:cs typeface="Arial" panose="020B0604020202020204" pitchFamily="34" charset="0"/>
                </a:rPr>
                <a:t>marginalized communities</a:t>
              </a:r>
              <a:r>
                <a:rPr lang="en-US" sz="1000" dirty="0">
                  <a:solidFill>
                    <a:schemeClr val="tx1">
                      <a:lumMod val="75000"/>
                      <a:lumOff val="25000"/>
                    </a:schemeClr>
                  </a:solidFill>
                  <a:latin typeface="Arial" panose="020B0604020202020204" pitchFamily="34" charset="0"/>
                  <a:cs typeface="Arial" panose="020B0604020202020204" pitchFamily="34" charset="0"/>
                </a:rPr>
                <a:t>. Initiatives like free services for </a:t>
              </a:r>
              <a:r>
                <a:rPr lang="en-US" sz="1000" b="1" dirty="0">
                  <a:solidFill>
                    <a:schemeClr val="tx1">
                      <a:lumMod val="75000"/>
                      <a:lumOff val="25000"/>
                    </a:schemeClr>
                  </a:solidFill>
                  <a:latin typeface="Arial" panose="020B0604020202020204" pitchFamily="34" charset="0"/>
                  <a:cs typeface="Arial" panose="020B0604020202020204" pitchFamily="34" charset="0"/>
                </a:rPr>
                <a:t>cancer patients </a:t>
              </a:r>
              <a:r>
                <a:rPr lang="en-US" sz="1000" dirty="0">
                  <a:solidFill>
                    <a:schemeClr val="tx1">
                      <a:lumMod val="75000"/>
                      <a:lumOff val="25000"/>
                    </a:schemeClr>
                  </a:solidFill>
                  <a:latin typeface="Arial" panose="020B0604020202020204" pitchFamily="34" charset="0"/>
                  <a:cs typeface="Arial" panose="020B0604020202020204" pitchFamily="34" charset="0"/>
                </a:rPr>
                <a:t>or </a:t>
              </a:r>
              <a:r>
                <a:rPr lang="en-US" sz="1000" b="1" dirty="0">
                  <a:solidFill>
                    <a:schemeClr val="tx1">
                      <a:lumMod val="75000"/>
                      <a:lumOff val="25000"/>
                    </a:schemeClr>
                  </a:solidFill>
                  <a:latin typeface="Arial" panose="020B0604020202020204" pitchFamily="34" charset="0"/>
                  <a:cs typeface="Arial" panose="020B0604020202020204" pitchFamily="34" charset="0"/>
                </a:rPr>
                <a:t>disaster-affected </a:t>
              </a:r>
              <a:r>
                <a:rPr lang="en-US" sz="1000" dirty="0">
                  <a:solidFill>
                    <a:schemeClr val="tx1">
                      <a:lumMod val="75000"/>
                      <a:lumOff val="25000"/>
                    </a:schemeClr>
                  </a:solidFill>
                  <a:latin typeface="Arial" panose="020B0604020202020204" pitchFamily="34" charset="0"/>
                  <a:cs typeface="Arial" panose="020B0604020202020204" pitchFamily="34" charset="0"/>
                </a:rPr>
                <a:t>individuals reflect a growing commitment to inclusivity and care. </a:t>
              </a:r>
            </a:p>
          </p:txBody>
        </p:sp>
      </p:grpSp>
      <p:pic>
        <p:nvPicPr>
          <p:cNvPr id="13" name="Graphic 12">
            <a:extLst>
              <a:ext uri="{FF2B5EF4-FFF2-40B4-BE49-F238E27FC236}">
                <a16:creationId xmlns:a16="http://schemas.microsoft.com/office/drawing/2014/main" id="{74ECC9CA-58F5-F385-E9F0-F4DD04AB7AD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5915412"/>
            <a:ext cx="123825" cy="117307"/>
          </a:xfrm>
          <a:prstGeom prst="rect">
            <a:avLst/>
          </a:prstGeom>
        </p:spPr>
      </p:pic>
    </p:spTree>
    <p:extLst>
      <p:ext uri="{BB962C8B-B14F-4D97-AF65-F5344CB8AC3E}">
        <p14:creationId xmlns:p14="http://schemas.microsoft.com/office/powerpoint/2010/main" val="404197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E20CA-3464-7F86-C2CA-3BEE2AB084ED}"/>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5355B8E9-7788-6F11-97C9-EBFC11922E12}"/>
              </a:ext>
            </a:extLst>
          </p:cNvPr>
          <p:cNvSpPr txBox="1"/>
          <p:nvPr/>
        </p:nvSpPr>
        <p:spPr>
          <a:xfrm>
            <a:off x="5681272" y="300380"/>
            <a:ext cx="5843431" cy="1015663"/>
          </a:xfrm>
          <a:prstGeom prst="rect">
            <a:avLst/>
          </a:prstGeom>
          <a:noFill/>
        </p:spPr>
        <p:txBody>
          <a:bodyPr wrap="square" rtlCol="0">
            <a:spAutoFit/>
          </a:bodyPr>
          <a:lstStyle/>
          <a:p>
            <a:r>
              <a:rPr lang="en-US" sz="1200" dirty="0">
                <a:solidFill>
                  <a:schemeClr val="tx1">
                    <a:lumMod val="75000"/>
                    <a:lumOff val="25000"/>
                  </a:schemeClr>
                </a:solidFill>
                <a:latin typeface="Arial" panose="020B0604020202020204" pitchFamily="34" charset="0"/>
                <a:cs typeface="Arial" panose="020B0604020202020204" pitchFamily="34" charset="0"/>
              </a:rPr>
              <a:t>Beauty services are becoming more inclusive, wellness focused, and tech forward, blending cultural sensitivity, health-conscious care, and innovative tools to meet modern needs. From gender-affirming treatments and mobile salons to AI booking and expert led training, the industry is evolving to offer safer, smarter, and more accessible experiences for all.</a:t>
            </a:r>
          </a:p>
        </p:txBody>
      </p:sp>
      <p:sp>
        <p:nvSpPr>
          <p:cNvPr id="4" name="Text Placeholder 26">
            <a:extLst>
              <a:ext uri="{FF2B5EF4-FFF2-40B4-BE49-F238E27FC236}">
                <a16:creationId xmlns:a16="http://schemas.microsoft.com/office/drawing/2014/main" id="{6A90CF81-1C78-D3F7-1A6A-37E3F5D6DF3B}"/>
              </a:ext>
            </a:extLst>
          </p:cNvPr>
          <p:cNvSpPr txBox="1">
            <a:spLocks/>
          </p:cNvSpPr>
          <p:nvPr/>
        </p:nvSpPr>
        <p:spPr>
          <a:xfrm>
            <a:off x="475116" y="391174"/>
            <a:ext cx="5026274" cy="740203"/>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300"/>
              </a:spcBef>
              <a:buNone/>
            </a:pPr>
            <a:r>
              <a:rPr lang="en-US" sz="3200" b="1" dirty="0">
                <a:latin typeface="Arial" panose="020B0604020202020204" pitchFamily="34" charset="0"/>
                <a:cs typeface="Arial" panose="020B0604020202020204" pitchFamily="34" charset="0"/>
              </a:rPr>
              <a:t>Key Topics (2/2)</a:t>
            </a:r>
            <a:endParaRPr lang="en-US" sz="1800" dirty="0">
              <a:latin typeface="Arial" panose="020B0604020202020204" pitchFamily="34" charset="0"/>
              <a:cs typeface="Arial" panose="020B0604020202020204" pitchFamily="34" charset="0"/>
            </a:endParaRPr>
          </a:p>
        </p:txBody>
      </p:sp>
      <p:sp>
        <p:nvSpPr>
          <p:cNvPr id="3" name="Freeform: Shape 8">
            <a:extLst>
              <a:ext uri="{FF2B5EF4-FFF2-40B4-BE49-F238E27FC236}">
                <a16:creationId xmlns:a16="http://schemas.microsoft.com/office/drawing/2014/main" id="{B5BC96BB-5214-1C60-7C1A-84642A302BB4}"/>
              </a:ext>
            </a:extLst>
          </p:cNvPr>
          <p:cNvSpPr/>
          <p:nvPr/>
        </p:nvSpPr>
        <p:spPr>
          <a:xfrm>
            <a:off x="594618" y="1960999"/>
            <a:ext cx="1843782"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US" sz="1100" dirty="0">
                <a:solidFill>
                  <a:srgbClr val="5E38B1"/>
                </a:solidFill>
                <a:latin typeface="Arial" panose="020B0604020202020204" pitchFamily="34" charset="0"/>
                <a:cs typeface="Arial" panose="020B0604020202020204" pitchFamily="34" charset="0"/>
              </a:rPr>
              <a:t>Inclusive &amp; Culturally Rooted Beauty Care</a:t>
            </a:r>
          </a:p>
        </p:txBody>
      </p:sp>
      <p:sp>
        <p:nvSpPr>
          <p:cNvPr id="23" name="Freeform: Shape 7">
            <a:extLst>
              <a:ext uri="{FF2B5EF4-FFF2-40B4-BE49-F238E27FC236}">
                <a16:creationId xmlns:a16="http://schemas.microsoft.com/office/drawing/2014/main" id="{B8E38C66-FF32-5859-0093-7A05792E480D}"/>
              </a:ext>
            </a:extLst>
          </p:cNvPr>
          <p:cNvSpPr/>
          <p:nvPr/>
        </p:nvSpPr>
        <p:spPr>
          <a:xfrm>
            <a:off x="2303283" y="2038190"/>
            <a:ext cx="9431517"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Inclusive and Culturally Rooted Beauty Care</a:t>
            </a:r>
            <a:r>
              <a:rPr lang="en-US" sz="1000" dirty="0">
                <a:solidFill>
                  <a:schemeClr val="tx1">
                    <a:lumMod val="75000"/>
                    <a:lumOff val="25000"/>
                  </a:schemeClr>
                </a:solidFill>
                <a:latin typeface="Arial" panose="020B0604020202020204" pitchFamily="34" charset="0"/>
                <a:cs typeface="Arial" panose="020B0604020202020204" pitchFamily="34" charset="0"/>
              </a:rPr>
              <a:t> is gaining increased attention as beauty consumers and professionals push for services that reflect diverse identities, experiences, and needs. The conversation is expanding beyond aesthetics to prioritize care that is </a:t>
            </a:r>
            <a:r>
              <a:rPr lang="en-US" sz="1000" b="1" dirty="0">
                <a:solidFill>
                  <a:schemeClr val="tx1">
                    <a:lumMod val="75000"/>
                    <a:lumOff val="25000"/>
                  </a:schemeClr>
                </a:solidFill>
                <a:latin typeface="Arial" panose="020B0604020202020204" pitchFamily="34" charset="0"/>
                <a:cs typeface="Arial" panose="020B0604020202020204" pitchFamily="34" charset="0"/>
              </a:rPr>
              <a:t>affirming</a:t>
            </a:r>
            <a:r>
              <a:rPr lang="en-US" sz="1000" dirty="0">
                <a:solidFill>
                  <a:schemeClr val="tx1">
                    <a:lumMod val="75000"/>
                    <a:lumOff val="25000"/>
                  </a:schemeClr>
                </a:solidFill>
                <a:latin typeface="Arial" panose="020B0604020202020204" pitchFamily="34" charset="0"/>
                <a:cs typeface="Arial" panose="020B0604020202020204" pitchFamily="34" charset="0"/>
              </a:rPr>
              <a:t> and </a:t>
            </a:r>
            <a:r>
              <a:rPr lang="en-US" sz="1000" b="1" dirty="0">
                <a:solidFill>
                  <a:schemeClr val="tx1">
                    <a:lumMod val="75000"/>
                    <a:lumOff val="25000"/>
                  </a:schemeClr>
                </a:solidFill>
                <a:latin typeface="Arial" panose="020B0604020202020204" pitchFamily="34" charset="0"/>
                <a:cs typeface="Arial" panose="020B0604020202020204" pitchFamily="34" charset="0"/>
              </a:rPr>
              <a:t>culturally sensitive</a:t>
            </a:r>
            <a:r>
              <a:rPr lang="en-US" sz="1000" dirty="0">
                <a:solidFill>
                  <a:schemeClr val="tx1">
                    <a:lumMod val="75000"/>
                    <a:lumOff val="25000"/>
                  </a:schemeClr>
                </a:solidFill>
                <a:latin typeface="Arial" panose="020B0604020202020204" pitchFamily="34" charset="0"/>
                <a:cs typeface="Arial" panose="020B0604020202020204" pitchFamily="34" charset="0"/>
              </a:rPr>
              <a:t>. This includes </a:t>
            </a:r>
            <a:r>
              <a:rPr lang="en-US" sz="1000" b="1" dirty="0">
                <a:solidFill>
                  <a:schemeClr val="tx1">
                    <a:lumMod val="75000"/>
                    <a:lumOff val="25000"/>
                  </a:schemeClr>
                </a:solidFill>
                <a:latin typeface="Arial" panose="020B0604020202020204" pitchFamily="34" charset="0"/>
                <a:cs typeface="Arial" panose="020B0604020202020204" pitchFamily="34" charset="0"/>
              </a:rPr>
              <a:t>gender-affirming hairstyles, trauma-informed services,</a:t>
            </a:r>
            <a:r>
              <a:rPr lang="en-US" sz="1000" dirty="0">
                <a:solidFill>
                  <a:schemeClr val="tx1">
                    <a:lumMod val="75000"/>
                    <a:lumOff val="25000"/>
                  </a:schemeClr>
                </a:solidFill>
                <a:latin typeface="Arial" panose="020B0604020202020204" pitchFamily="34" charset="0"/>
                <a:cs typeface="Arial" panose="020B0604020202020204" pitchFamily="34" charset="0"/>
              </a:rPr>
              <a:t> and </a:t>
            </a:r>
            <a:r>
              <a:rPr lang="en-US" sz="1000" b="1" dirty="0">
                <a:solidFill>
                  <a:schemeClr val="tx1">
                    <a:lumMod val="75000"/>
                    <a:lumOff val="25000"/>
                  </a:schemeClr>
                </a:solidFill>
                <a:latin typeface="Arial" panose="020B0604020202020204" pitchFamily="34" charset="0"/>
                <a:cs typeface="Arial" panose="020B0604020202020204" pitchFamily="34" charset="0"/>
              </a:rPr>
              <a:t>medically adaptive treatments </a:t>
            </a:r>
            <a:r>
              <a:rPr lang="en-US" sz="1000" dirty="0">
                <a:solidFill>
                  <a:schemeClr val="tx1">
                    <a:lumMod val="75000"/>
                    <a:lumOff val="25000"/>
                  </a:schemeClr>
                </a:solidFill>
                <a:latin typeface="Arial" panose="020B0604020202020204" pitchFamily="34" charset="0"/>
                <a:cs typeface="Arial" panose="020B0604020202020204" pitchFamily="34" charset="0"/>
              </a:rPr>
              <a:t>for individuals recovering from illness, such as cancer survivors. </a:t>
            </a:r>
          </a:p>
        </p:txBody>
      </p:sp>
      <p:pic>
        <p:nvPicPr>
          <p:cNvPr id="40" name="Graphic 39">
            <a:extLst>
              <a:ext uri="{FF2B5EF4-FFF2-40B4-BE49-F238E27FC236}">
                <a16:creationId xmlns:a16="http://schemas.microsoft.com/office/drawing/2014/main" id="{8BF1D01B-F22C-C2A5-3C6B-4164956D9D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2168772"/>
            <a:ext cx="123825" cy="117307"/>
          </a:xfrm>
          <a:prstGeom prst="rect">
            <a:avLst/>
          </a:prstGeom>
        </p:spPr>
      </p:pic>
      <p:sp>
        <p:nvSpPr>
          <p:cNvPr id="7" name="Freeform: Shape 14">
            <a:extLst>
              <a:ext uri="{FF2B5EF4-FFF2-40B4-BE49-F238E27FC236}">
                <a16:creationId xmlns:a16="http://schemas.microsoft.com/office/drawing/2014/main" id="{F2E2F5CD-68B1-CEB3-46D7-87F752336CDA}"/>
              </a:ext>
            </a:extLst>
          </p:cNvPr>
          <p:cNvSpPr/>
          <p:nvPr/>
        </p:nvSpPr>
        <p:spPr>
          <a:xfrm>
            <a:off x="594618" y="2920173"/>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IN" sz="1100" dirty="0">
                <a:solidFill>
                  <a:srgbClr val="5E38B1"/>
                </a:solidFill>
                <a:latin typeface="Arial" panose="020B0604020202020204" pitchFamily="34" charset="0"/>
                <a:cs typeface="Arial" panose="020B0604020202020204" pitchFamily="34" charset="0"/>
              </a:rPr>
              <a:t>Health, Wellness &amp; Safety</a:t>
            </a:r>
          </a:p>
        </p:txBody>
      </p:sp>
      <p:sp>
        <p:nvSpPr>
          <p:cNvPr id="27" name="Freeform: Shape 13">
            <a:extLst>
              <a:ext uri="{FF2B5EF4-FFF2-40B4-BE49-F238E27FC236}">
                <a16:creationId xmlns:a16="http://schemas.microsoft.com/office/drawing/2014/main" id="{31390521-DDA0-FF37-4846-B8C68AF71ED8}"/>
              </a:ext>
            </a:extLst>
          </p:cNvPr>
          <p:cNvSpPr/>
          <p:nvPr/>
        </p:nvSpPr>
        <p:spPr>
          <a:xfrm>
            <a:off x="2303283" y="2997364"/>
            <a:ext cx="9431517"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Health, Wellness &amp; Safety </a:t>
            </a:r>
            <a:r>
              <a:rPr lang="en-US" sz="1000" dirty="0">
                <a:solidFill>
                  <a:schemeClr val="tx1">
                    <a:lumMod val="75000"/>
                    <a:lumOff val="25000"/>
                  </a:schemeClr>
                </a:solidFill>
                <a:latin typeface="Arial" panose="020B0604020202020204" pitchFamily="34" charset="0"/>
                <a:cs typeface="Arial" panose="020B0604020202020204" pitchFamily="34" charset="0"/>
              </a:rPr>
              <a:t>is emerging as a key area of discussion in the beauty industry, driven by consumers' increasing demand for </a:t>
            </a:r>
            <a:r>
              <a:rPr lang="en-US" sz="1000" b="1" dirty="0">
                <a:solidFill>
                  <a:schemeClr val="tx1">
                    <a:lumMod val="75000"/>
                    <a:lumOff val="25000"/>
                  </a:schemeClr>
                </a:solidFill>
                <a:latin typeface="Arial" panose="020B0604020202020204" pitchFamily="34" charset="0"/>
                <a:cs typeface="Arial" panose="020B0604020202020204" pitchFamily="34" charset="0"/>
              </a:rPr>
              <a:t>transparency, safety, and sustainability</a:t>
            </a:r>
            <a:r>
              <a:rPr lang="en-US" sz="1000" dirty="0">
                <a:solidFill>
                  <a:schemeClr val="tx1">
                    <a:lumMod val="75000"/>
                    <a:lumOff val="25000"/>
                  </a:schemeClr>
                </a:solidFill>
                <a:latin typeface="Arial" panose="020B0604020202020204" pitchFamily="34" charset="0"/>
                <a:cs typeface="Arial" panose="020B0604020202020204" pitchFamily="34" charset="0"/>
              </a:rPr>
              <a:t>. Salons are responding by adopting </a:t>
            </a:r>
            <a:r>
              <a:rPr lang="en-US" sz="1000" b="1" dirty="0">
                <a:solidFill>
                  <a:schemeClr val="tx1">
                    <a:lumMod val="75000"/>
                    <a:lumOff val="25000"/>
                  </a:schemeClr>
                </a:solidFill>
                <a:latin typeface="Arial" panose="020B0604020202020204" pitchFamily="34" charset="0"/>
                <a:cs typeface="Arial" panose="020B0604020202020204" pitchFamily="34" charset="0"/>
              </a:rPr>
              <a:t>cleaner chemical alternatives</a:t>
            </a:r>
            <a:r>
              <a:rPr lang="en-US" sz="1000" dirty="0">
                <a:solidFill>
                  <a:schemeClr val="tx1">
                    <a:lumMod val="75000"/>
                    <a:lumOff val="25000"/>
                  </a:schemeClr>
                </a:solidFill>
                <a:latin typeface="Arial" panose="020B0604020202020204" pitchFamily="34" charset="0"/>
                <a:cs typeface="Arial" panose="020B0604020202020204" pitchFamily="34" charset="0"/>
              </a:rPr>
              <a:t>, enhancing </a:t>
            </a:r>
            <a:r>
              <a:rPr lang="en-US" sz="1000" b="1" dirty="0">
                <a:solidFill>
                  <a:schemeClr val="tx1">
                    <a:lumMod val="75000"/>
                    <a:lumOff val="25000"/>
                  </a:schemeClr>
                </a:solidFill>
                <a:latin typeface="Arial" panose="020B0604020202020204" pitchFamily="34" charset="0"/>
                <a:cs typeface="Arial" panose="020B0604020202020204" pitchFamily="34" charset="0"/>
              </a:rPr>
              <a:t>hygiene protocols</a:t>
            </a:r>
            <a:r>
              <a:rPr lang="en-US" sz="1000" dirty="0">
                <a:solidFill>
                  <a:schemeClr val="tx1">
                    <a:lumMod val="75000"/>
                    <a:lumOff val="25000"/>
                  </a:schemeClr>
                </a:solidFill>
                <a:latin typeface="Arial" panose="020B0604020202020204" pitchFamily="34" charset="0"/>
                <a:cs typeface="Arial" panose="020B0604020202020204" pitchFamily="34" charset="0"/>
              </a:rPr>
              <a:t>, and integrating </a:t>
            </a:r>
            <a:r>
              <a:rPr lang="en-US" sz="1000" b="1" dirty="0">
                <a:solidFill>
                  <a:schemeClr val="tx1">
                    <a:lumMod val="75000"/>
                    <a:lumOff val="25000"/>
                  </a:schemeClr>
                </a:solidFill>
                <a:latin typeface="Arial" panose="020B0604020202020204" pitchFamily="34" charset="0"/>
                <a:cs typeface="Arial" panose="020B0604020202020204" pitchFamily="34" charset="0"/>
              </a:rPr>
              <a:t>wellness</a:t>
            </a:r>
            <a:r>
              <a:rPr lang="en-US" sz="1000" dirty="0">
                <a:solidFill>
                  <a:schemeClr val="tx1">
                    <a:lumMod val="75000"/>
                    <a:lumOff val="25000"/>
                  </a:schemeClr>
                </a:solidFill>
                <a:latin typeface="Arial" panose="020B0604020202020204" pitchFamily="34" charset="0"/>
                <a:cs typeface="Arial" panose="020B0604020202020204" pitchFamily="34" charset="0"/>
              </a:rPr>
              <a:t> practices into their services. This shift signals a more holistic approach, where beauty goes hand in hand with mental well-being, scalp and skin health, and environmental responsibility. </a:t>
            </a:r>
            <a:endParaRPr lang="en-US" sz="1000" dirty="0">
              <a:solidFill>
                <a:schemeClr val="tx1"/>
              </a:solidFill>
              <a:latin typeface="Arial" panose="020B0604020202020204" pitchFamily="34" charset="0"/>
              <a:cs typeface="Arial" panose="020B0604020202020204" pitchFamily="34" charset="0"/>
            </a:endParaRPr>
          </a:p>
        </p:txBody>
      </p:sp>
      <p:pic>
        <p:nvPicPr>
          <p:cNvPr id="41" name="Graphic 40">
            <a:extLst>
              <a:ext uri="{FF2B5EF4-FFF2-40B4-BE49-F238E27FC236}">
                <a16:creationId xmlns:a16="http://schemas.microsoft.com/office/drawing/2014/main" id="{0400AFC4-713A-32BA-E69D-DE741AD1E8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3037889"/>
            <a:ext cx="123825" cy="117307"/>
          </a:xfrm>
          <a:prstGeom prst="rect">
            <a:avLst/>
          </a:prstGeom>
        </p:spPr>
      </p:pic>
      <p:grpSp>
        <p:nvGrpSpPr>
          <p:cNvPr id="5" name="Group 4">
            <a:extLst>
              <a:ext uri="{FF2B5EF4-FFF2-40B4-BE49-F238E27FC236}">
                <a16:creationId xmlns:a16="http://schemas.microsoft.com/office/drawing/2014/main" id="{421E292F-990C-7608-B1DB-BA0ABD07496C}"/>
              </a:ext>
            </a:extLst>
          </p:cNvPr>
          <p:cNvGrpSpPr/>
          <p:nvPr/>
        </p:nvGrpSpPr>
        <p:grpSpPr>
          <a:xfrm>
            <a:off x="594618" y="4838521"/>
            <a:ext cx="11140182" cy="671388"/>
            <a:chOff x="594618" y="4939621"/>
            <a:chExt cx="11140182" cy="671388"/>
          </a:xfrm>
        </p:grpSpPr>
        <p:sp>
          <p:nvSpPr>
            <p:cNvPr id="19" name="Freeform: Shape 25">
              <a:extLst>
                <a:ext uri="{FF2B5EF4-FFF2-40B4-BE49-F238E27FC236}">
                  <a16:creationId xmlns:a16="http://schemas.microsoft.com/office/drawing/2014/main" id="{83426BEA-6FF2-050A-68CD-0A1EE4C69ACB}"/>
                </a:ext>
              </a:extLst>
            </p:cNvPr>
            <p:cNvSpPr/>
            <p:nvPr/>
          </p:nvSpPr>
          <p:spPr>
            <a:xfrm>
              <a:off x="594618" y="4939621"/>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IN" sz="1100" dirty="0">
                  <a:solidFill>
                    <a:srgbClr val="5E38B1"/>
                  </a:solidFill>
                  <a:latin typeface="Arial" panose="020B0604020202020204" pitchFamily="34" charset="0"/>
                  <a:cs typeface="Arial" panose="020B0604020202020204" pitchFamily="34" charset="0"/>
                </a:rPr>
                <a:t>Professional Expertise &amp; Education</a:t>
              </a:r>
            </a:p>
          </p:txBody>
        </p:sp>
        <p:sp>
          <p:nvSpPr>
            <p:cNvPr id="29" name="Freeform: Shape 24">
              <a:extLst>
                <a:ext uri="{FF2B5EF4-FFF2-40B4-BE49-F238E27FC236}">
                  <a16:creationId xmlns:a16="http://schemas.microsoft.com/office/drawing/2014/main" id="{60B5734B-E4CC-3941-C4A5-EDC0A89F7E4C}"/>
                </a:ext>
              </a:extLst>
            </p:cNvPr>
            <p:cNvSpPr/>
            <p:nvPr/>
          </p:nvSpPr>
          <p:spPr>
            <a:xfrm>
              <a:off x="2303283" y="5016812"/>
              <a:ext cx="9431517"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Professional Expertise &amp; Education </a:t>
              </a:r>
              <a:r>
                <a:rPr lang="en-US" sz="1000" dirty="0">
                  <a:solidFill>
                    <a:schemeClr val="tx1">
                      <a:lumMod val="75000"/>
                      <a:lumOff val="25000"/>
                    </a:schemeClr>
                  </a:solidFill>
                  <a:latin typeface="Arial" panose="020B0604020202020204" pitchFamily="34" charset="0"/>
                  <a:cs typeface="Arial" panose="020B0604020202020204" pitchFamily="34" charset="0"/>
                </a:rPr>
                <a:t>is a core topic in the beauty industry, reflecting the growing emphasis on </a:t>
              </a:r>
              <a:r>
                <a:rPr lang="en-US" sz="1000" b="1" dirty="0">
                  <a:solidFill>
                    <a:schemeClr val="tx1">
                      <a:lumMod val="75000"/>
                      <a:lumOff val="25000"/>
                    </a:schemeClr>
                  </a:solidFill>
                  <a:latin typeface="Arial" panose="020B0604020202020204" pitchFamily="34" charset="0"/>
                  <a:cs typeface="Arial" panose="020B0604020202020204" pitchFamily="34" charset="0"/>
                </a:rPr>
                <a:t>skill development </a:t>
              </a:r>
              <a:r>
                <a:rPr lang="en-US" sz="1000" dirty="0">
                  <a:solidFill>
                    <a:schemeClr val="tx1">
                      <a:lumMod val="75000"/>
                      <a:lumOff val="25000"/>
                    </a:schemeClr>
                  </a:solidFill>
                  <a:latin typeface="Arial" panose="020B0604020202020204" pitchFamily="34" charset="0"/>
                  <a:cs typeface="Arial" panose="020B0604020202020204" pitchFamily="34" charset="0"/>
                </a:rPr>
                <a:t>and </a:t>
              </a:r>
              <a:r>
                <a:rPr lang="en-US" sz="1000" b="1" dirty="0">
                  <a:solidFill>
                    <a:schemeClr val="tx1">
                      <a:lumMod val="75000"/>
                      <a:lumOff val="25000"/>
                    </a:schemeClr>
                  </a:solidFill>
                  <a:latin typeface="Arial" panose="020B0604020202020204" pitchFamily="34" charset="0"/>
                  <a:cs typeface="Arial" panose="020B0604020202020204" pitchFamily="34" charset="0"/>
                </a:rPr>
                <a:t>service excellence</a:t>
              </a:r>
              <a:r>
                <a:rPr lang="en-US" sz="1000" dirty="0">
                  <a:solidFill>
                    <a:schemeClr val="tx1">
                      <a:lumMod val="75000"/>
                      <a:lumOff val="25000"/>
                    </a:schemeClr>
                  </a:solidFill>
                  <a:latin typeface="Arial" panose="020B0604020202020204" pitchFamily="34" charset="0"/>
                  <a:cs typeface="Arial" panose="020B0604020202020204" pitchFamily="34" charset="0"/>
                </a:rPr>
                <a:t>. Ongoing education, through </a:t>
              </a:r>
              <a:r>
                <a:rPr lang="en-US" sz="1000" b="1" dirty="0">
                  <a:solidFill>
                    <a:schemeClr val="tx1">
                      <a:lumMod val="75000"/>
                      <a:lumOff val="25000"/>
                    </a:schemeClr>
                  </a:solidFill>
                  <a:latin typeface="Arial" panose="020B0604020202020204" pitchFamily="34" charset="0"/>
                  <a:cs typeface="Arial" panose="020B0604020202020204" pitchFamily="34" charset="0"/>
                </a:rPr>
                <a:t>certifications</a:t>
              </a:r>
              <a:r>
                <a:rPr lang="en-US" sz="1000" dirty="0">
                  <a:solidFill>
                    <a:schemeClr val="tx1">
                      <a:lumMod val="75000"/>
                      <a:lumOff val="25000"/>
                    </a:schemeClr>
                  </a:solidFill>
                  <a:latin typeface="Arial" panose="020B0604020202020204" pitchFamily="34" charset="0"/>
                  <a:cs typeface="Arial" panose="020B0604020202020204" pitchFamily="34" charset="0"/>
                </a:rPr>
                <a:t>, </a:t>
              </a:r>
              <a:r>
                <a:rPr lang="en-US" sz="1000" b="1" dirty="0">
                  <a:solidFill>
                    <a:schemeClr val="tx1">
                      <a:lumMod val="75000"/>
                      <a:lumOff val="25000"/>
                    </a:schemeClr>
                  </a:solidFill>
                  <a:latin typeface="Arial" panose="020B0604020202020204" pitchFamily="34" charset="0"/>
                  <a:cs typeface="Arial" panose="020B0604020202020204" pitchFamily="34" charset="0"/>
                </a:rPr>
                <a:t>brand training</a:t>
              </a:r>
              <a:r>
                <a:rPr lang="en-US" sz="1000" dirty="0">
                  <a:solidFill>
                    <a:schemeClr val="tx1">
                      <a:lumMod val="75000"/>
                      <a:lumOff val="25000"/>
                    </a:schemeClr>
                  </a:solidFill>
                  <a:latin typeface="Arial" panose="020B0604020202020204" pitchFamily="34" charset="0"/>
                  <a:cs typeface="Arial" panose="020B0604020202020204" pitchFamily="34" charset="0"/>
                </a:rPr>
                <a:t>, and </a:t>
              </a:r>
              <a:r>
                <a:rPr lang="en-US" sz="1000" b="1" dirty="0">
                  <a:solidFill>
                    <a:schemeClr val="tx1">
                      <a:lumMod val="75000"/>
                      <a:lumOff val="25000"/>
                    </a:schemeClr>
                  </a:solidFill>
                  <a:latin typeface="Arial" panose="020B0604020202020204" pitchFamily="34" charset="0"/>
                  <a:cs typeface="Arial" panose="020B0604020202020204" pitchFamily="34" charset="0"/>
                </a:rPr>
                <a:t>expert-led masterclasses </a:t>
              </a:r>
              <a:r>
                <a:rPr lang="en-US" sz="1000" dirty="0">
                  <a:solidFill>
                    <a:schemeClr val="tx1">
                      <a:lumMod val="75000"/>
                      <a:lumOff val="25000"/>
                    </a:schemeClr>
                  </a:solidFill>
                  <a:latin typeface="Arial" panose="020B0604020202020204" pitchFamily="34" charset="0"/>
                  <a:cs typeface="Arial" panose="020B0604020202020204" pitchFamily="34" charset="0"/>
                </a:rPr>
                <a:t>by professionals is raising industry standards. These programs empower stylists and beauty professionals to stay current with trends, techniques, and safety protocols. By prioritizing continuous learning, the industry ensures clients receive informed, high-quality, and personalized care in an ever-evolving beauty landscape.</a:t>
              </a:r>
            </a:p>
          </p:txBody>
        </p:sp>
      </p:grpSp>
      <p:pic>
        <p:nvPicPr>
          <p:cNvPr id="43" name="Graphic 42">
            <a:extLst>
              <a:ext uri="{FF2B5EF4-FFF2-40B4-BE49-F238E27FC236}">
                <a16:creationId xmlns:a16="http://schemas.microsoft.com/office/drawing/2014/main" id="{7A3CD8E1-9B65-7819-140A-3EB85B37AC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4956237"/>
            <a:ext cx="123825" cy="117307"/>
          </a:xfrm>
          <a:prstGeom prst="rect">
            <a:avLst/>
          </a:prstGeom>
        </p:spPr>
      </p:pic>
      <p:sp>
        <p:nvSpPr>
          <p:cNvPr id="14" name="Freeform: Shape 23">
            <a:extLst>
              <a:ext uri="{FF2B5EF4-FFF2-40B4-BE49-F238E27FC236}">
                <a16:creationId xmlns:a16="http://schemas.microsoft.com/office/drawing/2014/main" id="{954C6671-730A-2E8A-28C6-4A8A0A893108}"/>
              </a:ext>
            </a:extLst>
          </p:cNvPr>
          <p:cNvSpPr/>
          <p:nvPr/>
        </p:nvSpPr>
        <p:spPr>
          <a:xfrm>
            <a:off x="594618" y="3879347"/>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IN" sz="1100" dirty="0">
                <a:solidFill>
                  <a:srgbClr val="5E38B1"/>
                </a:solidFill>
                <a:latin typeface="Arial" panose="020B0604020202020204" pitchFamily="34" charset="0"/>
                <a:cs typeface="Arial" panose="020B0604020202020204" pitchFamily="34" charset="0"/>
              </a:rPr>
              <a:t>Technology &amp; Innovation</a:t>
            </a:r>
          </a:p>
        </p:txBody>
      </p:sp>
      <p:sp>
        <p:nvSpPr>
          <p:cNvPr id="28" name="Freeform: Shape 17">
            <a:extLst>
              <a:ext uri="{FF2B5EF4-FFF2-40B4-BE49-F238E27FC236}">
                <a16:creationId xmlns:a16="http://schemas.microsoft.com/office/drawing/2014/main" id="{EBA7E7F8-1294-9D29-8438-D86AE41814DC}"/>
              </a:ext>
            </a:extLst>
          </p:cNvPr>
          <p:cNvSpPr/>
          <p:nvPr/>
        </p:nvSpPr>
        <p:spPr>
          <a:xfrm>
            <a:off x="2303283" y="3956538"/>
            <a:ext cx="9431517"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b="1" dirty="0">
                <a:solidFill>
                  <a:schemeClr val="tx1"/>
                </a:solidFill>
                <a:latin typeface="Arial" panose="020B0604020202020204" pitchFamily="34" charset="0"/>
                <a:cs typeface="Arial" panose="020B0604020202020204" pitchFamily="34" charset="0"/>
              </a:rPr>
              <a:t>Technology &amp; Innovation </a:t>
            </a:r>
            <a:r>
              <a:rPr lang="en-US" sz="1000" dirty="0">
                <a:solidFill>
                  <a:schemeClr val="tx1"/>
                </a:solidFill>
                <a:latin typeface="Arial" panose="020B0604020202020204" pitchFamily="34" charset="0"/>
                <a:cs typeface="Arial" panose="020B0604020202020204" pitchFamily="34" charset="0"/>
              </a:rPr>
              <a:t>is increasingly among beauty conversations, signaling a shift toward </a:t>
            </a:r>
            <a:r>
              <a:rPr lang="en-US" sz="1000" b="1" dirty="0">
                <a:solidFill>
                  <a:schemeClr val="tx1"/>
                </a:solidFill>
                <a:latin typeface="Arial" panose="020B0604020202020204" pitchFamily="34" charset="0"/>
                <a:cs typeface="Arial" panose="020B0604020202020204" pitchFamily="34" charset="0"/>
              </a:rPr>
              <a:t>smarter, more personalized experiences</a:t>
            </a:r>
            <a:r>
              <a:rPr lang="en-US" sz="1000" dirty="0">
                <a:solidFill>
                  <a:schemeClr val="tx1"/>
                </a:solidFill>
                <a:latin typeface="Arial" panose="020B0604020202020204" pitchFamily="34" charset="0"/>
                <a:cs typeface="Arial" panose="020B0604020202020204" pitchFamily="34" charset="0"/>
              </a:rPr>
              <a:t>. Salons are rapidly adopting </a:t>
            </a:r>
            <a:r>
              <a:rPr lang="en-US" sz="1000" b="1" dirty="0">
                <a:solidFill>
                  <a:schemeClr val="tx1"/>
                </a:solidFill>
                <a:latin typeface="Arial" panose="020B0604020202020204" pitchFamily="34" charset="0"/>
                <a:cs typeface="Arial" panose="020B0604020202020204" pitchFamily="34" charset="0"/>
              </a:rPr>
              <a:t>AI-powered booking platforms</a:t>
            </a:r>
            <a:r>
              <a:rPr lang="en-US" sz="1000" dirty="0">
                <a:solidFill>
                  <a:schemeClr val="tx1"/>
                </a:solidFill>
                <a:latin typeface="Arial" panose="020B0604020202020204" pitchFamily="34" charset="0"/>
                <a:cs typeface="Arial" panose="020B0604020202020204" pitchFamily="34" charset="0"/>
              </a:rPr>
              <a:t>, which streamline scheduling, manage inventory, and offer tailored recommendations based on client history. </a:t>
            </a:r>
            <a:r>
              <a:rPr lang="en-US" sz="1000" b="1" dirty="0">
                <a:solidFill>
                  <a:schemeClr val="tx1"/>
                </a:solidFill>
                <a:latin typeface="Arial" panose="020B0604020202020204" pitchFamily="34" charset="0"/>
                <a:cs typeface="Arial" panose="020B0604020202020204" pitchFamily="34" charset="0"/>
              </a:rPr>
              <a:t>Augmented Reality (AR) tools </a:t>
            </a:r>
            <a:r>
              <a:rPr lang="en-US" sz="1000" dirty="0">
                <a:solidFill>
                  <a:schemeClr val="tx1"/>
                </a:solidFill>
                <a:latin typeface="Arial" panose="020B0604020202020204" pitchFamily="34" charset="0"/>
                <a:cs typeface="Arial" panose="020B0604020202020204" pitchFamily="34" charset="0"/>
              </a:rPr>
              <a:t>are revolutionizing how consumers explore new looks, allowing them to virtually try on hairstyles, makeup, and even brow shapes before committing.</a:t>
            </a:r>
          </a:p>
        </p:txBody>
      </p:sp>
      <p:pic>
        <p:nvPicPr>
          <p:cNvPr id="44" name="Graphic 43">
            <a:extLst>
              <a:ext uri="{FF2B5EF4-FFF2-40B4-BE49-F238E27FC236}">
                <a16:creationId xmlns:a16="http://schemas.microsoft.com/office/drawing/2014/main" id="{A18D5E5C-B317-C464-80E0-184B03DC2E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3997063"/>
            <a:ext cx="123825" cy="117307"/>
          </a:xfrm>
          <a:prstGeom prst="rect">
            <a:avLst/>
          </a:prstGeom>
        </p:spPr>
      </p:pic>
      <p:sp>
        <p:nvSpPr>
          <p:cNvPr id="2" name="TextBox 1">
            <a:extLst>
              <a:ext uri="{FF2B5EF4-FFF2-40B4-BE49-F238E27FC236}">
                <a16:creationId xmlns:a16="http://schemas.microsoft.com/office/drawing/2014/main" id="{A4C93AFF-D8B1-BAFB-E732-D5896502B32B}"/>
              </a:ext>
            </a:extLst>
          </p:cNvPr>
          <p:cNvSpPr txBox="1"/>
          <p:nvPr/>
        </p:nvSpPr>
        <p:spPr>
          <a:xfrm>
            <a:off x="475117" y="1411415"/>
            <a:ext cx="11049586" cy="369332"/>
          </a:xfrm>
          <a:prstGeom prst="rect">
            <a:avLst/>
          </a:prstGeom>
          <a:gradFill>
            <a:gsLst>
              <a:gs pos="0">
                <a:srgbClr val="6D4AB8"/>
              </a:gs>
              <a:gs pos="98000">
                <a:srgbClr val="4A20A8"/>
              </a:gs>
            </a:gsLst>
            <a:lin ang="5400000" scaled="0"/>
          </a:gradFill>
        </p:spPr>
        <p:txBody>
          <a:bodyPr wrap="square" lIns="182880" tIns="91440" bIns="91440" rtlCol="0" anchor="ctr">
            <a:spAutoFit/>
          </a:bodyPr>
          <a:lstStyle/>
          <a:p>
            <a:pPr algn="ctr"/>
            <a:r>
              <a:rPr lang="en-US" sz="1200" dirty="0">
                <a:solidFill>
                  <a:schemeClr val="bg1"/>
                </a:solidFill>
                <a:latin typeface="Arial" panose="020B0604020202020204" pitchFamily="34" charset="0"/>
                <a:cs typeface="Arial" panose="020B0604020202020204" pitchFamily="34" charset="0"/>
              </a:rPr>
              <a:t>The Beauty Breakdown: Hot Topics in Hair &amp; Makeup Services</a:t>
            </a:r>
          </a:p>
        </p:txBody>
      </p:sp>
      <p:grpSp>
        <p:nvGrpSpPr>
          <p:cNvPr id="12" name="Group 11">
            <a:extLst>
              <a:ext uri="{FF2B5EF4-FFF2-40B4-BE49-F238E27FC236}">
                <a16:creationId xmlns:a16="http://schemas.microsoft.com/office/drawing/2014/main" id="{3A850141-DE05-022B-2D47-BB2BD45A609A}"/>
              </a:ext>
            </a:extLst>
          </p:cNvPr>
          <p:cNvGrpSpPr/>
          <p:nvPr/>
        </p:nvGrpSpPr>
        <p:grpSpPr>
          <a:xfrm>
            <a:off x="594618" y="5797696"/>
            <a:ext cx="11140182" cy="671388"/>
            <a:chOff x="594618" y="4939621"/>
            <a:chExt cx="11140182" cy="671388"/>
          </a:xfrm>
        </p:grpSpPr>
        <p:sp>
          <p:nvSpPr>
            <p:cNvPr id="15" name="Freeform: Shape 25">
              <a:extLst>
                <a:ext uri="{FF2B5EF4-FFF2-40B4-BE49-F238E27FC236}">
                  <a16:creationId xmlns:a16="http://schemas.microsoft.com/office/drawing/2014/main" id="{D8668B1B-00CF-852B-B914-4E8DCE2CCCC5}"/>
                </a:ext>
              </a:extLst>
            </p:cNvPr>
            <p:cNvSpPr/>
            <p:nvPr/>
          </p:nvSpPr>
          <p:spPr>
            <a:xfrm>
              <a:off x="594618" y="4939621"/>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spcBef>
                  <a:spcPct val="0"/>
                </a:spcBef>
                <a:spcAft>
                  <a:spcPct val="35000"/>
                </a:spcAft>
              </a:pPr>
              <a:r>
                <a:rPr lang="en-US" sz="1100" dirty="0">
                  <a:solidFill>
                    <a:srgbClr val="5E38B1"/>
                  </a:solidFill>
                  <a:latin typeface="Arial" panose="020B0604020202020204" pitchFamily="34" charset="0"/>
                  <a:cs typeface="Arial" panose="020B0604020202020204" pitchFamily="34" charset="0"/>
                </a:rPr>
                <a:t>Convenience &amp; Accessibility</a:t>
              </a:r>
            </a:p>
          </p:txBody>
        </p:sp>
        <p:sp>
          <p:nvSpPr>
            <p:cNvPr id="16" name="Freeform: Shape 24">
              <a:extLst>
                <a:ext uri="{FF2B5EF4-FFF2-40B4-BE49-F238E27FC236}">
                  <a16:creationId xmlns:a16="http://schemas.microsoft.com/office/drawing/2014/main" id="{BB856B49-2168-67A6-A0C9-66F9882AA9F6}"/>
                </a:ext>
              </a:extLst>
            </p:cNvPr>
            <p:cNvSpPr/>
            <p:nvPr/>
          </p:nvSpPr>
          <p:spPr>
            <a:xfrm>
              <a:off x="2303283" y="5016812"/>
              <a:ext cx="9431517" cy="554867"/>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solidFill>
              <a:schemeClr val="bg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noAutofit/>
            </a:bodyPr>
            <a:lstStyle/>
            <a:p>
              <a:pPr marL="0" lvl="1" defTabSz="1600200">
                <a:spcBef>
                  <a:spcPct val="0"/>
                </a:spcBef>
                <a:spcAft>
                  <a:spcPct val="15000"/>
                </a:spcAft>
              </a:pPr>
              <a:r>
                <a:rPr lang="en-US" sz="1000" dirty="0">
                  <a:solidFill>
                    <a:schemeClr val="tx1">
                      <a:lumMod val="75000"/>
                      <a:lumOff val="25000"/>
                    </a:schemeClr>
                  </a:solidFill>
                  <a:latin typeface="Arial" panose="020B0604020202020204" pitchFamily="34" charset="0"/>
                  <a:cs typeface="Arial" panose="020B0604020202020204" pitchFamily="34" charset="0"/>
                </a:rPr>
                <a:t>The beauty service industry is driven by discussions around </a:t>
              </a:r>
              <a:r>
                <a:rPr lang="en-US" sz="1000" b="1" dirty="0">
                  <a:solidFill>
                    <a:schemeClr val="tx1">
                      <a:lumMod val="75000"/>
                      <a:lumOff val="25000"/>
                    </a:schemeClr>
                  </a:solidFill>
                  <a:latin typeface="Arial" panose="020B0604020202020204" pitchFamily="34" charset="0"/>
                  <a:cs typeface="Arial" panose="020B0604020202020204" pitchFamily="34" charset="0"/>
                </a:rPr>
                <a:t>Convenience &amp; Accessibility, </a:t>
              </a:r>
              <a:r>
                <a:rPr lang="en-US" sz="1000" dirty="0">
                  <a:solidFill>
                    <a:schemeClr val="tx1">
                      <a:lumMod val="75000"/>
                      <a:lumOff val="25000"/>
                    </a:schemeClr>
                  </a:solidFill>
                  <a:latin typeface="Arial" panose="020B0604020202020204" pitchFamily="34" charset="0"/>
                  <a:cs typeface="Arial" panose="020B0604020202020204" pitchFamily="34" charset="0"/>
                </a:rPr>
                <a:t>as consumer demand grows for </a:t>
              </a:r>
              <a:r>
                <a:rPr lang="en-US" sz="1000" b="1" dirty="0">
                  <a:solidFill>
                    <a:schemeClr val="tx1">
                      <a:lumMod val="75000"/>
                      <a:lumOff val="25000"/>
                    </a:schemeClr>
                  </a:solidFill>
                  <a:latin typeface="Arial" panose="020B0604020202020204" pitchFamily="34" charset="0"/>
                  <a:cs typeface="Arial" panose="020B0604020202020204" pitchFamily="34" charset="0"/>
                </a:rPr>
                <a:t>flexible, location-based solutions</a:t>
              </a:r>
              <a:r>
                <a:rPr lang="en-US" sz="1000" dirty="0">
                  <a:solidFill>
                    <a:schemeClr val="tx1">
                      <a:lumMod val="75000"/>
                      <a:lumOff val="25000"/>
                    </a:schemeClr>
                  </a:solidFill>
                  <a:latin typeface="Arial" panose="020B0604020202020204" pitchFamily="34" charset="0"/>
                  <a:cs typeface="Arial" panose="020B0604020202020204" pitchFamily="34" charset="0"/>
                </a:rPr>
                <a:t>. </a:t>
              </a:r>
              <a:r>
                <a:rPr lang="en-US" sz="1000" b="1" dirty="0">
                  <a:solidFill>
                    <a:schemeClr val="tx1">
                      <a:lumMod val="75000"/>
                      <a:lumOff val="25000"/>
                    </a:schemeClr>
                  </a:solidFill>
                  <a:latin typeface="Arial" panose="020B0604020202020204" pitchFamily="34" charset="0"/>
                  <a:cs typeface="Arial" panose="020B0604020202020204" pitchFamily="34" charset="0"/>
                </a:rPr>
                <a:t>Mobile salons and at-home beauty services </a:t>
              </a:r>
              <a:r>
                <a:rPr lang="en-US" sz="1000" dirty="0">
                  <a:solidFill>
                    <a:schemeClr val="tx1">
                      <a:lumMod val="75000"/>
                      <a:lumOff val="25000"/>
                    </a:schemeClr>
                  </a:solidFill>
                  <a:latin typeface="Arial" panose="020B0604020202020204" pitchFamily="34" charset="0"/>
                  <a:cs typeface="Arial" panose="020B0604020202020204" pitchFamily="34" charset="0"/>
                </a:rPr>
                <a:t>are gaining traction, addressing challenges like mobility limitations, busy schedules, and salon access in underserved areas. This evolution marks a larger industry shift toward hyper-personalized, client-centric beauty experiences that meet consumers where they are.</a:t>
              </a:r>
            </a:p>
          </p:txBody>
        </p:sp>
      </p:grpSp>
      <p:pic>
        <p:nvPicPr>
          <p:cNvPr id="13" name="Graphic 12">
            <a:extLst>
              <a:ext uri="{FF2B5EF4-FFF2-40B4-BE49-F238E27FC236}">
                <a16:creationId xmlns:a16="http://schemas.microsoft.com/office/drawing/2014/main" id="{D300E9C9-899D-316F-B978-DF759A4609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202" y="5915412"/>
            <a:ext cx="123825" cy="117307"/>
          </a:xfrm>
          <a:prstGeom prst="rect">
            <a:avLst/>
          </a:prstGeom>
        </p:spPr>
      </p:pic>
    </p:spTree>
    <p:extLst>
      <p:ext uri="{BB962C8B-B14F-4D97-AF65-F5344CB8AC3E}">
        <p14:creationId xmlns:p14="http://schemas.microsoft.com/office/powerpoint/2010/main" val="747430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 name="Group"/>
          <p:cNvGrpSpPr>
            <a:grpSpLocks/>
          </p:cNvGrpSpPr>
          <p:nvPr/>
        </p:nvGrpSpPr>
        <p:grpSpPr>
          <a:xfrm>
            <a:off x="0" y="0"/>
            <a:ext cx="12193698" cy="5112116"/>
            <a:chOff x="0" y="0"/>
            <a:chExt cx="24387396" cy="7938977"/>
          </a:xfrm>
        </p:grpSpPr>
        <p:pic>
          <p:nvPicPr>
            <p:cNvPr id="346" name="AdobeStock_435970749.jpeg" descr="AdobeStock_435970749.jpe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7938977"/>
            </a:xfrm>
            <a:prstGeom prst="rect">
              <a:avLst/>
            </a:prstGeom>
            <a:ln w="12700" cap="flat">
              <a:noFill/>
              <a:miter lim="400000"/>
            </a:ln>
            <a:effectLst/>
          </p:spPr>
        </p:pic>
        <p:pic>
          <p:nvPicPr>
            <p:cNvPr id="347" name="AdobeStock_435970749.jpeg" descr="AdobeStock_435970749.jpe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195395" y="0"/>
              <a:ext cx="12192001" cy="7938977"/>
            </a:xfrm>
            <a:prstGeom prst="rect">
              <a:avLst/>
            </a:prstGeom>
            <a:ln w="12700" cap="flat">
              <a:noFill/>
              <a:miter lim="400000"/>
            </a:ln>
            <a:effectLst/>
          </p:spPr>
        </p:pic>
      </p:grpSp>
      <p:grpSp>
        <p:nvGrpSpPr>
          <p:cNvPr id="13" name="Group 12">
            <a:extLst>
              <a:ext uri="{FF2B5EF4-FFF2-40B4-BE49-F238E27FC236}">
                <a16:creationId xmlns:a16="http://schemas.microsoft.com/office/drawing/2014/main" id="{B5F10304-52C6-77AC-8476-95621E3FFB18}"/>
              </a:ext>
            </a:extLst>
          </p:cNvPr>
          <p:cNvGrpSpPr/>
          <p:nvPr/>
        </p:nvGrpSpPr>
        <p:grpSpPr>
          <a:xfrm>
            <a:off x="927100" y="2426836"/>
            <a:ext cx="10767497" cy="1095202"/>
            <a:chOff x="927100" y="2426836"/>
            <a:chExt cx="10767497" cy="1095202"/>
          </a:xfrm>
        </p:grpSpPr>
        <p:sp>
          <p:nvSpPr>
            <p:cNvPr id="11" name="Rectangle 10">
              <a:extLst>
                <a:ext uri="{FF2B5EF4-FFF2-40B4-BE49-F238E27FC236}">
                  <a16:creationId xmlns:a16="http://schemas.microsoft.com/office/drawing/2014/main" id="{5DBE054C-5A43-8D0E-F8E5-FF304654FB20}"/>
                </a:ext>
              </a:extLst>
            </p:cNvPr>
            <p:cNvSpPr/>
            <p:nvPr/>
          </p:nvSpPr>
          <p:spPr>
            <a:xfrm>
              <a:off x="927100" y="2426836"/>
              <a:ext cx="45719" cy="1091064"/>
            </a:xfrm>
            <a:prstGeom prst="rect">
              <a:avLst/>
            </a:prstGeom>
            <a:solidFill>
              <a:srgbClr val="F4F4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DA3C545-E9D7-9F9C-215C-064334F45C4E}"/>
                </a:ext>
              </a:extLst>
            </p:cNvPr>
            <p:cNvSpPr/>
            <p:nvPr/>
          </p:nvSpPr>
          <p:spPr>
            <a:xfrm>
              <a:off x="11648878" y="3094080"/>
              <a:ext cx="45719" cy="427958"/>
            </a:xfrm>
            <a:prstGeom prst="rect">
              <a:avLst/>
            </a:prstGeom>
            <a:solidFill>
              <a:srgbClr val="F4F4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ext Placeholder 26">
            <a:extLst>
              <a:ext uri="{FF2B5EF4-FFF2-40B4-BE49-F238E27FC236}">
                <a16:creationId xmlns:a16="http://schemas.microsoft.com/office/drawing/2014/main" id="{7AFE5F59-6749-B987-07F9-EAC7D1198CB9}"/>
              </a:ext>
            </a:extLst>
          </p:cNvPr>
          <p:cNvSpPr txBox="1">
            <a:spLocks/>
          </p:cNvSpPr>
          <p:nvPr/>
        </p:nvSpPr>
        <p:spPr>
          <a:xfrm>
            <a:off x="515286" y="451617"/>
            <a:ext cx="3844544" cy="704616"/>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0"/>
              </a:spcBef>
              <a:buNone/>
            </a:pPr>
            <a:r>
              <a:rPr lang="en-US" sz="3200" b="1" dirty="0">
                <a:latin typeface="Aptos SemiBold" panose="020B0004020202020204" pitchFamily="34" charset="0"/>
              </a:rPr>
              <a:t>Trendline - Topics</a:t>
            </a:r>
          </a:p>
        </p:txBody>
      </p:sp>
      <p:graphicFrame>
        <p:nvGraphicFramePr>
          <p:cNvPr id="18" name="Chart 17">
            <a:extLst>
              <a:ext uri="{FF2B5EF4-FFF2-40B4-BE49-F238E27FC236}">
                <a16:creationId xmlns:a16="http://schemas.microsoft.com/office/drawing/2014/main" id="{9A7767BB-DA57-BC00-C479-0F60388506BF}"/>
              </a:ext>
            </a:extLst>
          </p:cNvPr>
          <p:cNvGraphicFramePr/>
          <p:nvPr>
            <p:extLst>
              <p:ext uri="{D42A27DB-BD31-4B8C-83A1-F6EECF244321}">
                <p14:modId xmlns:p14="http://schemas.microsoft.com/office/powerpoint/2010/main" val="1713624783"/>
              </p:ext>
            </p:extLst>
          </p:nvPr>
        </p:nvGraphicFramePr>
        <p:xfrm>
          <a:off x="89760" y="1475006"/>
          <a:ext cx="12009086" cy="3448043"/>
        </p:xfrm>
        <a:graphic>
          <a:graphicData uri="http://schemas.openxmlformats.org/drawingml/2006/chart">
            <c:chart xmlns:c="http://schemas.openxmlformats.org/drawingml/2006/chart" xmlns:r="http://schemas.openxmlformats.org/officeDocument/2006/relationships" r:id="rId5"/>
          </a:graphicData>
        </a:graphic>
      </p:graphicFrame>
      <p:grpSp>
        <p:nvGrpSpPr>
          <p:cNvPr id="17" name="Group 16">
            <a:extLst>
              <a:ext uri="{FF2B5EF4-FFF2-40B4-BE49-F238E27FC236}">
                <a16:creationId xmlns:a16="http://schemas.microsoft.com/office/drawing/2014/main" id="{92FFD69E-1427-7403-72B4-FA49ACA88F05}"/>
              </a:ext>
            </a:extLst>
          </p:cNvPr>
          <p:cNvGrpSpPr/>
          <p:nvPr/>
        </p:nvGrpSpPr>
        <p:grpSpPr>
          <a:xfrm>
            <a:off x="6611287" y="293912"/>
            <a:ext cx="4670320" cy="1535482"/>
            <a:chOff x="1129747" y="1225162"/>
            <a:chExt cx="2565332" cy="1638560"/>
          </a:xfrm>
        </p:grpSpPr>
        <p:grpSp>
          <p:nvGrpSpPr>
            <p:cNvPr id="3" name="Group 2">
              <a:extLst>
                <a:ext uri="{FF2B5EF4-FFF2-40B4-BE49-F238E27FC236}">
                  <a16:creationId xmlns:a16="http://schemas.microsoft.com/office/drawing/2014/main" id="{21F0A058-A9B8-93CD-DB68-60FE75077996}"/>
                </a:ext>
              </a:extLst>
            </p:cNvPr>
            <p:cNvGrpSpPr/>
            <p:nvPr/>
          </p:nvGrpSpPr>
          <p:grpSpPr>
            <a:xfrm>
              <a:off x="1129747" y="1225162"/>
              <a:ext cx="2565332" cy="1638560"/>
              <a:chOff x="2562850" y="41377"/>
              <a:chExt cx="2565332" cy="1638560"/>
            </a:xfrm>
          </p:grpSpPr>
          <p:sp>
            <p:nvSpPr>
              <p:cNvPr id="352" name="Accelerating Autonomy: Smart Shift in Last-Mile Logistics.…"/>
              <p:cNvSpPr/>
              <p:nvPr/>
            </p:nvSpPr>
            <p:spPr>
              <a:xfrm>
                <a:off x="2562850" y="41377"/>
                <a:ext cx="2565331" cy="1626639"/>
              </a:xfrm>
              <a:prstGeom prst="roundRect">
                <a:avLst>
                  <a:gd name="adj" fmla="val 0"/>
                </a:avLst>
              </a:prstGeom>
              <a:solidFill>
                <a:srgbClr val="FFFFFF"/>
              </a:solidFill>
              <a:ln w="12700">
                <a:solidFill>
                  <a:srgbClr val="FFFFFF"/>
                </a:solidFill>
                <a:miter lim="400000"/>
              </a:ln>
              <a:effectLst>
                <a:outerShdw blurRad="368300" dist="232449" dir="5400000" rotWithShape="0">
                  <a:srgbClr val="000000">
                    <a:alpha val="15531"/>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6200" tIns="76200" rIns="76200" bIns="76200"/>
              <a:lstStyle/>
              <a:p>
                <a:pPr defTabSz="1828800">
                  <a:lnSpc>
                    <a:spcPct val="110000"/>
                  </a:lnSpc>
                  <a:spcBef>
                    <a:spcPts val="600"/>
                  </a:spcBef>
                  <a:defRPr sz="1400">
                    <a:latin typeface="Arial"/>
                    <a:ea typeface="Arial"/>
                    <a:cs typeface="Arial"/>
                    <a:sym typeface="Arial"/>
                  </a:defRPr>
                </a:pPr>
                <a:endParaRPr lang="en-IN" sz="900" dirty="0"/>
              </a:p>
            </p:txBody>
          </p:sp>
          <p:grpSp>
            <p:nvGrpSpPr>
              <p:cNvPr id="356" name="Group"/>
              <p:cNvGrpSpPr/>
              <p:nvPr/>
            </p:nvGrpSpPr>
            <p:grpSpPr>
              <a:xfrm>
                <a:off x="4873798" y="1425130"/>
                <a:ext cx="254384" cy="254807"/>
                <a:chOff x="0" y="0"/>
                <a:chExt cx="508765" cy="509612"/>
              </a:xfrm>
            </p:grpSpPr>
            <p:sp>
              <p:nvSpPr>
                <p:cNvPr id="354" name="Square"/>
                <p:cNvSpPr/>
                <p:nvPr/>
              </p:nvSpPr>
              <p:spPr>
                <a:xfrm>
                  <a:off x="0" y="0"/>
                  <a:ext cx="508765" cy="509612"/>
                </a:xfrm>
                <a:prstGeom prst="rect">
                  <a:avLst/>
                </a:prstGeom>
                <a:gradFill flip="none" rotWithShape="1">
                  <a:gsLst>
                    <a:gs pos="129">
                      <a:srgbClr val="FFFFFF">
                        <a:alpha val="0"/>
                      </a:srgbClr>
                    </a:gs>
                    <a:gs pos="100000">
                      <a:srgbClr val="7D4BF8"/>
                    </a:gs>
                  </a:gsLst>
                  <a:path path="shape">
                    <a:fillToRect l="50000" t="-58664" r="50000" b="158664"/>
                  </a:path>
                </a:gradFill>
                <a:ln w="12700" cap="flat">
                  <a:noFill/>
                  <a:miter lim="400000"/>
                </a:ln>
                <a:effectLst/>
              </p:spPr>
              <p:txBody>
                <a:bodyPr wrap="square" lIns="25400" tIns="25400" rIns="25400" bIns="25400" numCol="1" anchor="ctr">
                  <a:noAutofit/>
                </a:bodyPr>
                <a:lstStyle/>
                <a:p>
                  <a:pPr algn="ctr" defTabSz="412750">
                    <a:defRPr sz="3200">
                      <a:solidFill>
                        <a:srgbClr val="FFFFFF"/>
                      </a:solidFill>
                      <a:latin typeface="Helvetica Neue Medium"/>
                      <a:ea typeface="Helvetica Neue Medium"/>
                      <a:cs typeface="Helvetica Neue Medium"/>
                      <a:sym typeface="Helvetica Neue Medium"/>
                    </a:defRPr>
                  </a:pPr>
                  <a:endParaRPr sz="1600" dirty="0"/>
                </a:p>
              </p:txBody>
            </p:sp>
            <p:pic>
              <p:nvPicPr>
                <p:cNvPr id="355" name="call_received_24dp_FFFFFF_FILL0_wght400_GRAD0_opsz24.svg" descr="call_received_24dp_FFFFFF_FILL0_wght400_GRAD0_opsz24.sv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rot="10800000" flipH="1">
                  <a:off x="140081" y="140506"/>
                  <a:ext cx="228601" cy="228602"/>
                </a:xfrm>
                <a:prstGeom prst="rect">
                  <a:avLst/>
                </a:prstGeom>
                <a:ln w="12700" cap="flat">
                  <a:noFill/>
                  <a:miter lim="400000"/>
                </a:ln>
                <a:effectLst/>
              </p:spPr>
            </p:pic>
          </p:grpSp>
        </p:grpSp>
        <p:sp>
          <p:nvSpPr>
            <p:cNvPr id="15" name="TextBox 14">
              <a:extLst>
                <a:ext uri="{FF2B5EF4-FFF2-40B4-BE49-F238E27FC236}">
                  <a16:creationId xmlns:a16="http://schemas.microsoft.com/office/drawing/2014/main" id="{68264DFD-C075-E497-DFD6-D5CE367773FE}"/>
                </a:ext>
              </a:extLst>
            </p:cNvPr>
            <p:cNvSpPr txBox="1"/>
            <p:nvPr/>
          </p:nvSpPr>
          <p:spPr>
            <a:xfrm>
              <a:off x="1221327" y="1478098"/>
              <a:ext cx="2403711" cy="1083845"/>
            </a:xfrm>
            <a:prstGeom prst="rect">
              <a:avLst/>
            </a:prstGeom>
            <a:noFill/>
          </p:spPr>
          <p:txBody>
            <a:bodyPr wrap="square" rtlCol="0" anchor="ctr">
              <a:spAutoFit/>
            </a:bodyPr>
            <a:lstStyle/>
            <a:p>
              <a:r>
                <a:rPr lang="en-US" sz="1200" dirty="0">
                  <a:solidFill>
                    <a:srgbClr val="5E38B1"/>
                  </a:solidFill>
                  <a:latin typeface="Arial" panose="020B0604020202020204" pitchFamily="34" charset="0"/>
                  <a:cs typeface="Arial" panose="020B0604020202020204" pitchFamily="34" charset="0"/>
                </a:rPr>
                <a:t>Beauty content sees seasonal spikes driven by holidays and cultural moments, while core themes like wellness and convenience remain steady year-round. Emerging interest in inclusivity, innovation, and self-care reflects a shift toward more conscious and tech-savvy beauty consumption.</a:t>
              </a:r>
            </a:p>
          </p:txBody>
        </p:sp>
      </p:grpSp>
      <p:sp>
        <p:nvSpPr>
          <p:cNvPr id="4" name="TextBox 3">
            <a:extLst>
              <a:ext uri="{FF2B5EF4-FFF2-40B4-BE49-F238E27FC236}">
                <a16:creationId xmlns:a16="http://schemas.microsoft.com/office/drawing/2014/main" id="{612A5110-E66D-9879-15A1-9B96A57AFF2C}"/>
              </a:ext>
            </a:extLst>
          </p:cNvPr>
          <p:cNvSpPr txBox="1"/>
          <p:nvPr/>
        </p:nvSpPr>
        <p:spPr>
          <a:xfrm>
            <a:off x="8300579" y="6627168"/>
            <a:ext cx="4228555" cy="230832"/>
          </a:xfrm>
          <a:prstGeom prst="rect">
            <a:avLst/>
          </a:prstGeom>
          <a:noFill/>
        </p:spPr>
        <p:txBody>
          <a:bodyPr wrap="square">
            <a:spAutoFit/>
          </a:bodyPr>
          <a:lstStyle/>
          <a:p>
            <a:r>
              <a:rPr lang="en-US" sz="900" i="1" dirty="0"/>
              <a:t>The above insights are based on analysis of a representative sample of data.</a:t>
            </a:r>
          </a:p>
        </p:txBody>
      </p:sp>
      <p:sp>
        <p:nvSpPr>
          <p:cNvPr id="5" name="Rectangle 4">
            <a:extLst>
              <a:ext uri="{FF2B5EF4-FFF2-40B4-BE49-F238E27FC236}">
                <a16:creationId xmlns:a16="http://schemas.microsoft.com/office/drawing/2014/main" id="{44667430-5DAA-CC61-C155-7148BE4B49CC}"/>
              </a:ext>
            </a:extLst>
          </p:cNvPr>
          <p:cNvSpPr/>
          <p:nvPr/>
        </p:nvSpPr>
        <p:spPr>
          <a:xfrm>
            <a:off x="10494635" y="4675914"/>
            <a:ext cx="1154243" cy="2698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4A20A8"/>
                </a:solidFill>
                <a:latin typeface="Arial" panose="020B0604020202020204" pitchFamily="34" charset="0"/>
                <a:cs typeface="Arial" panose="020B0604020202020204" pitchFamily="34" charset="0"/>
              </a:rPr>
              <a:t>N ~ 983K</a:t>
            </a:r>
          </a:p>
        </p:txBody>
      </p:sp>
      <p:sp>
        <p:nvSpPr>
          <p:cNvPr id="9" name="Google Shape;2440;p175">
            <a:extLst>
              <a:ext uri="{FF2B5EF4-FFF2-40B4-BE49-F238E27FC236}">
                <a16:creationId xmlns:a16="http://schemas.microsoft.com/office/drawing/2014/main" id="{937B1BDE-796C-7214-AB9F-5CD0940850DA}"/>
              </a:ext>
            </a:extLst>
          </p:cNvPr>
          <p:cNvSpPr txBox="1"/>
          <p:nvPr/>
        </p:nvSpPr>
        <p:spPr>
          <a:xfrm>
            <a:off x="3775601" y="6560047"/>
            <a:ext cx="4637404" cy="423982"/>
          </a:xfrm>
          <a:prstGeom prst="rect">
            <a:avLst/>
          </a:prstGeom>
          <a:noFill/>
          <a:ln>
            <a:noFill/>
          </a:ln>
        </p:spPr>
        <p:txBody>
          <a:bodyPr spcFirstLastPara="1" wrap="square" lIns="91433" tIns="45700" rIns="91433" bIns="45700" anchor="ctr" anchorCtr="0">
            <a:normAutofit/>
          </a:bodyPr>
          <a:lstStyle/>
          <a:p>
            <a:pPr marL="0" marR="0" lvl="0" indent="0" algn="l" defTabSz="914400" rtl="0" eaLnBrk="1" fontAlgn="auto" latinLnBrk="0" hangingPunct="1">
              <a:lnSpc>
                <a:spcPct val="90000"/>
              </a:lnSpc>
              <a:spcBef>
                <a:spcPts val="0"/>
              </a:spcBef>
              <a:spcAft>
                <a:spcPts val="0"/>
              </a:spcAft>
              <a:buClr>
                <a:srgbClr val="E8E8E8"/>
              </a:buClr>
              <a:buSzPts val="800"/>
              <a:buFontTx/>
              <a:buNone/>
              <a:tabLst/>
              <a:defRPr/>
            </a:pP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SOURCE: </a:t>
            </a:r>
            <a:r>
              <a:rPr lang="en-US" sz="1067" dirty="0">
                <a:solidFill>
                  <a:srgbClr val="E8E8E8">
                    <a:lumMod val="50000"/>
                  </a:srgbClr>
                </a:solidFill>
                <a:latin typeface="Aptos" panose="02110004020202020204"/>
              </a:rPr>
              <a:t>MELTWATER</a:t>
            </a: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 AUGUST 6</a:t>
            </a:r>
            <a:r>
              <a:rPr kumimoji="0" lang="en-US" sz="1067" b="0" i="0" u="none" strike="noStrike" kern="1200" cap="none" spc="0" normalizeH="0" baseline="0" noProof="0">
                <a:ln>
                  <a:noFill/>
                </a:ln>
                <a:solidFill>
                  <a:srgbClr val="E8E8E8">
                    <a:lumMod val="50000"/>
                  </a:srgbClr>
                </a:solidFill>
                <a:effectLst/>
                <a:uLnTx/>
                <a:uFillTx/>
                <a:latin typeface="Aptos" panose="02110004020202020204"/>
                <a:ea typeface="+mn-ea"/>
                <a:cs typeface="+mn-cs"/>
              </a:rPr>
              <a:t>, 2024 </a:t>
            </a: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 AUGUST 6, 2025 </a:t>
            </a:r>
            <a:endParaRPr kumimoji="0" lang="en-US" sz="14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27962190-AB13-9518-257F-80B05014084B}"/>
              </a:ext>
            </a:extLst>
          </p:cNvPr>
          <p:cNvSpPr txBox="1"/>
          <p:nvPr/>
        </p:nvSpPr>
        <p:spPr>
          <a:xfrm>
            <a:off x="515286" y="5177807"/>
            <a:ext cx="2302644" cy="1384995"/>
          </a:xfrm>
          <a:prstGeom prst="rect">
            <a:avLst/>
          </a:prstGeom>
          <a:noFill/>
        </p:spPr>
        <p:txBody>
          <a:bodyPr wrap="square">
            <a:spAutoFit/>
          </a:bodyPr>
          <a:lstStyle/>
          <a:p>
            <a:r>
              <a:rPr lang="en-US" sz="1200" b="1" dirty="0"/>
              <a:t>Holiday season</a:t>
            </a:r>
            <a:r>
              <a:rPr lang="en-US" sz="1200" dirty="0"/>
              <a:t> drives major spikes in beauty content, especially around </a:t>
            </a:r>
            <a:r>
              <a:rPr lang="en-US" sz="1200" b="1" dirty="0"/>
              <a:t>celebrity trends, product guides, and business </a:t>
            </a:r>
            <a:r>
              <a:rPr lang="en-US" sz="1200" dirty="0"/>
              <a:t>focused stories, fueled by party looks, gifting, and New Year resolutions.</a:t>
            </a:r>
          </a:p>
        </p:txBody>
      </p:sp>
      <p:sp>
        <p:nvSpPr>
          <p:cNvPr id="21" name="TextBox 20">
            <a:extLst>
              <a:ext uri="{FF2B5EF4-FFF2-40B4-BE49-F238E27FC236}">
                <a16:creationId xmlns:a16="http://schemas.microsoft.com/office/drawing/2014/main" id="{254E64FD-B837-2218-EF69-70465B8F5B95}"/>
              </a:ext>
            </a:extLst>
          </p:cNvPr>
          <p:cNvSpPr txBox="1"/>
          <p:nvPr/>
        </p:nvSpPr>
        <p:spPr>
          <a:xfrm>
            <a:off x="2850842" y="5201250"/>
            <a:ext cx="2158805" cy="1200329"/>
          </a:xfrm>
          <a:prstGeom prst="rect">
            <a:avLst/>
          </a:prstGeom>
          <a:noFill/>
        </p:spPr>
        <p:txBody>
          <a:bodyPr wrap="square">
            <a:spAutoFit/>
          </a:bodyPr>
          <a:lstStyle/>
          <a:p>
            <a:r>
              <a:rPr lang="en-US" sz="1200" b="1" dirty="0"/>
              <a:t>September</a:t>
            </a:r>
            <a:r>
              <a:rPr lang="en-US" sz="1200" dirty="0"/>
              <a:t> brings a back-to-school boost, with increased interest in </a:t>
            </a:r>
            <a:r>
              <a:rPr lang="en-US" sz="1200" b="1" dirty="0"/>
              <a:t>new products and professional tools,</a:t>
            </a:r>
            <a:r>
              <a:rPr lang="en-US" sz="1200" dirty="0"/>
              <a:t> tied to fresh routines, beauty resets, and tech-savvy upgrades.</a:t>
            </a:r>
          </a:p>
        </p:txBody>
      </p:sp>
      <p:sp>
        <p:nvSpPr>
          <p:cNvPr id="31" name="TextBox 30">
            <a:extLst>
              <a:ext uri="{FF2B5EF4-FFF2-40B4-BE49-F238E27FC236}">
                <a16:creationId xmlns:a16="http://schemas.microsoft.com/office/drawing/2014/main" id="{D5B2A2F7-85B1-BFE3-90FA-61D709AEA285}"/>
              </a:ext>
            </a:extLst>
          </p:cNvPr>
          <p:cNvSpPr txBox="1"/>
          <p:nvPr/>
        </p:nvSpPr>
        <p:spPr>
          <a:xfrm>
            <a:off x="5193076" y="5181895"/>
            <a:ext cx="2302644" cy="1384995"/>
          </a:xfrm>
          <a:prstGeom prst="rect">
            <a:avLst/>
          </a:prstGeom>
          <a:noFill/>
        </p:spPr>
        <p:txBody>
          <a:bodyPr wrap="square">
            <a:spAutoFit/>
          </a:bodyPr>
          <a:lstStyle/>
          <a:p>
            <a:r>
              <a:rPr lang="en-US" sz="1200" b="1" dirty="0"/>
              <a:t>Celebrity and influencer</a:t>
            </a:r>
            <a:r>
              <a:rPr lang="en-US" sz="1200" dirty="0"/>
              <a:t>-driven content remains </a:t>
            </a:r>
            <a:r>
              <a:rPr lang="en-US" sz="1200" b="1" dirty="0"/>
              <a:t>volatile</a:t>
            </a:r>
            <a:r>
              <a:rPr lang="en-US" sz="1200" dirty="0"/>
              <a:t>, often spiking around high-profile events, new launches, or viral moments, highlighting how reactive this category is to cultural buzz.</a:t>
            </a:r>
          </a:p>
        </p:txBody>
      </p:sp>
      <p:sp>
        <p:nvSpPr>
          <p:cNvPr id="33" name="TextBox 32">
            <a:extLst>
              <a:ext uri="{FF2B5EF4-FFF2-40B4-BE49-F238E27FC236}">
                <a16:creationId xmlns:a16="http://schemas.microsoft.com/office/drawing/2014/main" id="{D3F62E0B-198B-FF23-573B-C26E57301349}"/>
              </a:ext>
            </a:extLst>
          </p:cNvPr>
          <p:cNvSpPr txBox="1"/>
          <p:nvPr/>
        </p:nvSpPr>
        <p:spPr>
          <a:xfrm>
            <a:off x="7576256" y="5176721"/>
            <a:ext cx="1773570" cy="1200329"/>
          </a:xfrm>
          <a:prstGeom prst="rect">
            <a:avLst/>
          </a:prstGeom>
          <a:noFill/>
        </p:spPr>
        <p:txBody>
          <a:bodyPr wrap="square">
            <a:spAutoFit/>
          </a:bodyPr>
          <a:lstStyle/>
          <a:p>
            <a:r>
              <a:rPr lang="en-US" sz="1200" b="1" dirty="0"/>
              <a:t>Health, Wellness &amp; Convenience </a:t>
            </a:r>
            <a:r>
              <a:rPr lang="en-US" sz="1200" dirty="0"/>
              <a:t>topics remain </a:t>
            </a:r>
            <a:r>
              <a:rPr lang="en-US" sz="1200" b="1" dirty="0"/>
              <a:t>stable</a:t>
            </a:r>
            <a:r>
              <a:rPr lang="en-US" sz="1200" dirty="0"/>
              <a:t>, pointing to their role as reliable, evergreen pillars in beauty conversations</a:t>
            </a:r>
          </a:p>
        </p:txBody>
      </p:sp>
      <p:sp>
        <p:nvSpPr>
          <p:cNvPr id="35" name="TextBox 34">
            <a:extLst>
              <a:ext uri="{FF2B5EF4-FFF2-40B4-BE49-F238E27FC236}">
                <a16:creationId xmlns:a16="http://schemas.microsoft.com/office/drawing/2014/main" id="{CBE9B70D-B06F-7D80-9030-EF056709F796}"/>
              </a:ext>
            </a:extLst>
          </p:cNvPr>
          <p:cNvSpPr txBox="1"/>
          <p:nvPr/>
        </p:nvSpPr>
        <p:spPr>
          <a:xfrm>
            <a:off x="9430362" y="5183517"/>
            <a:ext cx="2218516" cy="1384995"/>
          </a:xfrm>
          <a:prstGeom prst="rect">
            <a:avLst/>
          </a:prstGeom>
          <a:noFill/>
        </p:spPr>
        <p:txBody>
          <a:bodyPr wrap="square">
            <a:spAutoFit/>
          </a:bodyPr>
          <a:lstStyle/>
          <a:p>
            <a:r>
              <a:rPr lang="en-US" sz="1200" dirty="0"/>
              <a:t>There’s </a:t>
            </a:r>
            <a:r>
              <a:rPr lang="en-US" sz="1200" b="1" dirty="0"/>
              <a:t>growing</a:t>
            </a:r>
            <a:r>
              <a:rPr lang="en-US" sz="1200" dirty="0"/>
              <a:t> momentum around </a:t>
            </a:r>
            <a:r>
              <a:rPr lang="en-US" sz="1200" b="1" dirty="0"/>
              <a:t>inclusive beauty</a:t>
            </a:r>
            <a:r>
              <a:rPr lang="en-US" sz="1200" dirty="0"/>
              <a:t>, </a:t>
            </a:r>
            <a:r>
              <a:rPr lang="en-US" sz="1200" b="1" dirty="0"/>
              <a:t>wellness</a:t>
            </a:r>
            <a:r>
              <a:rPr lang="en-US" sz="1200" dirty="0"/>
              <a:t>,</a:t>
            </a:r>
            <a:r>
              <a:rPr lang="en-US" sz="1200" b="1" dirty="0"/>
              <a:t> and innovation,</a:t>
            </a:r>
            <a:r>
              <a:rPr lang="en-US" sz="1200" dirty="0"/>
              <a:t> signaling a shift in consumer priorities toward ethical choices, self-care, and cutting-edge beauty solutions.</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5685D-E2F2-A2AE-7188-E7DC8D5AA1A1}"/>
            </a:ext>
          </a:extLst>
        </p:cNvPr>
        <p:cNvGrpSpPr/>
        <p:nvPr/>
      </p:nvGrpSpPr>
      <p:grpSpPr>
        <a:xfrm>
          <a:off x="0" y="0"/>
          <a:ext cx="0" cy="0"/>
          <a:chOff x="0" y="0"/>
          <a:chExt cx="0" cy="0"/>
        </a:xfrm>
      </p:grpSpPr>
      <p:sp>
        <p:nvSpPr>
          <p:cNvPr id="38" name="Shape 0">
            <a:extLst>
              <a:ext uri="{FF2B5EF4-FFF2-40B4-BE49-F238E27FC236}">
                <a16:creationId xmlns:a16="http://schemas.microsoft.com/office/drawing/2014/main" id="{5EAC905A-2366-C3A7-72AA-B05E54F67426}"/>
              </a:ext>
            </a:extLst>
          </p:cNvPr>
          <p:cNvSpPr/>
          <p:nvPr/>
        </p:nvSpPr>
        <p:spPr>
          <a:xfrm rot="16200000" flipV="1">
            <a:off x="3971663" y="-1970826"/>
            <a:ext cx="4264328" cy="12207657"/>
          </a:xfrm>
          <a:prstGeom prst="roundRect">
            <a:avLst>
              <a:gd name="adj" fmla="val 472"/>
            </a:avLst>
          </a:prstGeom>
          <a:gradFill>
            <a:gsLst>
              <a:gs pos="0">
                <a:schemeClr val="bg1">
                  <a:alpha val="18348"/>
                </a:schemeClr>
              </a:gs>
              <a:gs pos="100000">
                <a:srgbClr val="5E38B1">
                  <a:alpha val="11000"/>
                </a:srgbClr>
              </a:gs>
            </a:gsLst>
            <a:lin ang="21594000" scaled="0"/>
          </a:gradFill>
          <a:ln/>
        </p:spPr>
        <p:txBody>
          <a:bodyPr/>
          <a:lstStyle/>
          <a:p>
            <a:pPr>
              <a:lnSpc>
                <a:spcPct val="120000"/>
              </a:lnSpc>
            </a:pPr>
            <a:endParaRPr lang="en-IN" sz="1500" dirty="0">
              <a:latin typeface="Arial" panose="020B0604020202020204" pitchFamily="34" charset="0"/>
            </a:endParaRPr>
          </a:p>
        </p:txBody>
      </p:sp>
      <p:sp>
        <p:nvSpPr>
          <p:cNvPr id="4" name="Text Placeholder 26">
            <a:extLst>
              <a:ext uri="{FF2B5EF4-FFF2-40B4-BE49-F238E27FC236}">
                <a16:creationId xmlns:a16="http://schemas.microsoft.com/office/drawing/2014/main" id="{1804D303-C5F5-25FD-2974-C38CDE8B9CA1}"/>
              </a:ext>
            </a:extLst>
          </p:cNvPr>
          <p:cNvSpPr txBox="1">
            <a:spLocks/>
          </p:cNvSpPr>
          <p:nvPr/>
        </p:nvSpPr>
        <p:spPr>
          <a:xfrm>
            <a:off x="475116" y="432068"/>
            <a:ext cx="7809568" cy="740203"/>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300"/>
              </a:spcBef>
              <a:buNone/>
            </a:pPr>
            <a:r>
              <a:rPr lang="en-US" sz="3200" b="1" dirty="0">
                <a:latin typeface="Arial" panose="020B0604020202020204" pitchFamily="34" charset="0"/>
                <a:cs typeface="Arial" panose="020B0604020202020204" pitchFamily="34" charset="0"/>
              </a:rPr>
              <a:t>Top Occasions</a:t>
            </a:r>
            <a:endParaRPr lang="en-US" sz="1800" dirty="0">
              <a:latin typeface="Arial" panose="020B0604020202020204" pitchFamily="34" charset="0"/>
              <a:cs typeface="Arial" panose="020B0604020202020204" pitchFamily="34" charset="0"/>
            </a:endParaRPr>
          </a:p>
        </p:txBody>
      </p:sp>
      <p:sp>
        <p:nvSpPr>
          <p:cNvPr id="23" name="Freeform: Shape 7">
            <a:extLst>
              <a:ext uri="{FF2B5EF4-FFF2-40B4-BE49-F238E27FC236}">
                <a16:creationId xmlns:a16="http://schemas.microsoft.com/office/drawing/2014/main" id="{5E22A301-0A5F-4ADA-1539-093F9391945E}"/>
              </a:ext>
            </a:extLst>
          </p:cNvPr>
          <p:cNvSpPr/>
          <p:nvPr/>
        </p:nvSpPr>
        <p:spPr>
          <a:xfrm>
            <a:off x="208240" y="3233064"/>
            <a:ext cx="1646191" cy="2430659"/>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spAutoFit/>
          </a:bodyPr>
          <a:lstStyle/>
          <a:p>
            <a:pPr marL="0" lvl="1" defTabSz="1600200">
              <a:spcBef>
                <a:spcPct val="0"/>
              </a:spcBef>
              <a:spcAft>
                <a:spcPct val="15000"/>
              </a:spcAft>
            </a:pPr>
            <a:r>
              <a:rPr lang="en-US" sz="1000" dirty="0">
                <a:solidFill>
                  <a:schemeClr val="tx1">
                    <a:lumMod val="75000"/>
                    <a:lumOff val="25000"/>
                  </a:schemeClr>
                </a:solidFill>
                <a:latin typeface="Arial" panose="020B0604020202020204" pitchFamily="34" charset="0"/>
                <a:cs typeface="Arial" panose="020B0604020202020204" pitchFamily="34" charset="0"/>
              </a:rPr>
              <a:t>Salons and beauty professionals are increasingly leveraging milestone occasions, from </a:t>
            </a:r>
            <a:r>
              <a:rPr lang="en-US" sz="1000" b="1" dirty="0">
                <a:solidFill>
                  <a:schemeClr val="tx1">
                    <a:lumMod val="75000"/>
                    <a:lumOff val="25000"/>
                  </a:schemeClr>
                </a:solidFill>
                <a:latin typeface="Arial" panose="020B0604020202020204" pitchFamily="34" charset="0"/>
                <a:cs typeface="Arial" panose="020B0604020202020204" pitchFamily="34" charset="0"/>
              </a:rPr>
              <a:t>Back-to-School and prom season to bridal celebrations, ‘Gorgeous Grandma Day,’ and salon anniversaries</a:t>
            </a:r>
            <a:r>
              <a:rPr lang="en-US" sz="1000" dirty="0">
                <a:solidFill>
                  <a:schemeClr val="tx1">
                    <a:lumMod val="75000"/>
                    <a:lumOff val="25000"/>
                  </a:schemeClr>
                </a:solidFill>
                <a:latin typeface="Arial" panose="020B0604020202020204" pitchFamily="34" charset="0"/>
                <a:cs typeface="Arial" panose="020B0604020202020204" pitchFamily="34" charset="0"/>
              </a:rPr>
              <a:t>, to drive community goodwill, showcase expertise and strengthen brand storytelling. </a:t>
            </a:r>
          </a:p>
        </p:txBody>
      </p:sp>
      <p:sp>
        <p:nvSpPr>
          <p:cNvPr id="27" name="Freeform: Shape 13">
            <a:extLst>
              <a:ext uri="{FF2B5EF4-FFF2-40B4-BE49-F238E27FC236}">
                <a16:creationId xmlns:a16="http://schemas.microsoft.com/office/drawing/2014/main" id="{97D79221-1D9D-4721-BFFF-E03CC7115BE0}"/>
              </a:ext>
            </a:extLst>
          </p:cNvPr>
          <p:cNvSpPr/>
          <p:nvPr/>
        </p:nvSpPr>
        <p:spPr>
          <a:xfrm>
            <a:off x="2101429" y="3214374"/>
            <a:ext cx="1705061" cy="2584548"/>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sp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Holiday and festive seasons </a:t>
            </a:r>
            <a:r>
              <a:rPr lang="en-US" sz="1000" dirty="0">
                <a:solidFill>
                  <a:schemeClr val="tx1">
                    <a:lumMod val="75000"/>
                    <a:lumOff val="25000"/>
                  </a:schemeClr>
                </a:solidFill>
                <a:latin typeface="Arial" panose="020B0604020202020204" pitchFamily="34" charset="0"/>
                <a:cs typeface="Arial" panose="020B0604020202020204" pitchFamily="34" charset="0"/>
              </a:rPr>
              <a:t>have become prime opportunities for salons and beauty bars to </a:t>
            </a:r>
            <a:r>
              <a:rPr lang="en-US" sz="1000" b="1" dirty="0">
                <a:solidFill>
                  <a:schemeClr val="tx1">
                    <a:lumMod val="75000"/>
                    <a:lumOff val="25000"/>
                  </a:schemeClr>
                </a:solidFill>
                <a:latin typeface="Arial" panose="020B0604020202020204" pitchFamily="34" charset="0"/>
                <a:cs typeface="Arial" panose="020B0604020202020204" pitchFamily="34" charset="0"/>
              </a:rPr>
              <a:t>offer</a:t>
            </a:r>
            <a:r>
              <a:rPr lang="en-US" sz="1000" dirty="0">
                <a:solidFill>
                  <a:schemeClr val="tx1">
                    <a:lumMod val="75000"/>
                    <a:lumOff val="25000"/>
                  </a:schemeClr>
                </a:solidFill>
                <a:latin typeface="Arial" panose="020B0604020202020204" pitchFamily="34" charset="0"/>
                <a:cs typeface="Arial" panose="020B0604020202020204" pitchFamily="34" charset="0"/>
              </a:rPr>
              <a:t> </a:t>
            </a:r>
            <a:r>
              <a:rPr lang="en-US" sz="1000" b="1" dirty="0">
                <a:solidFill>
                  <a:schemeClr val="tx1">
                    <a:lumMod val="75000"/>
                    <a:lumOff val="25000"/>
                  </a:schemeClr>
                </a:solidFill>
                <a:latin typeface="Arial" panose="020B0604020202020204" pitchFamily="34" charset="0"/>
                <a:cs typeface="Arial" panose="020B0604020202020204" pitchFamily="34" charset="0"/>
              </a:rPr>
              <a:t>tailored, quick-turnaround glam services</a:t>
            </a:r>
            <a:r>
              <a:rPr lang="en-US" sz="1000" dirty="0">
                <a:solidFill>
                  <a:schemeClr val="tx1">
                    <a:lumMod val="75000"/>
                    <a:lumOff val="25000"/>
                  </a:schemeClr>
                </a:solidFill>
                <a:latin typeface="Arial" panose="020B0604020202020204" pitchFamily="34" charset="0"/>
                <a:cs typeface="Arial" panose="020B0604020202020204" pitchFamily="34" charset="0"/>
              </a:rPr>
              <a:t>, from Blo Blow Dry Bar’s “last-minute party” hair menus to Trim Salon’s beachy waves for Comedy Night and Southern Serenity Spa’s lived-in color for relaxed holiday gatherings.</a:t>
            </a:r>
          </a:p>
        </p:txBody>
      </p:sp>
      <p:sp>
        <p:nvSpPr>
          <p:cNvPr id="28" name="Freeform: Shape 17">
            <a:extLst>
              <a:ext uri="{FF2B5EF4-FFF2-40B4-BE49-F238E27FC236}">
                <a16:creationId xmlns:a16="http://schemas.microsoft.com/office/drawing/2014/main" id="{0BE1E86D-5EE0-A640-CCC2-A61D330D0890}"/>
              </a:ext>
            </a:extLst>
          </p:cNvPr>
          <p:cNvSpPr/>
          <p:nvPr/>
        </p:nvSpPr>
        <p:spPr>
          <a:xfrm>
            <a:off x="4062489" y="3233064"/>
            <a:ext cx="1909025" cy="2122883"/>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sp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Community-led beauty events </a:t>
            </a:r>
            <a:r>
              <a:rPr lang="en-US" sz="1000" dirty="0">
                <a:solidFill>
                  <a:schemeClr val="tx1">
                    <a:lumMod val="75000"/>
                    <a:lumOff val="25000"/>
                  </a:schemeClr>
                </a:solidFill>
                <a:latin typeface="Arial" panose="020B0604020202020204" pitchFamily="34" charset="0"/>
                <a:cs typeface="Arial" panose="020B0604020202020204" pitchFamily="34" charset="0"/>
              </a:rPr>
              <a:t>are emerging as key moments for hair and makeup engagement, </a:t>
            </a:r>
            <a:r>
              <a:rPr lang="en-US" sz="1000" b="1" dirty="0">
                <a:solidFill>
                  <a:schemeClr val="tx1">
                    <a:lumMod val="75000"/>
                    <a:lumOff val="25000"/>
                  </a:schemeClr>
                </a:solidFill>
                <a:latin typeface="Arial" panose="020B0604020202020204" pitchFamily="34" charset="0"/>
                <a:cs typeface="Arial" panose="020B0604020202020204" pitchFamily="34" charset="0"/>
              </a:rPr>
              <a:t>offering professionals opportunities</a:t>
            </a:r>
            <a:r>
              <a:rPr lang="en-US" sz="1000" dirty="0">
                <a:solidFill>
                  <a:schemeClr val="tx1">
                    <a:lumMod val="75000"/>
                    <a:lumOff val="25000"/>
                  </a:schemeClr>
                </a:solidFill>
                <a:latin typeface="Arial" panose="020B0604020202020204" pitchFamily="34" charset="0"/>
                <a:cs typeface="Arial" panose="020B0604020202020204" pitchFamily="34" charset="0"/>
              </a:rPr>
              <a:t> to connect through free pop-ups, skill-building workshops, and inclusive services that foster empowerment, education, and accessibility.</a:t>
            </a:r>
          </a:p>
        </p:txBody>
      </p:sp>
      <p:sp>
        <p:nvSpPr>
          <p:cNvPr id="30" name="Freeform: Shape 26">
            <a:extLst>
              <a:ext uri="{FF2B5EF4-FFF2-40B4-BE49-F238E27FC236}">
                <a16:creationId xmlns:a16="http://schemas.microsoft.com/office/drawing/2014/main" id="{2A4F3CEB-78DA-98AE-4A6E-47DB6F6B299E}"/>
              </a:ext>
            </a:extLst>
          </p:cNvPr>
          <p:cNvSpPr/>
          <p:nvPr/>
        </p:nvSpPr>
        <p:spPr>
          <a:xfrm>
            <a:off x="6268085" y="3233063"/>
            <a:ext cx="1781115" cy="2122883"/>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sp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High-profile competitions </a:t>
            </a:r>
            <a:r>
              <a:rPr lang="en-US" sz="1000" dirty="0">
                <a:solidFill>
                  <a:schemeClr val="tx1">
                    <a:lumMod val="75000"/>
                    <a:lumOff val="25000"/>
                  </a:schemeClr>
                </a:solidFill>
                <a:latin typeface="Arial" panose="020B0604020202020204" pitchFamily="34" charset="0"/>
                <a:cs typeface="Arial" panose="020B0604020202020204" pitchFamily="34" charset="0"/>
              </a:rPr>
              <a:t>like pageants, drag balls, dance showcases, and televised talent shows are key moments for transformative hair and makeup, </a:t>
            </a:r>
            <a:r>
              <a:rPr lang="en-US" sz="1000" b="1" dirty="0">
                <a:solidFill>
                  <a:schemeClr val="tx1">
                    <a:lumMod val="75000"/>
                    <a:lumOff val="25000"/>
                  </a:schemeClr>
                </a:solidFill>
                <a:latin typeface="Arial" panose="020B0604020202020204" pitchFamily="34" charset="0"/>
                <a:cs typeface="Arial" panose="020B0604020202020204" pitchFamily="34" charset="0"/>
              </a:rPr>
              <a:t>sparking passionate conversations </a:t>
            </a:r>
            <a:r>
              <a:rPr lang="en-US" sz="1000" dirty="0">
                <a:solidFill>
                  <a:schemeClr val="tx1">
                    <a:lumMod val="75000"/>
                    <a:lumOff val="25000"/>
                  </a:schemeClr>
                </a:solidFill>
                <a:latin typeface="Arial" panose="020B0604020202020204" pitchFamily="34" charset="0"/>
                <a:cs typeface="Arial" panose="020B0604020202020204" pitchFamily="34" charset="0"/>
              </a:rPr>
              <a:t>around artistry, technique, and performance-ready glam.</a:t>
            </a:r>
          </a:p>
        </p:txBody>
      </p:sp>
      <p:grpSp>
        <p:nvGrpSpPr>
          <p:cNvPr id="32" name="Group 31">
            <a:extLst>
              <a:ext uri="{FF2B5EF4-FFF2-40B4-BE49-F238E27FC236}">
                <a16:creationId xmlns:a16="http://schemas.microsoft.com/office/drawing/2014/main" id="{DDC92C05-9537-C56E-34D0-9CB6A8892E1F}"/>
              </a:ext>
            </a:extLst>
          </p:cNvPr>
          <p:cNvGrpSpPr/>
          <p:nvPr/>
        </p:nvGrpSpPr>
        <p:grpSpPr>
          <a:xfrm>
            <a:off x="294972" y="2372991"/>
            <a:ext cx="1457348" cy="671388"/>
            <a:chOff x="594618" y="2238197"/>
            <a:chExt cx="1708665" cy="671388"/>
          </a:xfrm>
        </p:grpSpPr>
        <p:sp>
          <p:nvSpPr>
            <p:cNvPr id="3" name="Freeform: Shape 8">
              <a:extLst>
                <a:ext uri="{FF2B5EF4-FFF2-40B4-BE49-F238E27FC236}">
                  <a16:creationId xmlns:a16="http://schemas.microsoft.com/office/drawing/2014/main" id="{DD140BCD-F63F-F9A9-0445-391F9DB62483}"/>
                </a:ext>
              </a:extLst>
            </p:cNvPr>
            <p:cNvSpPr/>
            <p:nvPr/>
          </p:nvSpPr>
          <p:spPr>
            <a:xfrm>
              <a:off x="594618" y="2238197"/>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lnSpc>
                  <a:spcPct val="90000"/>
                </a:lnSpc>
                <a:spcBef>
                  <a:spcPct val="0"/>
                </a:spcBef>
                <a:spcAft>
                  <a:spcPct val="35000"/>
                </a:spcAft>
              </a:pPr>
              <a:r>
                <a:rPr lang="en-US" sz="1100" kern="1200" dirty="0">
                  <a:solidFill>
                    <a:srgbClr val="5E38B1"/>
                  </a:solidFill>
                  <a:latin typeface="Arial" panose="020B0604020202020204" pitchFamily="34" charset="0"/>
                  <a:cs typeface="Arial" panose="020B0604020202020204" pitchFamily="34" charset="0"/>
                </a:rPr>
                <a:t>Special Events &amp; Milestones</a:t>
              </a:r>
            </a:p>
          </p:txBody>
        </p:sp>
        <p:pic>
          <p:nvPicPr>
            <p:cNvPr id="40" name="Graphic 39">
              <a:extLst>
                <a:ext uri="{FF2B5EF4-FFF2-40B4-BE49-F238E27FC236}">
                  <a16:creationId xmlns:a16="http://schemas.microsoft.com/office/drawing/2014/main" id="{9CCD46D0-7198-7772-D4B9-F637C5D47F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7449" y="2511269"/>
              <a:ext cx="123825" cy="117307"/>
            </a:xfrm>
            <a:prstGeom prst="rect">
              <a:avLst/>
            </a:prstGeom>
          </p:spPr>
        </p:pic>
      </p:grpSp>
      <p:sp>
        <p:nvSpPr>
          <p:cNvPr id="46" name="TextBox 45">
            <a:extLst>
              <a:ext uri="{FF2B5EF4-FFF2-40B4-BE49-F238E27FC236}">
                <a16:creationId xmlns:a16="http://schemas.microsoft.com/office/drawing/2014/main" id="{226EC6AE-067C-9B35-E5D5-5F1A4D459516}"/>
              </a:ext>
            </a:extLst>
          </p:cNvPr>
          <p:cNvSpPr txBox="1"/>
          <p:nvPr/>
        </p:nvSpPr>
        <p:spPr>
          <a:xfrm>
            <a:off x="-2" y="1587965"/>
            <a:ext cx="12207647" cy="369332"/>
          </a:xfrm>
          <a:prstGeom prst="rect">
            <a:avLst/>
          </a:prstGeom>
          <a:gradFill>
            <a:gsLst>
              <a:gs pos="0">
                <a:srgbClr val="6D4AB8"/>
              </a:gs>
              <a:gs pos="98000">
                <a:srgbClr val="4A20A8"/>
              </a:gs>
            </a:gsLst>
            <a:lin ang="5400000" scaled="0"/>
          </a:gradFill>
        </p:spPr>
        <p:txBody>
          <a:bodyPr wrap="square" lIns="182880" tIns="91440" bIns="91440" rtlCol="0" anchor="ctr">
            <a:spAutoFit/>
          </a:bodyPr>
          <a:lstStyle/>
          <a:p>
            <a:pPr algn="ctr"/>
            <a:r>
              <a:rPr lang="en-US" sz="1200" dirty="0">
                <a:solidFill>
                  <a:schemeClr val="bg1"/>
                </a:solidFill>
                <a:latin typeface="Arial" panose="020B0604020202020204" pitchFamily="34" charset="0"/>
                <a:cs typeface="Arial" panose="020B0604020202020204" pitchFamily="34" charset="0"/>
              </a:rPr>
              <a:t>Beauty by the Moment: Cultural Events Fueling Hair &amp; Makeup Demand</a:t>
            </a:r>
          </a:p>
        </p:txBody>
      </p:sp>
      <p:sp>
        <p:nvSpPr>
          <p:cNvPr id="6" name="TextBox 5">
            <a:extLst>
              <a:ext uri="{FF2B5EF4-FFF2-40B4-BE49-F238E27FC236}">
                <a16:creationId xmlns:a16="http://schemas.microsoft.com/office/drawing/2014/main" id="{8920563F-5004-2EB6-A887-DB0386E4E711}"/>
              </a:ext>
            </a:extLst>
          </p:cNvPr>
          <p:cNvSpPr txBox="1"/>
          <p:nvPr/>
        </p:nvSpPr>
        <p:spPr>
          <a:xfrm>
            <a:off x="4478874" y="438231"/>
            <a:ext cx="7285414" cy="830997"/>
          </a:xfrm>
          <a:prstGeom prst="rect">
            <a:avLst/>
          </a:prstGeom>
          <a:noFill/>
        </p:spPr>
        <p:txBody>
          <a:bodyPr wrap="square" rtlCol="0">
            <a:spAutoFit/>
          </a:bodyPr>
          <a:lstStyle>
            <a:defPPr>
              <a:defRPr lang="en-US"/>
            </a:defPPr>
            <a:lvl1pPr>
              <a:defRPr sz="1200">
                <a:solidFill>
                  <a:schemeClr val="tx1">
                    <a:lumMod val="75000"/>
                    <a:lumOff val="25000"/>
                  </a:schemeClr>
                </a:solidFill>
                <a:latin typeface="Arial" panose="020B0604020202020204" pitchFamily="34" charset="0"/>
                <a:cs typeface="Arial" panose="020B0604020202020204" pitchFamily="34" charset="0"/>
              </a:defRPr>
            </a:lvl1pPr>
          </a:lstStyle>
          <a:p>
            <a:r>
              <a:rPr lang="en-US" dirty="0"/>
              <a:t>Hair and makeup services have transformed from service providers into cultural hubs that celebrate personal milestones and identity through occasion-based experiences. These businesses now blend artistry, wellness, and community connection to create transformative moments spanning bridal glam to drag competitions and holiday makeovers.</a:t>
            </a:r>
          </a:p>
        </p:txBody>
      </p:sp>
      <p:grpSp>
        <p:nvGrpSpPr>
          <p:cNvPr id="31" name="Group 30">
            <a:extLst>
              <a:ext uri="{FF2B5EF4-FFF2-40B4-BE49-F238E27FC236}">
                <a16:creationId xmlns:a16="http://schemas.microsoft.com/office/drawing/2014/main" id="{EA905ABC-11C8-6545-1400-DB1BB41015B4}"/>
              </a:ext>
            </a:extLst>
          </p:cNvPr>
          <p:cNvGrpSpPr/>
          <p:nvPr/>
        </p:nvGrpSpPr>
        <p:grpSpPr>
          <a:xfrm>
            <a:off x="2255820" y="2372991"/>
            <a:ext cx="1457348" cy="671388"/>
            <a:chOff x="2822561" y="2252711"/>
            <a:chExt cx="1708665" cy="671388"/>
          </a:xfrm>
        </p:grpSpPr>
        <p:sp>
          <p:nvSpPr>
            <p:cNvPr id="8" name="Freeform: Shape 8">
              <a:extLst>
                <a:ext uri="{FF2B5EF4-FFF2-40B4-BE49-F238E27FC236}">
                  <a16:creationId xmlns:a16="http://schemas.microsoft.com/office/drawing/2014/main" id="{4F1A2419-2939-E26A-8E6D-7E2527017B99}"/>
                </a:ext>
              </a:extLst>
            </p:cNvPr>
            <p:cNvSpPr/>
            <p:nvPr/>
          </p:nvSpPr>
          <p:spPr>
            <a:xfrm>
              <a:off x="2822561" y="2252711"/>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lnSpc>
                  <a:spcPct val="90000"/>
                </a:lnSpc>
                <a:spcBef>
                  <a:spcPct val="0"/>
                </a:spcBef>
                <a:spcAft>
                  <a:spcPct val="35000"/>
                </a:spcAft>
              </a:pPr>
              <a:r>
                <a:rPr lang="en-US" sz="1100" kern="1200" dirty="0">
                  <a:solidFill>
                    <a:srgbClr val="5E38B1"/>
                  </a:solidFill>
                  <a:latin typeface="Arial" panose="020B0604020202020204" pitchFamily="34" charset="0"/>
                  <a:cs typeface="Arial" panose="020B0604020202020204" pitchFamily="34" charset="0"/>
                </a:rPr>
                <a:t>Holiday &amp; Festive Makeovers</a:t>
              </a:r>
            </a:p>
          </p:txBody>
        </p:sp>
        <p:pic>
          <p:nvPicPr>
            <p:cNvPr id="9" name="Graphic 8">
              <a:extLst>
                <a:ext uri="{FF2B5EF4-FFF2-40B4-BE49-F238E27FC236}">
                  <a16:creationId xmlns:a16="http://schemas.microsoft.com/office/drawing/2014/main" id="{694AFD84-2036-ECD9-14DA-431A56D06F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85392" y="2525783"/>
              <a:ext cx="123825" cy="117307"/>
            </a:xfrm>
            <a:prstGeom prst="rect">
              <a:avLst/>
            </a:prstGeom>
          </p:spPr>
        </p:pic>
      </p:grpSp>
      <p:grpSp>
        <p:nvGrpSpPr>
          <p:cNvPr id="26" name="Group 25">
            <a:extLst>
              <a:ext uri="{FF2B5EF4-FFF2-40B4-BE49-F238E27FC236}">
                <a16:creationId xmlns:a16="http://schemas.microsoft.com/office/drawing/2014/main" id="{E6BC3CD1-0590-CD77-7018-BE370D11BCB4}"/>
              </a:ext>
            </a:extLst>
          </p:cNvPr>
          <p:cNvGrpSpPr/>
          <p:nvPr/>
        </p:nvGrpSpPr>
        <p:grpSpPr>
          <a:xfrm>
            <a:off x="4287187" y="2372991"/>
            <a:ext cx="1457348" cy="671388"/>
            <a:chOff x="5050504" y="2223682"/>
            <a:chExt cx="1708665" cy="671388"/>
          </a:xfrm>
        </p:grpSpPr>
        <p:sp>
          <p:nvSpPr>
            <p:cNvPr id="11" name="Freeform: Shape 8">
              <a:extLst>
                <a:ext uri="{FF2B5EF4-FFF2-40B4-BE49-F238E27FC236}">
                  <a16:creationId xmlns:a16="http://schemas.microsoft.com/office/drawing/2014/main" id="{1C7C1F63-1B4F-F46D-2454-FD42F64DEE4E}"/>
                </a:ext>
              </a:extLst>
            </p:cNvPr>
            <p:cNvSpPr/>
            <p:nvPr/>
          </p:nvSpPr>
          <p:spPr>
            <a:xfrm>
              <a:off x="5050504" y="2223682"/>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lnSpc>
                  <a:spcPct val="90000"/>
                </a:lnSpc>
                <a:spcBef>
                  <a:spcPct val="0"/>
                </a:spcBef>
                <a:spcAft>
                  <a:spcPct val="35000"/>
                </a:spcAft>
              </a:pPr>
              <a:r>
                <a:rPr lang="en-US" sz="1100" kern="1200" dirty="0">
                  <a:solidFill>
                    <a:srgbClr val="5E38B1"/>
                  </a:solidFill>
                  <a:latin typeface="Arial" panose="020B0604020202020204" pitchFamily="34" charset="0"/>
                  <a:cs typeface="Arial" panose="020B0604020202020204" pitchFamily="34" charset="0"/>
                </a:rPr>
                <a:t>Community-Driven Events</a:t>
              </a:r>
            </a:p>
          </p:txBody>
        </p:sp>
        <p:pic>
          <p:nvPicPr>
            <p:cNvPr id="12" name="Graphic 11">
              <a:extLst>
                <a:ext uri="{FF2B5EF4-FFF2-40B4-BE49-F238E27FC236}">
                  <a16:creationId xmlns:a16="http://schemas.microsoft.com/office/drawing/2014/main" id="{E885C4E7-14A3-8241-2A54-9CDB16ADD1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3335" y="2496754"/>
              <a:ext cx="123825" cy="117307"/>
            </a:xfrm>
            <a:prstGeom prst="rect">
              <a:avLst/>
            </a:prstGeom>
          </p:spPr>
        </p:pic>
      </p:grpSp>
      <p:grpSp>
        <p:nvGrpSpPr>
          <p:cNvPr id="25" name="Group 24">
            <a:extLst>
              <a:ext uri="{FF2B5EF4-FFF2-40B4-BE49-F238E27FC236}">
                <a16:creationId xmlns:a16="http://schemas.microsoft.com/office/drawing/2014/main" id="{E66AF37D-BB5C-A5DB-44ED-35B9EB5C1A6E}"/>
              </a:ext>
            </a:extLst>
          </p:cNvPr>
          <p:cNvGrpSpPr/>
          <p:nvPr/>
        </p:nvGrpSpPr>
        <p:grpSpPr>
          <a:xfrm>
            <a:off x="6338230" y="2385807"/>
            <a:ext cx="1457349" cy="671388"/>
            <a:chOff x="7278447" y="2238197"/>
            <a:chExt cx="1708665" cy="671388"/>
          </a:xfrm>
        </p:grpSpPr>
        <p:sp>
          <p:nvSpPr>
            <p:cNvPr id="15" name="Freeform: Shape 8">
              <a:extLst>
                <a:ext uri="{FF2B5EF4-FFF2-40B4-BE49-F238E27FC236}">
                  <a16:creationId xmlns:a16="http://schemas.microsoft.com/office/drawing/2014/main" id="{30783E4E-F5F7-B4E9-405E-7CCE5A06EFF2}"/>
                </a:ext>
              </a:extLst>
            </p:cNvPr>
            <p:cNvSpPr/>
            <p:nvPr/>
          </p:nvSpPr>
          <p:spPr>
            <a:xfrm>
              <a:off x="7278447" y="2238197"/>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lnSpc>
                  <a:spcPct val="90000"/>
                </a:lnSpc>
                <a:spcBef>
                  <a:spcPct val="0"/>
                </a:spcBef>
                <a:spcAft>
                  <a:spcPct val="35000"/>
                </a:spcAft>
              </a:pPr>
              <a:r>
                <a:rPr lang="en-US" sz="1100" kern="1200" dirty="0">
                  <a:solidFill>
                    <a:srgbClr val="5E38B1"/>
                  </a:solidFill>
                  <a:latin typeface="Arial" panose="020B0604020202020204" pitchFamily="34" charset="0"/>
                  <a:cs typeface="Arial" panose="020B0604020202020204" pitchFamily="34" charset="0"/>
                </a:rPr>
                <a:t>Pageant / Competition Glam</a:t>
              </a:r>
            </a:p>
          </p:txBody>
        </p:sp>
        <p:pic>
          <p:nvPicPr>
            <p:cNvPr id="16" name="Graphic 15">
              <a:extLst>
                <a:ext uri="{FF2B5EF4-FFF2-40B4-BE49-F238E27FC236}">
                  <a16:creationId xmlns:a16="http://schemas.microsoft.com/office/drawing/2014/main" id="{BAF5FDFA-4733-0A71-F45C-4A4DE32713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1278" y="2511269"/>
              <a:ext cx="123825" cy="117307"/>
            </a:xfrm>
            <a:prstGeom prst="rect">
              <a:avLst/>
            </a:prstGeom>
          </p:spPr>
        </p:pic>
      </p:grpSp>
      <p:cxnSp>
        <p:nvCxnSpPr>
          <p:cNvPr id="34" name="Straight Connector 33">
            <a:extLst>
              <a:ext uri="{FF2B5EF4-FFF2-40B4-BE49-F238E27FC236}">
                <a16:creationId xmlns:a16="http://schemas.microsoft.com/office/drawing/2014/main" id="{77865568-2147-53E0-D3E2-D9FBBEFE3C3C}"/>
              </a:ext>
            </a:extLst>
          </p:cNvPr>
          <p:cNvCxnSpPr>
            <a:cxnSpLocks/>
          </p:cNvCxnSpPr>
          <p:nvPr/>
        </p:nvCxnSpPr>
        <p:spPr>
          <a:xfrm>
            <a:off x="2021324" y="3160409"/>
            <a:ext cx="0" cy="2968701"/>
          </a:xfrm>
          <a:prstGeom prst="line">
            <a:avLst/>
          </a:prstGeom>
          <a:ln w="9525">
            <a:solidFill>
              <a:schemeClr val="bg1">
                <a:lumMod val="85000"/>
                <a:alpha val="84052"/>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BAC7D8D-1B26-A5A2-A399-55B5670EBB2C}"/>
              </a:ext>
            </a:extLst>
          </p:cNvPr>
          <p:cNvCxnSpPr>
            <a:cxnSpLocks/>
          </p:cNvCxnSpPr>
          <p:nvPr/>
        </p:nvCxnSpPr>
        <p:spPr>
          <a:xfrm>
            <a:off x="3862371" y="3233064"/>
            <a:ext cx="0" cy="2968701"/>
          </a:xfrm>
          <a:prstGeom prst="line">
            <a:avLst/>
          </a:prstGeom>
          <a:ln w="9525">
            <a:solidFill>
              <a:schemeClr val="bg1">
                <a:lumMod val="85000"/>
                <a:alpha val="84052"/>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B289B74-A4B3-D3F6-E97B-08533A3766E4}"/>
              </a:ext>
            </a:extLst>
          </p:cNvPr>
          <p:cNvCxnSpPr>
            <a:cxnSpLocks/>
          </p:cNvCxnSpPr>
          <p:nvPr/>
        </p:nvCxnSpPr>
        <p:spPr>
          <a:xfrm>
            <a:off x="6060831" y="3233064"/>
            <a:ext cx="0" cy="2968701"/>
          </a:xfrm>
          <a:prstGeom prst="line">
            <a:avLst/>
          </a:prstGeom>
          <a:ln w="9525">
            <a:solidFill>
              <a:schemeClr val="bg1">
                <a:lumMod val="85000"/>
                <a:alpha val="84052"/>
              </a:schemeClr>
            </a:solidFill>
          </a:ln>
        </p:spPr>
        <p:style>
          <a:lnRef idx="2">
            <a:schemeClr val="accent1"/>
          </a:lnRef>
          <a:fillRef idx="0">
            <a:schemeClr val="accent1"/>
          </a:fillRef>
          <a:effectRef idx="1">
            <a:schemeClr val="accent1"/>
          </a:effectRef>
          <a:fontRef idx="minor">
            <a:schemeClr val="tx1"/>
          </a:fontRef>
        </p:style>
      </p:cxnSp>
      <p:sp>
        <p:nvSpPr>
          <p:cNvPr id="2" name="Freeform: Shape 17">
            <a:extLst>
              <a:ext uri="{FF2B5EF4-FFF2-40B4-BE49-F238E27FC236}">
                <a16:creationId xmlns:a16="http://schemas.microsoft.com/office/drawing/2014/main" id="{33AF8471-7ADC-E3EA-D158-F29D0131E869}"/>
              </a:ext>
            </a:extLst>
          </p:cNvPr>
          <p:cNvSpPr/>
          <p:nvPr/>
        </p:nvSpPr>
        <p:spPr>
          <a:xfrm>
            <a:off x="8352787" y="3175170"/>
            <a:ext cx="1781114" cy="1968995"/>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sp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Pop culture events</a:t>
            </a:r>
            <a:r>
              <a:rPr lang="en-US" sz="1000" dirty="0">
                <a:solidFill>
                  <a:schemeClr val="tx1">
                    <a:lumMod val="75000"/>
                    <a:lumOff val="25000"/>
                  </a:schemeClr>
                </a:solidFill>
                <a:latin typeface="Arial" panose="020B0604020202020204" pitchFamily="34" charset="0"/>
                <a:cs typeface="Arial" panose="020B0604020202020204" pitchFamily="34" charset="0"/>
              </a:rPr>
              <a:t>, from red carpets to streaming releases, serve as major glam moments, driving demand for viral hair and makeup trends, product “dupes,” and fan-fueled recreations that fuel </a:t>
            </a:r>
            <a:r>
              <a:rPr lang="en-US" sz="1000" b="1" dirty="0">
                <a:solidFill>
                  <a:schemeClr val="tx1">
                    <a:lumMod val="75000"/>
                    <a:lumOff val="25000"/>
                  </a:schemeClr>
                </a:solidFill>
                <a:latin typeface="Arial" panose="020B0604020202020204" pitchFamily="34" charset="0"/>
                <a:cs typeface="Arial" panose="020B0604020202020204" pitchFamily="34" charset="0"/>
              </a:rPr>
              <a:t>tutorials and brand collaborations.</a:t>
            </a:r>
          </a:p>
        </p:txBody>
      </p:sp>
      <p:sp>
        <p:nvSpPr>
          <p:cNvPr id="5" name="Freeform: Shape 26">
            <a:extLst>
              <a:ext uri="{FF2B5EF4-FFF2-40B4-BE49-F238E27FC236}">
                <a16:creationId xmlns:a16="http://schemas.microsoft.com/office/drawing/2014/main" id="{24B317E8-FD26-89B3-3305-445BB1C43027}"/>
              </a:ext>
            </a:extLst>
          </p:cNvPr>
          <p:cNvSpPr/>
          <p:nvPr/>
        </p:nvSpPr>
        <p:spPr>
          <a:xfrm>
            <a:off x="10454913" y="3140249"/>
            <a:ext cx="1597662" cy="2584548"/>
          </a:xfrm>
          <a:custGeom>
            <a:avLst/>
            <a:gdLst>
              <a:gd name="connsiteX0" fmla="*/ 232838 w 1397000"/>
              <a:gd name="connsiteY0" fmla="*/ 0 h 7158588"/>
              <a:gd name="connsiteX1" fmla="*/ 1164162 w 1397000"/>
              <a:gd name="connsiteY1" fmla="*/ 0 h 7158588"/>
              <a:gd name="connsiteX2" fmla="*/ 1397000 w 1397000"/>
              <a:gd name="connsiteY2" fmla="*/ 232838 h 7158588"/>
              <a:gd name="connsiteX3" fmla="*/ 1397000 w 1397000"/>
              <a:gd name="connsiteY3" fmla="*/ 7158588 h 7158588"/>
              <a:gd name="connsiteX4" fmla="*/ 1397000 w 1397000"/>
              <a:gd name="connsiteY4" fmla="*/ 7158588 h 7158588"/>
              <a:gd name="connsiteX5" fmla="*/ 0 w 1397000"/>
              <a:gd name="connsiteY5" fmla="*/ 7158588 h 7158588"/>
              <a:gd name="connsiteX6" fmla="*/ 0 w 1397000"/>
              <a:gd name="connsiteY6" fmla="*/ 7158588 h 7158588"/>
              <a:gd name="connsiteX7" fmla="*/ 0 w 1397000"/>
              <a:gd name="connsiteY7" fmla="*/ 232838 h 7158588"/>
              <a:gd name="connsiteX8" fmla="*/ 232838 w 1397000"/>
              <a:gd name="connsiteY8" fmla="*/ 0 h 715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000" h="7158588">
                <a:moveTo>
                  <a:pt x="1397000" y="1193122"/>
                </a:moveTo>
                <a:lnTo>
                  <a:pt x="1397000" y="5965466"/>
                </a:lnTo>
                <a:cubicBezTo>
                  <a:pt x="1397000" y="6624410"/>
                  <a:pt x="1376657" y="7158588"/>
                  <a:pt x="1351562" y="7158588"/>
                </a:cubicBezTo>
                <a:lnTo>
                  <a:pt x="0" y="7158588"/>
                </a:lnTo>
                <a:lnTo>
                  <a:pt x="0" y="7158588"/>
                </a:lnTo>
                <a:lnTo>
                  <a:pt x="0" y="0"/>
                </a:lnTo>
                <a:lnTo>
                  <a:pt x="0" y="0"/>
                </a:lnTo>
                <a:lnTo>
                  <a:pt x="1351562" y="0"/>
                </a:lnTo>
                <a:cubicBezTo>
                  <a:pt x="1376657" y="0"/>
                  <a:pt x="1397000" y="534178"/>
                  <a:pt x="1397000" y="1193122"/>
                </a:cubicBez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6776" rIns="205356" bIns="136776" numCol="1" spcCol="1270" anchor="ctr" anchorCtr="0">
            <a:spAutoFit/>
          </a:bodyPr>
          <a:lstStyle/>
          <a:p>
            <a:pPr marL="0" lvl="1" defTabSz="1600200">
              <a:spcBef>
                <a:spcPct val="0"/>
              </a:spcBef>
              <a:spcAft>
                <a:spcPct val="15000"/>
              </a:spcAft>
            </a:pPr>
            <a:r>
              <a:rPr lang="en-US" sz="1000" b="1" dirty="0">
                <a:solidFill>
                  <a:schemeClr val="tx1">
                    <a:lumMod val="75000"/>
                    <a:lumOff val="25000"/>
                  </a:schemeClr>
                </a:solidFill>
                <a:latin typeface="Arial" panose="020B0604020202020204" pitchFamily="34" charset="0"/>
                <a:cs typeface="Arial" panose="020B0604020202020204" pitchFamily="34" charset="0"/>
              </a:rPr>
              <a:t>Wellness-inspired makeovers </a:t>
            </a:r>
            <a:r>
              <a:rPr lang="en-US" sz="1000" dirty="0">
                <a:solidFill>
                  <a:schemeClr val="tx1">
                    <a:lumMod val="75000"/>
                    <a:lumOff val="25000"/>
                  </a:schemeClr>
                </a:solidFill>
                <a:latin typeface="Arial" panose="020B0604020202020204" pitchFamily="34" charset="0"/>
                <a:cs typeface="Arial" panose="020B0604020202020204" pitchFamily="34" charset="0"/>
              </a:rPr>
              <a:t>are emerging as key occasions where beauty meets self-care, offering clients rejuvenating experiences that prioritize </a:t>
            </a:r>
            <a:r>
              <a:rPr lang="en-US" sz="1000" b="1" dirty="0">
                <a:solidFill>
                  <a:schemeClr val="tx1">
                    <a:lumMod val="75000"/>
                    <a:lumOff val="25000"/>
                  </a:schemeClr>
                </a:solidFill>
                <a:latin typeface="Arial" panose="020B0604020202020204" pitchFamily="34" charset="0"/>
                <a:cs typeface="Arial" panose="020B0604020202020204" pitchFamily="34" charset="0"/>
              </a:rPr>
              <a:t>skin health, stress relief, and confidence</a:t>
            </a:r>
            <a:r>
              <a:rPr lang="en-US" sz="1000" dirty="0">
                <a:solidFill>
                  <a:schemeClr val="tx1">
                    <a:lumMod val="75000"/>
                    <a:lumOff val="25000"/>
                  </a:schemeClr>
                </a:solidFill>
                <a:latin typeface="Arial" panose="020B0604020202020204" pitchFamily="34" charset="0"/>
                <a:cs typeface="Arial" panose="020B0604020202020204" pitchFamily="34" charset="0"/>
              </a:rPr>
              <a:t> through gentle techniques, nourishing products, and holistic transformations.</a:t>
            </a:r>
            <a:endParaRPr lang="en-IN" sz="1000" kern="12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C7DF1F4E-56F6-5B08-CA7A-7D1682790DE7}"/>
              </a:ext>
            </a:extLst>
          </p:cNvPr>
          <p:cNvGrpSpPr/>
          <p:nvPr/>
        </p:nvGrpSpPr>
        <p:grpSpPr>
          <a:xfrm>
            <a:off x="8451844" y="2372991"/>
            <a:ext cx="1457348" cy="671388"/>
            <a:chOff x="5050504" y="2223682"/>
            <a:chExt cx="1708665" cy="671388"/>
          </a:xfrm>
        </p:grpSpPr>
        <p:sp>
          <p:nvSpPr>
            <p:cNvPr id="10" name="Freeform: Shape 8">
              <a:extLst>
                <a:ext uri="{FF2B5EF4-FFF2-40B4-BE49-F238E27FC236}">
                  <a16:creationId xmlns:a16="http://schemas.microsoft.com/office/drawing/2014/main" id="{E56B84C9-42D2-0B69-67EF-4E348B7FFF5E}"/>
                </a:ext>
              </a:extLst>
            </p:cNvPr>
            <p:cNvSpPr/>
            <p:nvPr/>
          </p:nvSpPr>
          <p:spPr>
            <a:xfrm>
              <a:off x="5050504" y="2223682"/>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lnSpc>
                  <a:spcPct val="90000"/>
                </a:lnSpc>
                <a:spcBef>
                  <a:spcPct val="0"/>
                </a:spcBef>
                <a:spcAft>
                  <a:spcPct val="35000"/>
                </a:spcAft>
              </a:pPr>
              <a:r>
                <a:rPr lang="en-US" sz="1100" kern="1200" dirty="0">
                  <a:solidFill>
                    <a:srgbClr val="5E38B1"/>
                  </a:solidFill>
                  <a:latin typeface="Arial" panose="020B0604020202020204" pitchFamily="34" charset="0"/>
                  <a:cs typeface="Arial" panose="020B0604020202020204" pitchFamily="34" charset="0"/>
                </a:rPr>
                <a:t>Pop Culture Glam</a:t>
              </a:r>
            </a:p>
          </p:txBody>
        </p:sp>
        <p:pic>
          <p:nvPicPr>
            <p:cNvPr id="13" name="Graphic 12">
              <a:extLst>
                <a:ext uri="{FF2B5EF4-FFF2-40B4-BE49-F238E27FC236}">
                  <a16:creationId xmlns:a16="http://schemas.microsoft.com/office/drawing/2014/main" id="{6B305DDD-218C-E407-1249-2651E6334A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3335" y="2496754"/>
              <a:ext cx="123825" cy="117307"/>
            </a:xfrm>
            <a:prstGeom prst="rect">
              <a:avLst/>
            </a:prstGeom>
          </p:spPr>
        </p:pic>
      </p:grpSp>
      <p:grpSp>
        <p:nvGrpSpPr>
          <p:cNvPr id="14" name="Group 13">
            <a:extLst>
              <a:ext uri="{FF2B5EF4-FFF2-40B4-BE49-F238E27FC236}">
                <a16:creationId xmlns:a16="http://schemas.microsoft.com/office/drawing/2014/main" id="{16331C97-BF4A-310D-636D-C10F2D2FBC19}"/>
              </a:ext>
            </a:extLst>
          </p:cNvPr>
          <p:cNvGrpSpPr/>
          <p:nvPr/>
        </p:nvGrpSpPr>
        <p:grpSpPr>
          <a:xfrm>
            <a:off x="10502888" y="2369022"/>
            <a:ext cx="1457349" cy="671388"/>
            <a:chOff x="7278447" y="2238197"/>
            <a:chExt cx="1708665" cy="671388"/>
          </a:xfrm>
        </p:grpSpPr>
        <p:sp>
          <p:nvSpPr>
            <p:cNvPr id="17" name="Freeform: Shape 8">
              <a:extLst>
                <a:ext uri="{FF2B5EF4-FFF2-40B4-BE49-F238E27FC236}">
                  <a16:creationId xmlns:a16="http://schemas.microsoft.com/office/drawing/2014/main" id="{C30C3364-9D66-8B09-5DC8-8D1AA97A795D}"/>
                </a:ext>
              </a:extLst>
            </p:cNvPr>
            <p:cNvSpPr/>
            <p:nvPr/>
          </p:nvSpPr>
          <p:spPr>
            <a:xfrm>
              <a:off x="7278447" y="2238197"/>
              <a:ext cx="1708665" cy="671388"/>
            </a:xfrm>
            <a:custGeom>
              <a:avLst/>
              <a:gdLst>
                <a:gd name="connsiteX0" fmla="*/ 0 w 4026706"/>
                <a:gd name="connsiteY0" fmla="*/ 291047 h 1746250"/>
                <a:gd name="connsiteX1" fmla="*/ 291047 w 4026706"/>
                <a:gd name="connsiteY1" fmla="*/ 0 h 1746250"/>
                <a:gd name="connsiteX2" fmla="*/ 3735659 w 4026706"/>
                <a:gd name="connsiteY2" fmla="*/ 0 h 1746250"/>
                <a:gd name="connsiteX3" fmla="*/ 4026706 w 4026706"/>
                <a:gd name="connsiteY3" fmla="*/ 291047 h 1746250"/>
                <a:gd name="connsiteX4" fmla="*/ 4026706 w 4026706"/>
                <a:gd name="connsiteY4" fmla="*/ 1455203 h 1746250"/>
                <a:gd name="connsiteX5" fmla="*/ 3735659 w 4026706"/>
                <a:gd name="connsiteY5" fmla="*/ 1746250 h 1746250"/>
                <a:gd name="connsiteX6" fmla="*/ 291047 w 4026706"/>
                <a:gd name="connsiteY6" fmla="*/ 1746250 h 1746250"/>
                <a:gd name="connsiteX7" fmla="*/ 0 w 4026706"/>
                <a:gd name="connsiteY7" fmla="*/ 1455203 h 1746250"/>
                <a:gd name="connsiteX8" fmla="*/ 0 w 4026706"/>
                <a:gd name="connsiteY8" fmla="*/ 291047 h 1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706" h="1746250">
                  <a:moveTo>
                    <a:pt x="0" y="291047"/>
                  </a:moveTo>
                  <a:cubicBezTo>
                    <a:pt x="0" y="130306"/>
                    <a:pt x="130306" y="0"/>
                    <a:pt x="291047" y="0"/>
                  </a:cubicBezTo>
                  <a:lnTo>
                    <a:pt x="3735659" y="0"/>
                  </a:lnTo>
                  <a:cubicBezTo>
                    <a:pt x="3896400" y="0"/>
                    <a:pt x="4026706" y="130306"/>
                    <a:pt x="4026706" y="291047"/>
                  </a:cubicBezTo>
                  <a:lnTo>
                    <a:pt x="4026706" y="1455203"/>
                  </a:lnTo>
                  <a:cubicBezTo>
                    <a:pt x="4026706" y="1615944"/>
                    <a:pt x="3896400" y="1746250"/>
                    <a:pt x="3735659" y="1746250"/>
                  </a:cubicBezTo>
                  <a:lnTo>
                    <a:pt x="291047" y="1746250"/>
                  </a:lnTo>
                  <a:cubicBezTo>
                    <a:pt x="130306" y="1746250"/>
                    <a:pt x="0" y="1615944"/>
                    <a:pt x="0" y="1455203"/>
                  </a:cubicBezTo>
                  <a:lnTo>
                    <a:pt x="0" y="291047"/>
                  </a:lnTo>
                  <a:close/>
                </a:path>
              </a:pathLst>
            </a:custGeom>
            <a:gradFill>
              <a:gsLst>
                <a:gs pos="0">
                  <a:schemeClr val="bg1"/>
                </a:gs>
                <a:gs pos="98000">
                  <a:srgbClr val="F2F2F2"/>
                </a:gs>
              </a:gsLst>
              <a:lin ang="18600000" scaled="0"/>
            </a:gradFill>
            <a:effectLst>
              <a:outerShdw blurRad="161281" dist="38100" dir="5280000" sx="98803" sy="98803" algn="tr" rotWithShape="0">
                <a:prstClr val="black">
                  <a:alpha val="1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5760" tIns="182880" rIns="274320" bIns="182880" numCol="1" spcCol="1270" anchor="ctr" anchorCtr="0">
              <a:noAutofit/>
            </a:bodyPr>
            <a:lstStyle/>
            <a:p>
              <a:pPr lvl="0" defTabSz="2889250">
                <a:lnSpc>
                  <a:spcPct val="90000"/>
                </a:lnSpc>
                <a:spcBef>
                  <a:spcPct val="0"/>
                </a:spcBef>
                <a:spcAft>
                  <a:spcPct val="35000"/>
                </a:spcAft>
              </a:pPr>
              <a:r>
                <a:rPr lang="en-US" sz="1100" kern="1200" dirty="0">
                  <a:solidFill>
                    <a:srgbClr val="5E38B1"/>
                  </a:solidFill>
                  <a:latin typeface="Arial" panose="020B0604020202020204" pitchFamily="34" charset="0"/>
                  <a:cs typeface="Arial" panose="020B0604020202020204" pitchFamily="34" charset="0"/>
                </a:rPr>
                <a:t>Wellness-Inspired Makeovers</a:t>
              </a:r>
            </a:p>
          </p:txBody>
        </p:sp>
        <p:pic>
          <p:nvPicPr>
            <p:cNvPr id="18" name="Graphic 17">
              <a:extLst>
                <a:ext uri="{FF2B5EF4-FFF2-40B4-BE49-F238E27FC236}">
                  <a16:creationId xmlns:a16="http://schemas.microsoft.com/office/drawing/2014/main" id="{29272C60-FFBB-5442-EF1E-275EB0732C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1278" y="2511269"/>
              <a:ext cx="123825" cy="117307"/>
            </a:xfrm>
            <a:prstGeom prst="rect">
              <a:avLst/>
            </a:prstGeom>
          </p:spPr>
        </p:pic>
      </p:grpSp>
      <p:cxnSp>
        <p:nvCxnSpPr>
          <p:cNvPr id="19" name="Straight Connector 18">
            <a:extLst>
              <a:ext uri="{FF2B5EF4-FFF2-40B4-BE49-F238E27FC236}">
                <a16:creationId xmlns:a16="http://schemas.microsoft.com/office/drawing/2014/main" id="{A16B2693-2DD7-74D0-CC26-00EF9409D9AF}"/>
              </a:ext>
            </a:extLst>
          </p:cNvPr>
          <p:cNvCxnSpPr>
            <a:cxnSpLocks/>
          </p:cNvCxnSpPr>
          <p:nvPr/>
        </p:nvCxnSpPr>
        <p:spPr>
          <a:xfrm>
            <a:off x="8177196" y="3252114"/>
            <a:ext cx="0" cy="2968701"/>
          </a:xfrm>
          <a:prstGeom prst="line">
            <a:avLst/>
          </a:prstGeom>
          <a:ln w="9525">
            <a:solidFill>
              <a:schemeClr val="bg1">
                <a:lumMod val="85000"/>
                <a:alpha val="84052"/>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41B1E26-4074-F940-8266-CA5CE4604630}"/>
              </a:ext>
            </a:extLst>
          </p:cNvPr>
          <p:cNvCxnSpPr>
            <a:cxnSpLocks/>
          </p:cNvCxnSpPr>
          <p:nvPr/>
        </p:nvCxnSpPr>
        <p:spPr>
          <a:xfrm>
            <a:off x="10263894" y="3214374"/>
            <a:ext cx="0" cy="2968701"/>
          </a:xfrm>
          <a:prstGeom prst="line">
            <a:avLst/>
          </a:prstGeom>
          <a:ln w="9525">
            <a:solidFill>
              <a:schemeClr val="bg1">
                <a:lumMod val="85000"/>
                <a:alpha val="84052"/>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7496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FBAFB-550C-6AFE-6098-9EEC5F3A60B1}"/>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8AA9980E-02F2-830C-9463-E9CC5CB9FD51}"/>
              </a:ext>
            </a:extLst>
          </p:cNvPr>
          <p:cNvPicPr/>
          <p:nvPr/>
        </p:nvPicPr>
        <p:blipFill>
          <a:blip r:embed="rId2" cstate="email">
            <a:extLst>
              <a:ext uri="{28A0092B-C50C-407E-A947-70E740481C1C}">
                <a14:useLocalDpi xmlns:a14="http://schemas.microsoft.com/office/drawing/2010/main"/>
              </a:ext>
            </a:extLst>
          </a:blip>
          <a:srcRect l="-120"/>
          <a:stretch>
            <a:fillRect/>
          </a:stretch>
        </p:blipFill>
        <p:spPr>
          <a:xfrm>
            <a:off x="-132735" y="0"/>
            <a:ext cx="12324735" cy="6857999"/>
          </a:xfrm>
          <a:prstGeom prst="rect">
            <a:avLst/>
          </a:prstGeom>
        </p:spPr>
      </p:pic>
      <p:sp>
        <p:nvSpPr>
          <p:cNvPr id="3" name="Title 1">
            <a:extLst>
              <a:ext uri="{FF2B5EF4-FFF2-40B4-BE49-F238E27FC236}">
                <a16:creationId xmlns:a16="http://schemas.microsoft.com/office/drawing/2014/main" id="{AABA9903-6B9E-9CDB-202C-A54BA10152DD}"/>
              </a:ext>
            </a:extLst>
          </p:cNvPr>
          <p:cNvSpPr txBox="1">
            <a:spLocks/>
          </p:cNvSpPr>
          <p:nvPr/>
        </p:nvSpPr>
        <p:spPr>
          <a:xfrm>
            <a:off x="530555" y="1350893"/>
            <a:ext cx="7624094" cy="978729"/>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solidFill>
                  <a:schemeClr val="bg1"/>
                </a:solidFill>
                <a:latin typeface="Arial" panose="020B0604020202020204" pitchFamily="34" charset="0"/>
                <a:cs typeface="Arial" panose="020B0604020202020204" pitchFamily="34" charset="0"/>
              </a:rPr>
              <a:t>Social Conversations Analysis</a:t>
            </a:r>
          </a:p>
          <a:p>
            <a:r>
              <a:rPr lang="en-GB" sz="2400" dirty="0">
                <a:solidFill>
                  <a:schemeClr val="bg1"/>
                </a:solidFill>
                <a:latin typeface="Arial" panose="020B0604020202020204" pitchFamily="34" charset="0"/>
                <a:cs typeface="Arial" panose="020B0604020202020204" pitchFamily="34" charset="0"/>
              </a:rPr>
              <a:t>(Beauty Services - </a:t>
            </a:r>
            <a:r>
              <a:rPr lang="en-US" sz="2400" dirty="0">
                <a:solidFill>
                  <a:schemeClr val="bg1"/>
                </a:solidFill>
                <a:latin typeface="Arial" panose="020B0604020202020204" pitchFamily="34" charset="0"/>
                <a:cs typeface="Arial" panose="020B0604020202020204" pitchFamily="34" charset="0"/>
              </a:rPr>
              <a:t>Hair/ Make-up</a:t>
            </a:r>
            <a:r>
              <a:rPr lang="en-GB" sz="24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86634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D8E3C4-0E69-6477-95C1-811519E7B0C7}"/>
            </a:ext>
          </a:extLst>
        </p:cNvPr>
        <p:cNvGrpSpPr/>
        <p:nvPr/>
      </p:nvGrpSpPr>
      <p:grpSpPr>
        <a:xfrm>
          <a:off x="0" y="0"/>
          <a:ext cx="0" cy="0"/>
          <a:chOff x="0" y="0"/>
          <a:chExt cx="0" cy="0"/>
        </a:xfrm>
      </p:grpSpPr>
      <p:sp>
        <p:nvSpPr>
          <p:cNvPr id="60" name="Rectangle 59">
            <a:extLst>
              <a:ext uri="{FF2B5EF4-FFF2-40B4-BE49-F238E27FC236}">
                <a16:creationId xmlns:a16="http://schemas.microsoft.com/office/drawing/2014/main" id="{0C5BB00A-88F3-AEAB-888A-E91EF0017C30}"/>
              </a:ext>
            </a:extLst>
          </p:cNvPr>
          <p:cNvSpPr/>
          <p:nvPr/>
        </p:nvSpPr>
        <p:spPr>
          <a:xfrm>
            <a:off x="4359830" y="0"/>
            <a:ext cx="7832170"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70A01EB5-33B2-1D09-2B98-77106C99484A}"/>
              </a:ext>
            </a:extLst>
          </p:cNvPr>
          <p:cNvSpPr/>
          <p:nvPr/>
        </p:nvSpPr>
        <p:spPr>
          <a:xfrm>
            <a:off x="0" y="1102030"/>
            <a:ext cx="12192000" cy="5755970"/>
          </a:xfrm>
          <a:prstGeom prst="rect">
            <a:avLst/>
          </a:prstGeom>
          <a:solidFill>
            <a:srgbClr val="EEF8F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029D824-D7EC-98F4-9DFA-F3E5A38BFF5F}"/>
              </a:ext>
            </a:extLst>
          </p:cNvPr>
          <p:cNvSpPr txBox="1"/>
          <p:nvPr/>
        </p:nvSpPr>
        <p:spPr>
          <a:xfrm>
            <a:off x="4628906" y="148451"/>
            <a:ext cx="7294019" cy="923779"/>
          </a:xfrm>
          <a:prstGeom prst="rect">
            <a:avLst/>
          </a:prstGeom>
          <a:noFill/>
        </p:spPr>
        <p:txBody>
          <a:bodyPr wrap="square" rtlCol="0">
            <a:spAutoFit/>
          </a:bodyPr>
          <a:lstStyle/>
          <a:p>
            <a:pPr>
              <a:lnSpc>
                <a:spcPct val="115000"/>
              </a:lnSpc>
              <a:defRPr/>
            </a:pPr>
            <a:r>
              <a:rPr lang="en-US" sz="1200" dirty="0">
                <a:solidFill>
                  <a:prstClr val="black"/>
                </a:solidFill>
                <a:latin typeface="Arial"/>
                <a:cs typeface="Arial"/>
              </a:rPr>
              <a:t>Celebrity mentions are increasingly functioning as conversion drivers rather than mere content, directly influencing consumer actions such as salon bookings and specific service requests. The data reveals a professional amplification effect where audiences leverage celebrity associations to access expert beauty knowledge and premium services, indicating high commercial intent.</a:t>
            </a:r>
            <a:endParaRPr lang="en-IN" sz="1200" dirty="0">
              <a:solidFill>
                <a:prstClr val="black"/>
              </a:solidFill>
              <a:latin typeface="Arial"/>
              <a:cs typeface="Arial"/>
            </a:endParaRPr>
          </a:p>
        </p:txBody>
      </p:sp>
      <p:sp>
        <p:nvSpPr>
          <p:cNvPr id="3" name="Text Placeholder 26">
            <a:extLst>
              <a:ext uri="{FF2B5EF4-FFF2-40B4-BE49-F238E27FC236}">
                <a16:creationId xmlns:a16="http://schemas.microsoft.com/office/drawing/2014/main" id="{604392D9-53F1-4656-1BC1-416BB614E75C}"/>
              </a:ext>
            </a:extLst>
          </p:cNvPr>
          <p:cNvSpPr txBox="1">
            <a:spLocks/>
          </p:cNvSpPr>
          <p:nvPr/>
        </p:nvSpPr>
        <p:spPr>
          <a:xfrm>
            <a:off x="513344" y="381334"/>
            <a:ext cx="3844544" cy="704616"/>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0"/>
              </a:spcBef>
              <a:buNone/>
            </a:pPr>
            <a:r>
              <a:rPr lang="en-US" sz="3200" b="1" dirty="0">
                <a:latin typeface="Aptos SemiBold" panose="020B0004020202020204" pitchFamily="34" charset="0"/>
              </a:rPr>
              <a:t>Celebrity </a:t>
            </a:r>
          </a:p>
        </p:txBody>
      </p:sp>
      <p:grpSp>
        <p:nvGrpSpPr>
          <p:cNvPr id="67" name="Group 66">
            <a:extLst>
              <a:ext uri="{FF2B5EF4-FFF2-40B4-BE49-F238E27FC236}">
                <a16:creationId xmlns:a16="http://schemas.microsoft.com/office/drawing/2014/main" id="{1CEA9AFD-41AF-1F38-7C67-19F780118229}"/>
              </a:ext>
            </a:extLst>
          </p:cNvPr>
          <p:cNvGrpSpPr/>
          <p:nvPr/>
        </p:nvGrpSpPr>
        <p:grpSpPr>
          <a:xfrm>
            <a:off x="704457" y="1230485"/>
            <a:ext cx="11021775" cy="5466549"/>
            <a:chOff x="704457" y="1275455"/>
            <a:chExt cx="11021775" cy="5466549"/>
          </a:xfrm>
        </p:grpSpPr>
        <p:grpSp>
          <p:nvGrpSpPr>
            <p:cNvPr id="17" name="Group 16">
              <a:extLst>
                <a:ext uri="{FF2B5EF4-FFF2-40B4-BE49-F238E27FC236}">
                  <a16:creationId xmlns:a16="http://schemas.microsoft.com/office/drawing/2014/main" id="{043CF6F9-6F8F-4E2C-19DB-D79556ACCDE3}"/>
                </a:ext>
              </a:extLst>
            </p:cNvPr>
            <p:cNvGrpSpPr/>
            <p:nvPr/>
          </p:nvGrpSpPr>
          <p:grpSpPr>
            <a:xfrm>
              <a:off x="704457" y="1275455"/>
              <a:ext cx="2041730" cy="2666850"/>
              <a:chOff x="4706831" y="2538816"/>
              <a:chExt cx="2041730" cy="2666850"/>
            </a:xfrm>
          </p:grpSpPr>
          <p:sp>
            <p:nvSpPr>
              <p:cNvPr id="4" name="Rounded Rectangle 3">
                <a:extLst>
                  <a:ext uri="{FF2B5EF4-FFF2-40B4-BE49-F238E27FC236}">
                    <a16:creationId xmlns:a16="http://schemas.microsoft.com/office/drawing/2014/main" id="{0E246243-57AD-FF13-5A08-DE3741B66252}"/>
                  </a:ext>
                </a:extLst>
              </p:cNvPr>
              <p:cNvSpPr/>
              <p:nvPr/>
            </p:nvSpPr>
            <p:spPr>
              <a:xfrm>
                <a:off x="4706831" y="2538816"/>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9F1C0F58-45AE-11F9-4CF4-6522E6CA6B01}"/>
                  </a:ext>
                </a:extLst>
              </p:cNvPr>
              <p:cNvSpPr/>
              <p:nvPr/>
            </p:nvSpPr>
            <p:spPr>
              <a:xfrm>
                <a:off x="4816095" y="3444005"/>
                <a:ext cx="1835450" cy="1631216"/>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Appears as direct salon business driver, with her "shiny blowout" and "caramel blonde color" specifically mentioned as "inspiring salon visits.“</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"...caramel blonde color that has us considering ringing our hair salons. Lopez debuted the ultra-sophisticated look at the photo call for…"</a:t>
                </a:r>
                <a:endParaRPr lang="en-IN" sz="900" i="1" dirty="0">
                  <a:solidFill>
                    <a:schemeClr val="tx1"/>
                  </a:solidFill>
                  <a:latin typeface="Arial" panose="020B0604020202020204" pitchFamily="34" charset="0"/>
                  <a:cs typeface="Arial" panose="020B0604020202020204" pitchFamily="34" charset="0"/>
                </a:endParaRPr>
              </a:p>
            </p:txBody>
          </p:sp>
          <p:sp>
            <p:nvSpPr>
              <p:cNvPr id="15" name="Rectangle: Rounded Corners 12">
                <a:extLst>
                  <a:ext uri="{FF2B5EF4-FFF2-40B4-BE49-F238E27FC236}">
                    <a16:creationId xmlns:a16="http://schemas.microsoft.com/office/drawing/2014/main" id="{5A052670-E2E3-F7F4-26BA-8CF0036CB642}"/>
                  </a:ext>
                </a:extLst>
              </p:cNvPr>
              <p:cNvSpPr/>
              <p:nvPr/>
            </p:nvSpPr>
            <p:spPr>
              <a:xfrm>
                <a:off x="5669750" y="2948240"/>
                <a:ext cx="728456"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Jennifer Lopez</a:t>
                </a:r>
              </a:p>
            </p:txBody>
          </p:sp>
          <p:pic>
            <p:nvPicPr>
              <p:cNvPr id="5" name="Picture 4" descr="A person with long hair&#10;&#10;AI-generated content may be incorrect.">
                <a:extLst>
                  <a:ext uri="{FF2B5EF4-FFF2-40B4-BE49-F238E27FC236}">
                    <a16:creationId xmlns:a16="http://schemas.microsoft.com/office/drawing/2014/main" id="{0F9C13E8-2A06-AA91-1689-B6BF2CCBD5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925191" y="2616180"/>
                <a:ext cx="696473" cy="733983"/>
              </a:xfrm>
              <a:prstGeom prst="ellipse">
                <a:avLst/>
              </a:prstGeom>
            </p:spPr>
          </p:pic>
        </p:grpSp>
        <p:grpSp>
          <p:nvGrpSpPr>
            <p:cNvPr id="18" name="Group 17">
              <a:extLst>
                <a:ext uri="{FF2B5EF4-FFF2-40B4-BE49-F238E27FC236}">
                  <a16:creationId xmlns:a16="http://schemas.microsoft.com/office/drawing/2014/main" id="{28D56588-F588-F032-95C9-DE2BFC6D876F}"/>
                </a:ext>
              </a:extLst>
            </p:cNvPr>
            <p:cNvGrpSpPr/>
            <p:nvPr/>
          </p:nvGrpSpPr>
          <p:grpSpPr>
            <a:xfrm>
              <a:off x="2949468" y="1275455"/>
              <a:ext cx="2041730" cy="2666850"/>
              <a:chOff x="6820857" y="569040"/>
              <a:chExt cx="2041730" cy="2666850"/>
            </a:xfrm>
          </p:grpSpPr>
          <p:sp>
            <p:nvSpPr>
              <p:cNvPr id="31" name="Rounded Rectangle 30">
                <a:extLst>
                  <a:ext uri="{FF2B5EF4-FFF2-40B4-BE49-F238E27FC236}">
                    <a16:creationId xmlns:a16="http://schemas.microsoft.com/office/drawing/2014/main" id="{E5D01198-CE0D-61B6-A7EF-3D40BA126E64}"/>
                  </a:ext>
                </a:extLst>
              </p:cNvPr>
              <p:cNvSpPr/>
              <p:nvPr/>
            </p:nvSpPr>
            <p:spPr>
              <a:xfrm>
                <a:off x="6820857" y="569040"/>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Rounded Corners 12">
                <a:extLst>
                  <a:ext uri="{FF2B5EF4-FFF2-40B4-BE49-F238E27FC236}">
                    <a16:creationId xmlns:a16="http://schemas.microsoft.com/office/drawing/2014/main" id="{4B607EA9-9029-A0CF-C83E-A64FE268874C}"/>
                  </a:ext>
                </a:extLst>
              </p:cNvPr>
              <p:cNvSpPr/>
              <p:nvPr/>
            </p:nvSpPr>
            <p:spPr>
              <a:xfrm>
                <a:off x="6923141" y="1474229"/>
                <a:ext cx="1899132" cy="1215717"/>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Featured as elegant occasion styling inspiration, with her "Chignon Hairstyle" described as "Perfect for Valentine's Day.“</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“Renée Zellweger’s Chignon Hairstyle Is Perfect for Valentine’s Day”</a:t>
                </a:r>
                <a:endParaRPr lang="en-IN" sz="900" i="1" dirty="0">
                  <a:solidFill>
                    <a:schemeClr val="tx1"/>
                  </a:solidFill>
                  <a:latin typeface="Arial" panose="020B0604020202020204" pitchFamily="34" charset="0"/>
                  <a:cs typeface="Arial" panose="020B0604020202020204" pitchFamily="34" charset="0"/>
                </a:endParaRPr>
              </a:p>
            </p:txBody>
          </p:sp>
          <p:sp>
            <p:nvSpPr>
              <p:cNvPr id="34" name="Rectangle: Rounded Corners 12">
                <a:extLst>
                  <a:ext uri="{FF2B5EF4-FFF2-40B4-BE49-F238E27FC236}">
                    <a16:creationId xmlns:a16="http://schemas.microsoft.com/office/drawing/2014/main" id="{EE72A1F3-89FA-984D-AD2F-EC5AA25DF5C4}"/>
                  </a:ext>
                </a:extLst>
              </p:cNvPr>
              <p:cNvSpPr/>
              <p:nvPr/>
            </p:nvSpPr>
            <p:spPr>
              <a:xfrm>
                <a:off x="7753795" y="1002424"/>
                <a:ext cx="1011775"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Renée Zellweger</a:t>
                </a:r>
              </a:p>
            </p:txBody>
          </p:sp>
          <p:pic>
            <p:nvPicPr>
              <p:cNvPr id="7" name="Picture 6" descr="A person in a red dress&#10;&#10;AI-generated content may be incorrect.">
                <a:extLst>
                  <a:ext uri="{FF2B5EF4-FFF2-40B4-BE49-F238E27FC236}">
                    <a16:creationId xmlns:a16="http://schemas.microsoft.com/office/drawing/2014/main" id="{EF9D2053-113A-A916-E43C-1DF6308F9F4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19159" y="646404"/>
                <a:ext cx="696472" cy="733984"/>
              </a:xfrm>
              <a:prstGeom prst="ellipse">
                <a:avLst/>
              </a:prstGeom>
            </p:spPr>
          </p:pic>
        </p:grpSp>
        <p:grpSp>
          <p:nvGrpSpPr>
            <p:cNvPr id="19" name="Group 18">
              <a:extLst>
                <a:ext uri="{FF2B5EF4-FFF2-40B4-BE49-F238E27FC236}">
                  <a16:creationId xmlns:a16="http://schemas.microsoft.com/office/drawing/2014/main" id="{820EB3FE-CAB3-29CD-3182-287F49E595D3}"/>
                </a:ext>
              </a:extLst>
            </p:cNvPr>
            <p:cNvGrpSpPr/>
            <p:nvPr/>
          </p:nvGrpSpPr>
          <p:grpSpPr>
            <a:xfrm>
              <a:off x="5194479" y="1275455"/>
              <a:ext cx="2041730" cy="2666850"/>
              <a:chOff x="8926748" y="846137"/>
              <a:chExt cx="2041730" cy="2666850"/>
            </a:xfrm>
          </p:grpSpPr>
          <p:sp>
            <p:nvSpPr>
              <p:cNvPr id="41" name="Rounded Rectangle 40">
                <a:extLst>
                  <a:ext uri="{FF2B5EF4-FFF2-40B4-BE49-F238E27FC236}">
                    <a16:creationId xmlns:a16="http://schemas.microsoft.com/office/drawing/2014/main" id="{985C3A13-A2FD-778C-6944-D53FFF1B6A3C}"/>
                  </a:ext>
                </a:extLst>
              </p:cNvPr>
              <p:cNvSpPr/>
              <p:nvPr/>
            </p:nvSpPr>
            <p:spPr>
              <a:xfrm>
                <a:off x="8926748" y="846137"/>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Rounded Corners 12">
                <a:extLst>
                  <a:ext uri="{FF2B5EF4-FFF2-40B4-BE49-F238E27FC236}">
                    <a16:creationId xmlns:a16="http://schemas.microsoft.com/office/drawing/2014/main" id="{D1D485A2-2C90-59C1-DBC0-94FE5CE3FA82}"/>
                  </a:ext>
                </a:extLst>
              </p:cNvPr>
              <p:cNvSpPr/>
              <p:nvPr/>
            </p:nvSpPr>
            <p:spPr>
              <a:xfrm>
                <a:off x="9036012" y="1751326"/>
                <a:ext cx="1932466" cy="1492716"/>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Mentioned primarily to showcase her "celebrity hairstylist Sean James" who created her "elegant hair look," highlighting professional styling skills.</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"Jamie Lee Curtis' Elegant Hair Look Celebrity hairstylist Sean James brought Jamie Lee Curtis' hair look to …"</a:t>
                </a:r>
                <a:endParaRPr lang="en-IN" sz="900" i="1" dirty="0">
                  <a:solidFill>
                    <a:schemeClr val="tx1"/>
                  </a:solidFill>
                  <a:latin typeface="Arial" panose="020B0604020202020204" pitchFamily="34" charset="0"/>
                  <a:cs typeface="Arial" panose="020B0604020202020204" pitchFamily="34" charset="0"/>
                </a:endParaRPr>
              </a:p>
            </p:txBody>
          </p:sp>
          <p:sp>
            <p:nvSpPr>
              <p:cNvPr id="47" name="Rectangle: Rounded Corners 12">
                <a:extLst>
                  <a:ext uri="{FF2B5EF4-FFF2-40B4-BE49-F238E27FC236}">
                    <a16:creationId xmlns:a16="http://schemas.microsoft.com/office/drawing/2014/main" id="{B32EE0EF-A6DF-A772-6954-57E1AADB4900}"/>
                  </a:ext>
                </a:extLst>
              </p:cNvPr>
              <p:cNvSpPr/>
              <p:nvPr/>
            </p:nvSpPr>
            <p:spPr>
              <a:xfrm>
                <a:off x="9859686" y="1255561"/>
                <a:ext cx="1011775"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Jamie Lee Curtis</a:t>
                </a:r>
              </a:p>
            </p:txBody>
          </p:sp>
          <p:pic>
            <p:nvPicPr>
              <p:cNvPr id="9" name="Picture 8" descr="A person with grey hair&#10;&#10;AI-generated content may be incorrect.">
                <a:extLst>
                  <a:ext uri="{FF2B5EF4-FFF2-40B4-BE49-F238E27FC236}">
                    <a16:creationId xmlns:a16="http://schemas.microsoft.com/office/drawing/2014/main" id="{E0C01439-71AA-750D-CBAE-92349D91540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131134" y="899542"/>
                <a:ext cx="696472" cy="733983"/>
              </a:xfrm>
              <a:prstGeom prst="ellipse">
                <a:avLst/>
              </a:prstGeom>
            </p:spPr>
          </p:pic>
        </p:grpSp>
        <p:grpSp>
          <p:nvGrpSpPr>
            <p:cNvPr id="20" name="Group 19">
              <a:extLst>
                <a:ext uri="{FF2B5EF4-FFF2-40B4-BE49-F238E27FC236}">
                  <a16:creationId xmlns:a16="http://schemas.microsoft.com/office/drawing/2014/main" id="{08D944A8-DDAC-E177-125A-E980E4F5E207}"/>
                </a:ext>
              </a:extLst>
            </p:cNvPr>
            <p:cNvGrpSpPr/>
            <p:nvPr/>
          </p:nvGrpSpPr>
          <p:grpSpPr>
            <a:xfrm>
              <a:off x="7439490" y="1275455"/>
              <a:ext cx="2041730" cy="2674904"/>
              <a:chOff x="6820857" y="3287073"/>
              <a:chExt cx="2041730" cy="2674904"/>
            </a:xfrm>
          </p:grpSpPr>
          <p:sp>
            <p:nvSpPr>
              <p:cNvPr id="36" name="Rounded Rectangle 35">
                <a:extLst>
                  <a:ext uri="{FF2B5EF4-FFF2-40B4-BE49-F238E27FC236}">
                    <a16:creationId xmlns:a16="http://schemas.microsoft.com/office/drawing/2014/main" id="{844A7321-560E-5387-BA24-5E47AC64A574}"/>
                  </a:ext>
                </a:extLst>
              </p:cNvPr>
              <p:cNvSpPr/>
              <p:nvPr/>
            </p:nvSpPr>
            <p:spPr>
              <a:xfrm>
                <a:off x="6820857" y="3287073"/>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Rounded Corners 12">
                <a:extLst>
                  <a:ext uri="{FF2B5EF4-FFF2-40B4-BE49-F238E27FC236}">
                    <a16:creationId xmlns:a16="http://schemas.microsoft.com/office/drawing/2014/main" id="{4D9119D5-47EF-C722-8562-362DAB3D91E1}"/>
                  </a:ext>
                </a:extLst>
              </p:cNvPr>
              <p:cNvSpPr/>
              <p:nvPr/>
            </p:nvSpPr>
            <p:spPr>
              <a:xfrm>
                <a:off x="6930121" y="4192262"/>
                <a:ext cx="1835450" cy="1769715"/>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Referenced for casually hiring "professional makeup artist Lora Arellano for Halloween costume," demonstrating how celebrities bring in experts for specific projects.</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"...a macabre touch to the look, Christina also hired professional makeup artist Lora Arellano to make it look like she was bleeding from her…"</a:t>
                </a:r>
                <a:endParaRPr lang="en-IN" sz="900" i="1" dirty="0">
                  <a:solidFill>
                    <a:schemeClr val="tx1"/>
                  </a:solidFill>
                  <a:latin typeface="Arial" panose="020B0604020202020204" pitchFamily="34" charset="0"/>
                  <a:cs typeface="Arial" panose="020B0604020202020204" pitchFamily="34" charset="0"/>
                </a:endParaRPr>
              </a:p>
            </p:txBody>
          </p:sp>
          <p:sp>
            <p:nvSpPr>
              <p:cNvPr id="39" name="Rectangle: Rounded Corners 12">
                <a:extLst>
                  <a:ext uri="{FF2B5EF4-FFF2-40B4-BE49-F238E27FC236}">
                    <a16:creationId xmlns:a16="http://schemas.microsoft.com/office/drawing/2014/main" id="{21FA21F4-B491-8FE6-8BE6-D318621609FD}"/>
                  </a:ext>
                </a:extLst>
              </p:cNvPr>
              <p:cNvSpPr/>
              <p:nvPr/>
            </p:nvSpPr>
            <p:spPr>
              <a:xfrm>
                <a:off x="7753796" y="3720456"/>
                <a:ext cx="868152"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Christina Aguilera</a:t>
                </a:r>
              </a:p>
            </p:txBody>
          </p:sp>
          <p:pic>
            <p:nvPicPr>
              <p:cNvPr id="11" name="Picture 10" descr="A person with blonde hair&#10;&#10;AI-generated content may be incorrect.">
                <a:extLst>
                  <a:ext uri="{FF2B5EF4-FFF2-40B4-BE49-F238E27FC236}">
                    <a16:creationId xmlns:a16="http://schemas.microsoft.com/office/drawing/2014/main" id="{A2CB126E-D32B-A380-2D8D-E22A472BFAD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019159" y="3364437"/>
                <a:ext cx="696472" cy="733983"/>
              </a:xfrm>
              <a:prstGeom prst="ellipse">
                <a:avLst/>
              </a:prstGeom>
            </p:spPr>
          </p:pic>
        </p:grpSp>
        <p:grpSp>
          <p:nvGrpSpPr>
            <p:cNvPr id="21" name="Group 20">
              <a:extLst>
                <a:ext uri="{FF2B5EF4-FFF2-40B4-BE49-F238E27FC236}">
                  <a16:creationId xmlns:a16="http://schemas.microsoft.com/office/drawing/2014/main" id="{E13EF4FD-1AD1-7E0B-0090-5C64CFB527A7}"/>
                </a:ext>
              </a:extLst>
            </p:cNvPr>
            <p:cNvGrpSpPr/>
            <p:nvPr/>
          </p:nvGrpSpPr>
          <p:grpSpPr>
            <a:xfrm>
              <a:off x="9684502" y="1275455"/>
              <a:ext cx="2041730" cy="2674904"/>
              <a:chOff x="8926748" y="3564170"/>
              <a:chExt cx="2041730" cy="2674904"/>
            </a:xfrm>
          </p:grpSpPr>
          <p:sp>
            <p:nvSpPr>
              <p:cNvPr id="49" name="Rounded Rectangle 48">
                <a:extLst>
                  <a:ext uri="{FF2B5EF4-FFF2-40B4-BE49-F238E27FC236}">
                    <a16:creationId xmlns:a16="http://schemas.microsoft.com/office/drawing/2014/main" id="{B3EBEC9D-B6D7-2127-2351-CE08C19EB582}"/>
                  </a:ext>
                </a:extLst>
              </p:cNvPr>
              <p:cNvSpPr/>
              <p:nvPr/>
            </p:nvSpPr>
            <p:spPr>
              <a:xfrm>
                <a:off x="8926748" y="3564170"/>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Rounded Corners 12">
                <a:extLst>
                  <a:ext uri="{FF2B5EF4-FFF2-40B4-BE49-F238E27FC236}">
                    <a16:creationId xmlns:a16="http://schemas.microsoft.com/office/drawing/2014/main" id="{3D0D2BEB-FAA3-33D9-D8EC-0DBAEA926CD1}"/>
                  </a:ext>
                </a:extLst>
              </p:cNvPr>
              <p:cNvSpPr/>
              <p:nvPr/>
            </p:nvSpPr>
            <p:spPr>
              <a:xfrm>
                <a:off x="9036012" y="4469359"/>
                <a:ext cx="1835450" cy="1769715"/>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Generated conversation for her surprising "rare makeup-free look for 49th birthday" since she's usually "done up to the nines with professional makeup.“</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"...Reese Witherspoon is usually done up to the nines with professional makeup, elegant gowns and stiletto heels when on the red carpet…"</a:t>
                </a:r>
                <a:endParaRPr lang="en-IN" sz="900" i="1" dirty="0">
                  <a:solidFill>
                    <a:schemeClr val="tx1"/>
                  </a:solidFill>
                  <a:latin typeface="Arial" panose="020B0604020202020204" pitchFamily="34" charset="0"/>
                  <a:cs typeface="Arial" panose="020B0604020202020204" pitchFamily="34" charset="0"/>
                </a:endParaRPr>
              </a:p>
            </p:txBody>
          </p:sp>
          <p:sp>
            <p:nvSpPr>
              <p:cNvPr id="58" name="Rectangle: Rounded Corners 12">
                <a:extLst>
                  <a:ext uri="{FF2B5EF4-FFF2-40B4-BE49-F238E27FC236}">
                    <a16:creationId xmlns:a16="http://schemas.microsoft.com/office/drawing/2014/main" id="{25F8A29D-6369-3B3B-BF86-300CE43422E7}"/>
                  </a:ext>
                </a:extLst>
              </p:cNvPr>
              <p:cNvSpPr/>
              <p:nvPr/>
            </p:nvSpPr>
            <p:spPr>
              <a:xfrm>
                <a:off x="9859686" y="4049325"/>
                <a:ext cx="1108791"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Reese Witherspoon</a:t>
                </a:r>
              </a:p>
            </p:txBody>
          </p:sp>
          <p:pic>
            <p:nvPicPr>
              <p:cNvPr id="16" name="Picture 15" descr="A person with blonde hair&#10;&#10;AI-generated content may be incorrect.">
                <a:extLst>
                  <a:ext uri="{FF2B5EF4-FFF2-40B4-BE49-F238E27FC236}">
                    <a16:creationId xmlns:a16="http://schemas.microsoft.com/office/drawing/2014/main" id="{4C76B307-2C3F-EDF9-878D-7EEEF20D5677}"/>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9131134" y="3693306"/>
                <a:ext cx="696472" cy="733983"/>
              </a:xfrm>
              <a:prstGeom prst="ellipse">
                <a:avLst/>
              </a:prstGeom>
            </p:spPr>
          </p:pic>
        </p:grpSp>
        <p:grpSp>
          <p:nvGrpSpPr>
            <p:cNvPr id="22" name="Group 21">
              <a:extLst>
                <a:ext uri="{FF2B5EF4-FFF2-40B4-BE49-F238E27FC236}">
                  <a16:creationId xmlns:a16="http://schemas.microsoft.com/office/drawing/2014/main" id="{54DA21F4-8E6D-295A-46AB-BE9751676DC6}"/>
                </a:ext>
              </a:extLst>
            </p:cNvPr>
            <p:cNvGrpSpPr/>
            <p:nvPr/>
          </p:nvGrpSpPr>
          <p:grpSpPr>
            <a:xfrm>
              <a:off x="704457" y="4055291"/>
              <a:ext cx="2041730" cy="2686713"/>
              <a:chOff x="4706831" y="2538816"/>
              <a:chExt cx="2041730" cy="2686713"/>
            </a:xfrm>
          </p:grpSpPr>
          <p:sp>
            <p:nvSpPr>
              <p:cNvPr id="23" name="Rounded Rectangle 3">
                <a:extLst>
                  <a:ext uri="{FF2B5EF4-FFF2-40B4-BE49-F238E27FC236}">
                    <a16:creationId xmlns:a16="http://schemas.microsoft.com/office/drawing/2014/main" id="{C2B5E8AA-87C5-8F49-9813-10391FDF62FF}"/>
                  </a:ext>
                </a:extLst>
              </p:cNvPr>
              <p:cNvSpPr/>
              <p:nvPr/>
            </p:nvSpPr>
            <p:spPr>
              <a:xfrm>
                <a:off x="4706831" y="2538816"/>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Rounded Corners 23">
                <a:extLst>
                  <a:ext uri="{FF2B5EF4-FFF2-40B4-BE49-F238E27FC236}">
                    <a16:creationId xmlns:a16="http://schemas.microsoft.com/office/drawing/2014/main" id="{82D8FA58-B63D-E4B2-AC9A-21369F2D38EE}"/>
                  </a:ext>
                </a:extLst>
              </p:cNvPr>
              <p:cNvSpPr/>
              <p:nvPr/>
            </p:nvSpPr>
            <p:spPr>
              <a:xfrm>
                <a:off x="4816095" y="3455814"/>
                <a:ext cx="1835450" cy="1769715"/>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Used as an example of celebrity privilege in beauty, specifically mentioned for having access to "professional makeup artists" that regular people cannot afford.</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"...on Watch W ith access to a team of professional makeup artists, it comes as no surprise that Blake Lively looked flawless posing on the…"</a:t>
                </a:r>
                <a:endParaRPr lang="en-IN" sz="900" i="1" dirty="0">
                  <a:solidFill>
                    <a:schemeClr val="tx1"/>
                  </a:solidFill>
                  <a:latin typeface="Arial" panose="020B0604020202020204" pitchFamily="34" charset="0"/>
                  <a:cs typeface="Arial" panose="020B0604020202020204" pitchFamily="34" charset="0"/>
                </a:endParaRPr>
              </a:p>
            </p:txBody>
          </p:sp>
          <p:sp>
            <p:nvSpPr>
              <p:cNvPr id="25" name="Rectangle: Rounded Corners 12">
                <a:extLst>
                  <a:ext uri="{FF2B5EF4-FFF2-40B4-BE49-F238E27FC236}">
                    <a16:creationId xmlns:a16="http://schemas.microsoft.com/office/drawing/2014/main" id="{616480E6-3635-999D-C48E-C62C6B67F5CC}"/>
                  </a:ext>
                </a:extLst>
              </p:cNvPr>
              <p:cNvSpPr/>
              <p:nvPr/>
            </p:nvSpPr>
            <p:spPr>
              <a:xfrm>
                <a:off x="5684740" y="2972199"/>
                <a:ext cx="728456"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Blake Lively</a:t>
                </a:r>
              </a:p>
            </p:txBody>
          </p:sp>
          <p:pic>
            <p:nvPicPr>
              <p:cNvPr id="26" name="Picture 25" descr="A person with long blonde hair&#10;&#10;AI-generated content may be incorrect.">
                <a:extLst>
                  <a:ext uri="{FF2B5EF4-FFF2-40B4-BE49-F238E27FC236}">
                    <a16:creationId xmlns:a16="http://schemas.microsoft.com/office/drawing/2014/main" id="{46C41530-525F-0301-CEFD-92AE032BB12E}"/>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902984" y="2616180"/>
                <a:ext cx="696472" cy="733983"/>
              </a:xfrm>
              <a:prstGeom prst="ellipse">
                <a:avLst/>
              </a:prstGeom>
            </p:spPr>
          </p:pic>
        </p:grpSp>
        <p:grpSp>
          <p:nvGrpSpPr>
            <p:cNvPr id="27" name="Group 26">
              <a:extLst>
                <a:ext uri="{FF2B5EF4-FFF2-40B4-BE49-F238E27FC236}">
                  <a16:creationId xmlns:a16="http://schemas.microsoft.com/office/drawing/2014/main" id="{20CE27E7-3439-BE79-4406-8CCEBE9CFA7B}"/>
                </a:ext>
              </a:extLst>
            </p:cNvPr>
            <p:cNvGrpSpPr/>
            <p:nvPr/>
          </p:nvGrpSpPr>
          <p:grpSpPr>
            <a:xfrm>
              <a:off x="2949468" y="4055291"/>
              <a:ext cx="2041730" cy="2666850"/>
              <a:chOff x="8926748" y="3564170"/>
              <a:chExt cx="2041730" cy="2666850"/>
            </a:xfrm>
          </p:grpSpPr>
          <p:sp>
            <p:nvSpPr>
              <p:cNvPr id="28" name="Rounded Rectangle 48">
                <a:extLst>
                  <a:ext uri="{FF2B5EF4-FFF2-40B4-BE49-F238E27FC236}">
                    <a16:creationId xmlns:a16="http://schemas.microsoft.com/office/drawing/2014/main" id="{C6831165-FE15-6850-3CFD-0003161C6FA4}"/>
                  </a:ext>
                </a:extLst>
              </p:cNvPr>
              <p:cNvSpPr/>
              <p:nvPr/>
            </p:nvSpPr>
            <p:spPr>
              <a:xfrm>
                <a:off x="8926748" y="3564170"/>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12">
                <a:extLst>
                  <a:ext uri="{FF2B5EF4-FFF2-40B4-BE49-F238E27FC236}">
                    <a16:creationId xmlns:a16="http://schemas.microsoft.com/office/drawing/2014/main" id="{170E39A0-4907-2D3B-B9B6-982B8DBC2B2E}"/>
                  </a:ext>
                </a:extLst>
              </p:cNvPr>
              <p:cNvSpPr/>
              <p:nvPr/>
            </p:nvSpPr>
            <p:spPr>
              <a:xfrm>
                <a:off x="9036012" y="4481168"/>
                <a:ext cx="1835450" cy="1215717"/>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Appears as a beauty brand ambassador actively promoting NYX Professional Makeup products alongside Saweetie.</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"Paris Hilton, Saweetie come together to highlight NYX Professional Makeup products“</a:t>
                </a:r>
              </a:p>
            </p:txBody>
          </p:sp>
          <p:sp>
            <p:nvSpPr>
              <p:cNvPr id="30" name="Rectangle: Rounded Corners 12">
                <a:extLst>
                  <a:ext uri="{FF2B5EF4-FFF2-40B4-BE49-F238E27FC236}">
                    <a16:creationId xmlns:a16="http://schemas.microsoft.com/office/drawing/2014/main" id="{3B952F3D-5F9E-59FF-75E5-69BA19B221C2}"/>
                  </a:ext>
                </a:extLst>
              </p:cNvPr>
              <p:cNvSpPr/>
              <p:nvPr/>
            </p:nvSpPr>
            <p:spPr>
              <a:xfrm>
                <a:off x="9919647" y="4024255"/>
                <a:ext cx="848252"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Paris Hilton</a:t>
                </a:r>
              </a:p>
            </p:txBody>
          </p:sp>
          <p:pic>
            <p:nvPicPr>
              <p:cNvPr id="35" name="Picture 34" descr="A person with blonde hair&#10;&#10;AI-generated content may be incorrect.">
                <a:extLst>
                  <a:ext uri="{FF2B5EF4-FFF2-40B4-BE49-F238E27FC236}">
                    <a16:creationId xmlns:a16="http://schemas.microsoft.com/office/drawing/2014/main" id="{693789DA-7AC9-A36E-F352-89A154711E12}"/>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128402" y="3668236"/>
                <a:ext cx="696472" cy="733983"/>
              </a:xfrm>
              <a:prstGeom prst="ellipse">
                <a:avLst/>
              </a:prstGeom>
            </p:spPr>
          </p:pic>
        </p:grpSp>
        <p:grpSp>
          <p:nvGrpSpPr>
            <p:cNvPr id="40" name="Group 39">
              <a:extLst>
                <a:ext uri="{FF2B5EF4-FFF2-40B4-BE49-F238E27FC236}">
                  <a16:creationId xmlns:a16="http://schemas.microsoft.com/office/drawing/2014/main" id="{F5712F10-FCF2-CD98-4524-46EF498BB51E}"/>
                </a:ext>
              </a:extLst>
            </p:cNvPr>
            <p:cNvGrpSpPr/>
            <p:nvPr/>
          </p:nvGrpSpPr>
          <p:grpSpPr>
            <a:xfrm>
              <a:off x="5194479" y="4055291"/>
              <a:ext cx="2041730" cy="2666850"/>
              <a:chOff x="6820857" y="569040"/>
              <a:chExt cx="2041730" cy="2666850"/>
            </a:xfrm>
          </p:grpSpPr>
          <p:sp>
            <p:nvSpPr>
              <p:cNvPr id="42" name="Rounded Rectangle 30">
                <a:extLst>
                  <a:ext uri="{FF2B5EF4-FFF2-40B4-BE49-F238E27FC236}">
                    <a16:creationId xmlns:a16="http://schemas.microsoft.com/office/drawing/2014/main" id="{6EA020C8-1F52-5346-E1C3-7F6374A40A1B}"/>
                  </a:ext>
                </a:extLst>
              </p:cNvPr>
              <p:cNvSpPr/>
              <p:nvPr/>
            </p:nvSpPr>
            <p:spPr>
              <a:xfrm>
                <a:off x="6820857" y="569040"/>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Rounded Corners 12">
                <a:extLst>
                  <a:ext uri="{FF2B5EF4-FFF2-40B4-BE49-F238E27FC236}">
                    <a16:creationId xmlns:a16="http://schemas.microsoft.com/office/drawing/2014/main" id="{EBBDCD60-756F-2E8B-C829-C08676249825}"/>
                  </a:ext>
                </a:extLst>
              </p:cNvPr>
              <p:cNvSpPr/>
              <p:nvPr/>
            </p:nvSpPr>
            <p:spPr>
              <a:xfrm>
                <a:off x="6923141" y="1486038"/>
                <a:ext cx="1899132" cy="1354217"/>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Referenced as the go-to example for "blunt bob" versatility, with conversations emphasizing how her cut can be styled multiple ways.</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“Leslie Bibb's Latest Hairstyle Proves There Isn't Just One Way to Style a Blunt Bob”</a:t>
                </a:r>
                <a:endParaRPr lang="en-IN" sz="900" i="1" dirty="0">
                  <a:solidFill>
                    <a:schemeClr val="tx1"/>
                  </a:solidFill>
                  <a:latin typeface="Arial" panose="020B0604020202020204" pitchFamily="34" charset="0"/>
                  <a:cs typeface="Arial" panose="020B0604020202020204" pitchFamily="34" charset="0"/>
                </a:endParaRPr>
              </a:p>
            </p:txBody>
          </p:sp>
          <p:sp>
            <p:nvSpPr>
              <p:cNvPr id="46" name="Rectangle: Rounded Corners 12">
                <a:extLst>
                  <a:ext uri="{FF2B5EF4-FFF2-40B4-BE49-F238E27FC236}">
                    <a16:creationId xmlns:a16="http://schemas.microsoft.com/office/drawing/2014/main" id="{7CD7AFB8-8B8D-F319-FE5C-DCD5DB872FB1}"/>
                  </a:ext>
                </a:extLst>
              </p:cNvPr>
              <p:cNvSpPr/>
              <p:nvPr/>
            </p:nvSpPr>
            <p:spPr>
              <a:xfrm>
                <a:off x="7753795" y="1032403"/>
                <a:ext cx="1011775"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Leslie Bibb</a:t>
                </a:r>
              </a:p>
            </p:txBody>
          </p:sp>
          <p:pic>
            <p:nvPicPr>
              <p:cNvPr id="48" name="Picture 47" descr="A person smiling for a picture&#10;&#10;AI-generated content may be incorrect.">
                <a:extLst>
                  <a:ext uri="{FF2B5EF4-FFF2-40B4-BE49-F238E27FC236}">
                    <a16:creationId xmlns:a16="http://schemas.microsoft.com/office/drawing/2014/main" id="{4E9572DE-42DB-CF38-2F18-52F19895259B}"/>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993162" y="676384"/>
                <a:ext cx="696472" cy="733983"/>
              </a:xfrm>
              <a:prstGeom prst="ellipse">
                <a:avLst/>
              </a:prstGeom>
            </p:spPr>
          </p:pic>
        </p:grpSp>
        <p:grpSp>
          <p:nvGrpSpPr>
            <p:cNvPr id="53" name="Group 52">
              <a:extLst>
                <a:ext uri="{FF2B5EF4-FFF2-40B4-BE49-F238E27FC236}">
                  <a16:creationId xmlns:a16="http://schemas.microsoft.com/office/drawing/2014/main" id="{9B1D85D6-ABB1-5F47-322E-37C5F180825B}"/>
                </a:ext>
              </a:extLst>
            </p:cNvPr>
            <p:cNvGrpSpPr/>
            <p:nvPr/>
          </p:nvGrpSpPr>
          <p:grpSpPr>
            <a:xfrm>
              <a:off x="9684502" y="4055291"/>
              <a:ext cx="2041730" cy="2666850"/>
              <a:chOff x="8926748" y="846137"/>
              <a:chExt cx="2041730" cy="2666850"/>
            </a:xfrm>
          </p:grpSpPr>
          <p:sp>
            <p:nvSpPr>
              <p:cNvPr id="54" name="Rounded Rectangle 40">
                <a:extLst>
                  <a:ext uri="{FF2B5EF4-FFF2-40B4-BE49-F238E27FC236}">
                    <a16:creationId xmlns:a16="http://schemas.microsoft.com/office/drawing/2014/main" id="{853699B9-85E9-E52C-4448-B7DFFE650287}"/>
                  </a:ext>
                </a:extLst>
              </p:cNvPr>
              <p:cNvSpPr/>
              <p:nvPr/>
            </p:nvSpPr>
            <p:spPr>
              <a:xfrm>
                <a:off x="8926748" y="846137"/>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Rounded Corners 12">
                <a:extLst>
                  <a:ext uri="{FF2B5EF4-FFF2-40B4-BE49-F238E27FC236}">
                    <a16:creationId xmlns:a16="http://schemas.microsoft.com/office/drawing/2014/main" id="{3A0F5061-2948-B7F7-78DD-1B403DBB7F6D}"/>
                  </a:ext>
                </a:extLst>
              </p:cNvPr>
              <p:cNvSpPr/>
              <p:nvPr/>
            </p:nvSpPr>
            <p:spPr>
              <a:xfrm>
                <a:off x="9036012" y="1763135"/>
                <a:ext cx="1932466" cy="1631216"/>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Mentioned both as hair styling inspiration for her "simple slick back" look and as industry educator who hosted the hair show "Black Hair Reimagined.“</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"...on Beyoncé to Tracee Ellis Ross’s simple slick back , even Hollywood’s rich and famous are cutting costs when it comes to hair."</a:t>
                </a:r>
                <a:endParaRPr lang="en-IN" sz="900" i="1" dirty="0">
                  <a:solidFill>
                    <a:schemeClr val="tx1"/>
                  </a:solidFill>
                  <a:latin typeface="Arial" panose="020B0604020202020204" pitchFamily="34" charset="0"/>
                  <a:cs typeface="Arial" panose="020B0604020202020204" pitchFamily="34" charset="0"/>
                </a:endParaRPr>
              </a:p>
            </p:txBody>
          </p:sp>
          <p:sp>
            <p:nvSpPr>
              <p:cNvPr id="56" name="Rectangle: Rounded Corners 12">
                <a:extLst>
                  <a:ext uri="{FF2B5EF4-FFF2-40B4-BE49-F238E27FC236}">
                    <a16:creationId xmlns:a16="http://schemas.microsoft.com/office/drawing/2014/main" id="{DF0F2F6E-AE88-1A46-9027-CBD0EE9E04F2}"/>
                  </a:ext>
                </a:extLst>
              </p:cNvPr>
              <p:cNvSpPr/>
              <p:nvPr/>
            </p:nvSpPr>
            <p:spPr>
              <a:xfrm>
                <a:off x="9859686" y="1279520"/>
                <a:ext cx="1011775"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Tracee Ellis Ross</a:t>
                </a:r>
              </a:p>
            </p:txBody>
          </p:sp>
          <p:pic>
            <p:nvPicPr>
              <p:cNvPr id="57" name="Picture 56" descr="A person with big earrings&#10;&#10;AI-generated content may be incorrect.">
                <a:extLst>
                  <a:ext uri="{FF2B5EF4-FFF2-40B4-BE49-F238E27FC236}">
                    <a16:creationId xmlns:a16="http://schemas.microsoft.com/office/drawing/2014/main" id="{ABCA3BCC-1856-0513-21EB-8418E6BC7DDF}"/>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139194" y="923502"/>
                <a:ext cx="696472" cy="733982"/>
              </a:xfrm>
              <a:prstGeom prst="ellipse">
                <a:avLst/>
              </a:prstGeom>
            </p:spPr>
          </p:pic>
        </p:grpSp>
        <p:grpSp>
          <p:nvGrpSpPr>
            <p:cNvPr id="59" name="Group 58">
              <a:extLst>
                <a:ext uri="{FF2B5EF4-FFF2-40B4-BE49-F238E27FC236}">
                  <a16:creationId xmlns:a16="http://schemas.microsoft.com/office/drawing/2014/main" id="{585ADE8E-64BE-1EAD-0A8C-F1554A8ADC7D}"/>
                </a:ext>
              </a:extLst>
            </p:cNvPr>
            <p:cNvGrpSpPr/>
            <p:nvPr/>
          </p:nvGrpSpPr>
          <p:grpSpPr>
            <a:xfrm>
              <a:off x="7439490" y="4055291"/>
              <a:ext cx="2041730" cy="2666850"/>
              <a:chOff x="6820857" y="3287073"/>
              <a:chExt cx="2041730" cy="2666850"/>
            </a:xfrm>
          </p:grpSpPr>
          <p:sp>
            <p:nvSpPr>
              <p:cNvPr id="62" name="Rounded Rectangle 35">
                <a:extLst>
                  <a:ext uri="{FF2B5EF4-FFF2-40B4-BE49-F238E27FC236}">
                    <a16:creationId xmlns:a16="http://schemas.microsoft.com/office/drawing/2014/main" id="{5499E5BE-C320-96D6-80CB-FF81D1F3C03B}"/>
                  </a:ext>
                </a:extLst>
              </p:cNvPr>
              <p:cNvSpPr/>
              <p:nvPr/>
            </p:nvSpPr>
            <p:spPr>
              <a:xfrm>
                <a:off x="6820857" y="3287073"/>
                <a:ext cx="2041730" cy="2666850"/>
              </a:xfrm>
              <a:prstGeom prst="roundRect">
                <a:avLst>
                  <a:gd name="adj" fmla="val 12558"/>
                </a:avLst>
              </a:prstGeom>
              <a:solidFill>
                <a:schemeClr val="bg1"/>
              </a:solidFill>
              <a:ln w="6350">
                <a:solidFill>
                  <a:schemeClr val="bg1">
                    <a:lumMod val="85000"/>
                    <a:alpha val="80377"/>
                  </a:schemeClr>
                </a:solidFill>
              </a:ln>
              <a:effectLst>
                <a:outerShdw blurRad="192743" dist="119499" dir="5400000" algn="t"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Rounded Corners 12">
                <a:extLst>
                  <a:ext uri="{FF2B5EF4-FFF2-40B4-BE49-F238E27FC236}">
                    <a16:creationId xmlns:a16="http://schemas.microsoft.com/office/drawing/2014/main" id="{85A20AFE-C405-DE12-13C0-31C500BDA19B}"/>
                  </a:ext>
                </a:extLst>
              </p:cNvPr>
              <p:cNvSpPr/>
              <p:nvPr/>
            </p:nvSpPr>
            <p:spPr>
              <a:xfrm>
                <a:off x="6930121" y="4204071"/>
                <a:ext cx="1835450" cy="1631216"/>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spcBef>
                    <a:spcPts val="600"/>
                  </a:spcBef>
                  <a:spcAft>
                    <a:spcPts val="600"/>
                  </a:spcAft>
                </a:pPr>
                <a:r>
                  <a:rPr lang="en-US" sz="900" dirty="0">
                    <a:solidFill>
                      <a:schemeClr val="tx1"/>
                    </a:solidFill>
                    <a:latin typeface="Arial" panose="020B0604020202020204" pitchFamily="34" charset="0"/>
                    <a:cs typeface="Arial" panose="020B0604020202020204" pitchFamily="34" charset="0"/>
                  </a:rPr>
                  <a:t>Mentioned for maintaining beauty industry relationships by attending the "NYX Professional Makeup Decade+1 Anniversary Party.“</a:t>
                </a:r>
              </a:p>
              <a:p>
                <a:pPr>
                  <a:spcBef>
                    <a:spcPts val="600"/>
                  </a:spcBef>
                  <a:spcAft>
                    <a:spcPts val="600"/>
                  </a:spcAft>
                </a:pPr>
                <a:r>
                  <a:rPr lang="en-US" sz="900" i="1" dirty="0">
                    <a:solidFill>
                      <a:schemeClr val="tx1"/>
                    </a:solidFill>
                    <a:latin typeface="Arial" panose="020B0604020202020204" pitchFamily="34" charset="0"/>
                    <a:cs typeface="Arial" panose="020B0604020202020204" pitchFamily="34" charset="0"/>
                  </a:rPr>
                  <a:t>"Katharine McPhee celebrated the NYX Professional Makeup Decade+1 Anniversary Party in Hollywood in 2010, stepping out in a spirited…"</a:t>
                </a:r>
                <a:endParaRPr lang="en-IN" sz="900" i="1" dirty="0">
                  <a:solidFill>
                    <a:schemeClr val="tx1"/>
                  </a:solidFill>
                  <a:latin typeface="Arial" panose="020B0604020202020204" pitchFamily="34" charset="0"/>
                  <a:cs typeface="Arial" panose="020B0604020202020204" pitchFamily="34" charset="0"/>
                </a:endParaRPr>
              </a:p>
            </p:txBody>
          </p:sp>
          <p:sp>
            <p:nvSpPr>
              <p:cNvPr id="64" name="Rectangle: Rounded Corners 12">
                <a:extLst>
                  <a:ext uri="{FF2B5EF4-FFF2-40B4-BE49-F238E27FC236}">
                    <a16:creationId xmlns:a16="http://schemas.microsoft.com/office/drawing/2014/main" id="{771A18F1-441D-86F0-265C-9A3577D0A805}"/>
                  </a:ext>
                </a:extLst>
              </p:cNvPr>
              <p:cNvSpPr/>
              <p:nvPr/>
            </p:nvSpPr>
            <p:spPr>
              <a:xfrm>
                <a:off x="7753796" y="3746636"/>
                <a:ext cx="868152" cy="37796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4A20A8"/>
                    </a:solidFill>
                    <a:latin typeface="Arial" panose="020B0604020202020204" pitchFamily="34" charset="0"/>
                    <a:cs typeface="Arial" panose="020B0604020202020204" pitchFamily="34" charset="0"/>
                  </a:rPr>
                  <a:t>Katharine McPhee</a:t>
                </a:r>
              </a:p>
            </p:txBody>
          </p:sp>
          <p:pic>
            <p:nvPicPr>
              <p:cNvPr id="65" name="Picture 64" descr="A person smiling at the camera&#10;&#10;AI-generated content may be incorrect.">
                <a:extLst>
                  <a:ext uri="{FF2B5EF4-FFF2-40B4-BE49-F238E27FC236}">
                    <a16:creationId xmlns:a16="http://schemas.microsoft.com/office/drawing/2014/main" id="{B61BB94B-7B16-6536-2040-15B84CCC749D}"/>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7035994" y="3390617"/>
                <a:ext cx="696473" cy="733983"/>
              </a:xfrm>
              <a:prstGeom prst="ellipse">
                <a:avLst/>
              </a:prstGeom>
            </p:spPr>
          </p:pic>
        </p:grpSp>
      </p:grpSp>
      <p:sp>
        <p:nvSpPr>
          <p:cNvPr id="66" name="Google Shape;2440;p175">
            <a:extLst>
              <a:ext uri="{FF2B5EF4-FFF2-40B4-BE49-F238E27FC236}">
                <a16:creationId xmlns:a16="http://schemas.microsoft.com/office/drawing/2014/main" id="{D6E49D9C-3A44-F74B-0F5B-71CC55CA629F}"/>
              </a:ext>
            </a:extLst>
          </p:cNvPr>
          <p:cNvSpPr txBox="1"/>
          <p:nvPr/>
        </p:nvSpPr>
        <p:spPr>
          <a:xfrm>
            <a:off x="3775601" y="6560047"/>
            <a:ext cx="4637404" cy="423982"/>
          </a:xfrm>
          <a:prstGeom prst="rect">
            <a:avLst/>
          </a:prstGeom>
          <a:noFill/>
          <a:ln>
            <a:noFill/>
          </a:ln>
        </p:spPr>
        <p:txBody>
          <a:bodyPr spcFirstLastPara="1" wrap="square" lIns="91433" tIns="45700" rIns="91433" bIns="45700" anchor="ctr" anchorCtr="0">
            <a:normAutofit/>
          </a:bodyPr>
          <a:lstStyle/>
          <a:p>
            <a:pPr marL="0" marR="0" lvl="0" indent="0" algn="l" defTabSz="914400" rtl="0" eaLnBrk="1" fontAlgn="auto" latinLnBrk="0" hangingPunct="1">
              <a:lnSpc>
                <a:spcPct val="90000"/>
              </a:lnSpc>
              <a:spcBef>
                <a:spcPts val="0"/>
              </a:spcBef>
              <a:spcAft>
                <a:spcPts val="0"/>
              </a:spcAft>
              <a:buClr>
                <a:srgbClr val="E8E8E8"/>
              </a:buClr>
              <a:buSzPts val="800"/>
              <a:buFontTx/>
              <a:buNone/>
              <a:tabLst/>
              <a:defRPr/>
            </a:pP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SOURCE: </a:t>
            </a:r>
            <a:r>
              <a:rPr lang="en-US" sz="1067" dirty="0">
                <a:solidFill>
                  <a:srgbClr val="E8E8E8">
                    <a:lumMod val="50000"/>
                  </a:srgbClr>
                </a:solidFill>
                <a:latin typeface="Aptos" panose="02110004020202020204"/>
              </a:rPr>
              <a:t>MELTWATER</a:t>
            </a: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 AUGUST 6, 2024 – AUGUST 6, 2025 </a:t>
            </a:r>
            <a:endParaRPr kumimoji="0" lang="en-US" sz="14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1910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Placeholder 26">
            <a:extLst>
              <a:ext uri="{FF2B5EF4-FFF2-40B4-BE49-F238E27FC236}">
                <a16:creationId xmlns:a16="http://schemas.microsoft.com/office/drawing/2014/main" id="{023DB0DC-38BA-7AB0-CF53-E38F542DA951}"/>
              </a:ext>
            </a:extLst>
          </p:cNvPr>
          <p:cNvSpPr txBox="1">
            <a:spLocks/>
          </p:cNvSpPr>
          <p:nvPr/>
        </p:nvSpPr>
        <p:spPr>
          <a:xfrm>
            <a:off x="515286" y="451617"/>
            <a:ext cx="5203342" cy="704616"/>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0"/>
              </a:spcBef>
              <a:buNone/>
            </a:pPr>
            <a:r>
              <a:rPr lang="en-US" sz="3200" b="1" dirty="0">
                <a:latin typeface="Aptos SemiBold" panose="020B0004020202020204" pitchFamily="34" charset="0"/>
              </a:rPr>
              <a:t>Most-Used Tags</a:t>
            </a:r>
          </a:p>
        </p:txBody>
      </p:sp>
      <p:sp>
        <p:nvSpPr>
          <p:cNvPr id="8" name="Rectangle 7">
            <a:extLst>
              <a:ext uri="{FF2B5EF4-FFF2-40B4-BE49-F238E27FC236}">
                <a16:creationId xmlns:a16="http://schemas.microsoft.com/office/drawing/2014/main" id="{D23026F6-88B1-0256-E71C-4F2F05EC38F2}"/>
              </a:ext>
            </a:extLst>
          </p:cNvPr>
          <p:cNvSpPr/>
          <p:nvPr/>
        </p:nvSpPr>
        <p:spPr>
          <a:xfrm>
            <a:off x="5718628" y="0"/>
            <a:ext cx="6473371"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8AC903E-0765-4282-B22F-A02D276D67B2}"/>
              </a:ext>
            </a:extLst>
          </p:cNvPr>
          <p:cNvSpPr/>
          <p:nvPr/>
        </p:nvSpPr>
        <p:spPr>
          <a:xfrm>
            <a:off x="5511988" y="235974"/>
            <a:ext cx="6375212" cy="6386052"/>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B5F80DCE-3241-C670-1976-138A61BA54FF}"/>
              </a:ext>
            </a:extLst>
          </p:cNvPr>
          <p:cNvSpPr txBox="1"/>
          <p:nvPr/>
        </p:nvSpPr>
        <p:spPr>
          <a:xfrm>
            <a:off x="7711993" y="1614866"/>
            <a:ext cx="1867054"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030A0"/>
                </a:solidFill>
                <a:effectLst/>
                <a:uLnTx/>
                <a:uFillTx/>
                <a:latin typeface="Arial" panose="020B0604020202020204" pitchFamily="34" charset="0"/>
                <a:cs typeface="Arial" panose="020B0604020202020204" pitchFamily="34" charset="0"/>
              </a:rPr>
              <a:t>Top Hashtags</a:t>
            </a:r>
          </a:p>
        </p:txBody>
      </p:sp>
      <p:sp>
        <p:nvSpPr>
          <p:cNvPr id="6" name="TextBox 5">
            <a:extLst>
              <a:ext uri="{FF2B5EF4-FFF2-40B4-BE49-F238E27FC236}">
                <a16:creationId xmlns:a16="http://schemas.microsoft.com/office/drawing/2014/main" id="{4BB8A856-D91A-567E-63CD-7B0ABB788CCF}"/>
              </a:ext>
            </a:extLst>
          </p:cNvPr>
          <p:cNvSpPr txBox="1"/>
          <p:nvPr/>
        </p:nvSpPr>
        <p:spPr>
          <a:xfrm>
            <a:off x="5718628" y="537851"/>
            <a:ext cx="5949630" cy="889154"/>
          </a:xfrm>
          <a:prstGeom prst="rect">
            <a:avLst/>
          </a:prstGeom>
          <a:noFill/>
        </p:spPr>
        <p:txBody>
          <a:bodyPr wrap="square">
            <a:spAutoFit/>
          </a:bodyPr>
          <a:lstStyle>
            <a:defPPr>
              <a:defRPr lang="en-US"/>
            </a:defPPr>
            <a:lvl1pPr marR="0" lvl="0" indent="0" fontAlgn="auto">
              <a:lnSpc>
                <a:spcPct val="100000"/>
              </a:lnSpc>
              <a:spcBef>
                <a:spcPts val="1200"/>
              </a:spcBef>
              <a:spcAft>
                <a:spcPts val="0"/>
              </a:spcAft>
              <a:buClrTx/>
              <a:buSzTx/>
              <a:buFontTx/>
              <a:buNone/>
              <a:tabLst/>
              <a:defRPr sz="1400">
                <a:solidFill>
                  <a:prstClr val="black"/>
                </a:solidFill>
                <a:latin typeface="Arial" panose="020B0604020202020204" pitchFamily="34" charset="0"/>
                <a:cs typeface="Arial" panose="020B0604020202020204" pitchFamily="34" charset="0"/>
              </a:defRPr>
            </a:lvl1pPr>
          </a:lstStyle>
          <a:p>
            <a:pPr>
              <a:lnSpc>
                <a:spcPct val="110000"/>
              </a:lnSpc>
            </a:pPr>
            <a:r>
              <a:rPr lang="en-US" sz="1200" b="1" dirty="0"/>
              <a:t>The hashtag hierarchy demonstrates cross-category engagement with #skincare dominating conversation volume while hair-specific tags (#haircolor, #hairstyles) show concentrated audience engagement around service-oriented content.</a:t>
            </a:r>
          </a:p>
        </p:txBody>
      </p:sp>
      <p:sp>
        <p:nvSpPr>
          <p:cNvPr id="14" name="Google Shape;2440;p175">
            <a:extLst>
              <a:ext uri="{FF2B5EF4-FFF2-40B4-BE49-F238E27FC236}">
                <a16:creationId xmlns:a16="http://schemas.microsoft.com/office/drawing/2014/main" id="{090EA31B-D75A-A66D-60BD-D7450F8624C5}"/>
              </a:ext>
            </a:extLst>
          </p:cNvPr>
          <p:cNvSpPr txBox="1"/>
          <p:nvPr/>
        </p:nvSpPr>
        <p:spPr>
          <a:xfrm>
            <a:off x="5533043" y="6184305"/>
            <a:ext cx="4637404" cy="423982"/>
          </a:xfrm>
          <a:prstGeom prst="rect">
            <a:avLst/>
          </a:prstGeom>
          <a:noFill/>
          <a:ln>
            <a:noFill/>
          </a:ln>
        </p:spPr>
        <p:txBody>
          <a:bodyPr spcFirstLastPara="1" wrap="square" lIns="91433" tIns="45700" rIns="91433" bIns="45700" anchor="ctr" anchorCtr="0">
            <a:normAutofit/>
          </a:bodyPr>
          <a:lstStyle/>
          <a:p>
            <a:pPr marL="0" marR="0" lvl="0" indent="0" algn="l" defTabSz="914400" rtl="0" eaLnBrk="1" fontAlgn="auto" latinLnBrk="0" hangingPunct="1">
              <a:lnSpc>
                <a:spcPct val="90000"/>
              </a:lnSpc>
              <a:spcBef>
                <a:spcPts val="0"/>
              </a:spcBef>
              <a:spcAft>
                <a:spcPts val="0"/>
              </a:spcAft>
              <a:buClr>
                <a:srgbClr val="E8E8E8"/>
              </a:buClr>
              <a:buSzPts val="800"/>
              <a:buFontTx/>
              <a:buNone/>
              <a:tabLst/>
              <a:defRPr/>
            </a:pP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SOURCE: QUID </a:t>
            </a:r>
            <a:r>
              <a:rPr lang="en-US" sz="1067" dirty="0">
                <a:solidFill>
                  <a:srgbClr val="E8E8E8">
                    <a:lumMod val="50000"/>
                  </a:srgbClr>
                </a:solidFill>
                <a:latin typeface="Aptos" panose="02110004020202020204"/>
              </a:rPr>
              <a:t>MONITOR</a:t>
            </a: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 | </a:t>
            </a:r>
            <a:r>
              <a:rPr lang="en-US" sz="1067" dirty="0">
                <a:solidFill>
                  <a:srgbClr val="E8E8E8">
                    <a:lumMod val="50000"/>
                  </a:srgbClr>
                </a:solidFill>
                <a:latin typeface="Aptos" panose="02110004020202020204"/>
              </a:rPr>
              <a:t>AUGUST</a:t>
            </a: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 2024 – AUGUST 2025 </a:t>
            </a:r>
            <a:endParaRPr kumimoji="0" lang="en-US" sz="14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endParaRPr>
          </a:p>
        </p:txBody>
      </p:sp>
      <p:pic>
        <p:nvPicPr>
          <p:cNvPr id="35" name="Picture 34">
            <a:extLst>
              <a:ext uri="{FF2B5EF4-FFF2-40B4-BE49-F238E27FC236}">
                <a16:creationId xmlns:a16="http://schemas.microsoft.com/office/drawing/2014/main" id="{D3AE250C-5C58-741A-780C-1F5D57AF232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04334" y="4467261"/>
            <a:ext cx="2644603" cy="540175"/>
          </a:xfrm>
          <a:prstGeom prst="rect">
            <a:avLst/>
          </a:prstGeom>
        </p:spPr>
      </p:pic>
      <p:pic>
        <p:nvPicPr>
          <p:cNvPr id="41" name="Picture 40" descr="A close up of words&#10;&#10;AI-generated content may be incorrect.">
            <a:extLst>
              <a:ext uri="{FF2B5EF4-FFF2-40B4-BE49-F238E27FC236}">
                <a16:creationId xmlns:a16="http://schemas.microsoft.com/office/drawing/2014/main" id="{75754A59-918C-C8AB-0B56-26967EE355A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559545" y="2025868"/>
            <a:ext cx="4267796" cy="3705742"/>
          </a:xfrm>
          <a:prstGeom prst="rect">
            <a:avLst/>
          </a:prstGeom>
        </p:spPr>
      </p:pic>
      <p:pic>
        <p:nvPicPr>
          <p:cNvPr id="45" name="Picture 44" descr="A screenshot of a computer&#10;&#10;AI-generated content may be incorrect.">
            <a:extLst>
              <a:ext uri="{FF2B5EF4-FFF2-40B4-BE49-F238E27FC236}">
                <a16:creationId xmlns:a16="http://schemas.microsoft.com/office/drawing/2014/main" id="{88B758A4-2126-8986-76C6-099C20D36A7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04334" y="5102111"/>
            <a:ext cx="2662630" cy="906330"/>
          </a:xfrm>
          <a:prstGeom prst="rect">
            <a:avLst/>
          </a:prstGeom>
        </p:spPr>
      </p:pic>
      <p:pic>
        <p:nvPicPr>
          <p:cNvPr id="49" name="Picture 48" descr="A screenshot of a social media post&#10;&#10;AI-generated content may be incorrect.">
            <a:extLst>
              <a:ext uri="{FF2B5EF4-FFF2-40B4-BE49-F238E27FC236}">
                <a16:creationId xmlns:a16="http://schemas.microsoft.com/office/drawing/2014/main" id="{3DADA2D2-BD81-256F-D8BC-EF3F22F8ACC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04334" y="1384802"/>
            <a:ext cx="1673279" cy="1931996"/>
          </a:xfrm>
          <a:prstGeom prst="rect">
            <a:avLst/>
          </a:prstGeom>
        </p:spPr>
      </p:pic>
      <p:pic>
        <p:nvPicPr>
          <p:cNvPr id="51" name="Picture 50" descr="A screenshot of a social media post&#10;&#10;AI-generated content may be incorrect.">
            <a:extLst>
              <a:ext uri="{FF2B5EF4-FFF2-40B4-BE49-F238E27FC236}">
                <a16:creationId xmlns:a16="http://schemas.microsoft.com/office/drawing/2014/main" id="{8FCF2CD2-4C23-414A-204F-060636F1CBA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359758" y="1351541"/>
            <a:ext cx="1910116" cy="1931996"/>
          </a:xfrm>
          <a:prstGeom prst="rect">
            <a:avLst/>
          </a:prstGeom>
        </p:spPr>
      </p:pic>
      <p:pic>
        <p:nvPicPr>
          <p:cNvPr id="53" name="Picture 52" descr="A screenshot of a social media post&#10;&#10;AI-generated content may be incorrect.">
            <a:extLst>
              <a:ext uri="{FF2B5EF4-FFF2-40B4-BE49-F238E27FC236}">
                <a16:creationId xmlns:a16="http://schemas.microsoft.com/office/drawing/2014/main" id="{BF533144-6E4B-A830-78FF-CEBBC03EEBD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04334" y="3478846"/>
            <a:ext cx="2644603" cy="810845"/>
          </a:xfrm>
          <a:prstGeom prst="rect">
            <a:avLst/>
          </a:prstGeom>
        </p:spPr>
      </p:pic>
      <p:pic>
        <p:nvPicPr>
          <p:cNvPr id="56" name="Picture 55" descr="A black text on a white background&#10;&#10;AI-generated content may be incorrect.">
            <a:extLst>
              <a:ext uri="{FF2B5EF4-FFF2-40B4-BE49-F238E27FC236}">
                <a16:creationId xmlns:a16="http://schemas.microsoft.com/office/drawing/2014/main" id="{5FF7D39F-68F2-1B6D-2137-0BB684151E80}"/>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04335" y="6124346"/>
            <a:ext cx="2662630" cy="394022"/>
          </a:xfrm>
          <a:prstGeom prst="rect">
            <a:avLst/>
          </a:prstGeom>
        </p:spPr>
      </p:pic>
      <p:pic>
        <p:nvPicPr>
          <p:cNvPr id="58" name="Picture 57" descr="A screenshot of a social media post&#10;&#10;AI-generated content may be incorrect.">
            <a:extLst>
              <a:ext uri="{FF2B5EF4-FFF2-40B4-BE49-F238E27FC236}">
                <a16:creationId xmlns:a16="http://schemas.microsoft.com/office/drawing/2014/main" id="{78F6E192-521F-C633-F39B-601E8B3F198E}"/>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359758" y="4626668"/>
            <a:ext cx="2010008" cy="1427411"/>
          </a:xfrm>
          <a:prstGeom prst="rect">
            <a:avLst/>
          </a:prstGeom>
        </p:spPr>
      </p:pic>
    </p:spTree>
    <p:extLst>
      <p:ext uri="{BB962C8B-B14F-4D97-AF65-F5344CB8AC3E}">
        <p14:creationId xmlns:p14="http://schemas.microsoft.com/office/powerpoint/2010/main" val="247852310"/>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3F77C-AB43-414C-4026-8E005E6F1F4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817F4F7-2732-A2A3-90A1-5DD0BF10953C}"/>
              </a:ext>
            </a:extLst>
          </p:cNvPr>
          <p:cNvSpPr/>
          <p:nvPr/>
        </p:nvSpPr>
        <p:spPr>
          <a:xfrm flipV="1">
            <a:off x="1" y="0"/>
            <a:ext cx="12192000" cy="18288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Google Shape;2436;p175">
            <a:extLst>
              <a:ext uri="{FF2B5EF4-FFF2-40B4-BE49-F238E27FC236}">
                <a16:creationId xmlns:a16="http://schemas.microsoft.com/office/drawing/2014/main" id="{D2084862-6DC7-3A7A-B9AC-57721CA1836B}"/>
              </a:ext>
            </a:extLst>
          </p:cNvPr>
          <p:cNvSpPr txBox="1"/>
          <p:nvPr/>
        </p:nvSpPr>
        <p:spPr>
          <a:xfrm>
            <a:off x="5753370" y="434617"/>
            <a:ext cx="5867130" cy="821749"/>
          </a:xfrm>
          <a:prstGeom prst="rect">
            <a:avLst/>
          </a:prstGeom>
          <a:noFill/>
          <a:ln>
            <a:noFill/>
          </a:ln>
        </p:spPr>
        <p:txBody>
          <a:bodyPr spcFirstLastPara="1" wrap="square" lIns="91433" tIns="91433" rIns="91433" bIns="91433" anchor="t" anchorCtr="0">
            <a:spAutoFit/>
          </a:bodyPr>
          <a:lstStyle/>
          <a:p>
            <a:pPr lvl="0">
              <a:lnSpc>
                <a:spcPct val="115000"/>
              </a:lnSpc>
              <a:defRPr/>
            </a:pPr>
            <a:r>
              <a:rPr lang="en-US" sz="1200" b="1" dirty="0">
                <a:solidFill>
                  <a:srgbClr val="7030A0"/>
                </a:solidFill>
                <a:latin typeface="Arial"/>
                <a:ea typeface="Arial"/>
                <a:cs typeface="Arial"/>
                <a:sym typeface="Arial"/>
              </a:rPr>
              <a:t>The sentiments reveals high-value audience engagement with positive emotional indicators (love, beautiful, perfect) driving organic conversation amplification rather than manufactured hype.</a:t>
            </a:r>
            <a:endParaRPr lang="en" sz="1200" b="1">
              <a:solidFill>
                <a:prstClr val="black"/>
              </a:solidFill>
              <a:latin typeface="Arial"/>
              <a:cs typeface="Arial"/>
              <a:sym typeface="Arial"/>
            </a:endParaRPr>
          </a:p>
        </p:txBody>
      </p:sp>
      <p:sp>
        <p:nvSpPr>
          <p:cNvPr id="9" name="TextBox 8">
            <a:extLst>
              <a:ext uri="{FF2B5EF4-FFF2-40B4-BE49-F238E27FC236}">
                <a16:creationId xmlns:a16="http://schemas.microsoft.com/office/drawing/2014/main" id="{C269A59A-0E83-568B-9867-36DEBC7F9CA9}"/>
              </a:ext>
            </a:extLst>
          </p:cNvPr>
          <p:cNvSpPr txBox="1"/>
          <p:nvPr/>
        </p:nvSpPr>
        <p:spPr>
          <a:xfrm>
            <a:off x="7171292" y="1980906"/>
            <a:ext cx="1363964" cy="307777"/>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7030A0"/>
                </a:solidFill>
                <a:effectLst/>
                <a:uLnTx/>
                <a:uFillTx/>
                <a:latin typeface="Arial" panose="020B0604020202020204" pitchFamily="34" charset="0"/>
                <a:cs typeface="Arial" panose="020B0604020202020204" pitchFamily="34" charset="0"/>
              </a:rPr>
              <a:t>Top Emotions</a:t>
            </a:r>
          </a:p>
        </p:txBody>
      </p:sp>
      <p:sp>
        <p:nvSpPr>
          <p:cNvPr id="3" name="TextBox 2">
            <a:extLst>
              <a:ext uri="{FF2B5EF4-FFF2-40B4-BE49-F238E27FC236}">
                <a16:creationId xmlns:a16="http://schemas.microsoft.com/office/drawing/2014/main" id="{ACA2B5D7-2A40-BED1-ECFC-8E2B6662A3F1}"/>
              </a:ext>
            </a:extLst>
          </p:cNvPr>
          <p:cNvSpPr txBox="1"/>
          <p:nvPr/>
        </p:nvSpPr>
        <p:spPr>
          <a:xfrm>
            <a:off x="654027" y="1980906"/>
            <a:ext cx="2065933" cy="307777"/>
          </a:xfrm>
          <a:prstGeom prst="rect">
            <a:avLst/>
          </a:prstGeom>
          <a:noFill/>
        </p:spPr>
        <p:txBody>
          <a:bodyPr wrap="square" rtlCol="0" anchor="ctr">
            <a:spAutoFit/>
          </a:bodyPr>
          <a:lstStyle/>
          <a:p>
            <a:pPr algn="ctr">
              <a:defRPr/>
            </a:pPr>
            <a:r>
              <a:rPr lang="en-US" sz="1400" b="1" dirty="0">
                <a:solidFill>
                  <a:srgbClr val="7030A0"/>
                </a:solidFill>
                <a:latin typeface="Arial" panose="020B0604020202020204" pitchFamily="34" charset="0"/>
                <a:cs typeface="Arial" panose="020B0604020202020204" pitchFamily="34" charset="0"/>
              </a:rPr>
              <a:t>Top Terms</a:t>
            </a:r>
          </a:p>
        </p:txBody>
      </p:sp>
      <p:sp>
        <p:nvSpPr>
          <p:cNvPr id="2" name="Text Placeholder 26">
            <a:extLst>
              <a:ext uri="{FF2B5EF4-FFF2-40B4-BE49-F238E27FC236}">
                <a16:creationId xmlns:a16="http://schemas.microsoft.com/office/drawing/2014/main" id="{8D10DD57-A24F-CA26-1814-BBFE0F8269E6}"/>
              </a:ext>
            </a:extLst>
          </p:cNvPr>
          <p:cNvSpPr txBox="1">
            <a:spLocks/>
          </p:cNvSpPr>
          <p:nvPr/>
        </p:nvSpPr>
        <p:spPr>
          <a:xfrm>
            <a:off x="515286" y="451617"/>
            <a:ext cx="5055858" cy="704616"/>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solidFill>
                  <a:srgbClr val="7030A0"/>
                </a:solidFill>
                <a:latin typeface="Arial" panose="020B0604020202020204" pitchFamily="34" charset="0"/>
                <a:cs typeface="Arial" panose="020B0604020202020204" pitchFamily="34" charset="0"/>
              </a:rPr>
              <a:t>BEAUTY SERVICES</a:t>
            </a:r>
          </a:p>
          <a:p>
            <a:pPr marL="0" indent="0">
              <a:spcBef>
                <a:spcPts val="0"/>
              </a:spcBef>
              <a:buNone/>
            </a:pPr>
            <a:r>
              <a:rPr lang="en-US" sz="3200" b="1" dirty="0">
                <a:latin typeface="Aptos SemiBold" panose="020B0004020202020204" pitchFamily="34" charset="0"/>
              </a:rPr>
              <a:t>Other Social Conversation</a:t>
            </a:r>
          </a:p>
        </p:txBody>
      </p:sp>
      <p:cxnSp>
        <p:nvCxnSpPr>
          <p:cNvPr id="7" name="Straight Connector 6">
            <a:extLst>
              <a:ext uri="{FF2B5EF4-FFF2-40B4-BE49-F238E27FC236}">
                <a16:creationId xmlns:a16="http://schemas.microsoft.com/office/drawing/2014/main" id="{00D68658-6B3A-665F-354C-1A94286E59AF}"/>
              </a:ext>
            </a:extLst>
          </p:cNvPr>
          <p:cNvCxnSpPr>
            <a:cxnSpLocks/>
          </p:cNvCxnSpPr>
          <p:nvPr/>
        </p:nvCxnSpPr>
        <p:spPr>
          <a:xfrm flipV="1">
            <a:off x="6230910" y="1828800"/>
            <a:ext cx="0" cy="5029200"/>
          </a:xfrm>
          <a:prstGeom prst="line">
            <a:avLst/>
          </a:prstGeom>
          <a:ln w="15875">
            <a:solidFill>
              <a:schemeClr val="bg1">
                <a:lumMod val="85000"/>
                <a:alpha val="27000"/>
              </a:schemeClr>
            </a:solidFill>
          </a:ln>
        </p:spPr>
        <p:style>
          <a:lnRef idx="2">
            <a:schemeClr val="accent1"/>
          </a:lnRef>
          <a:fillRef idx="0">
            <a:schemeClr val="accent1"/>
          </a:fillRef>
          <a:effectRef idx="1">
            <a:schemeClr val="accent1"/>
          </a:effectRef>
          <a:fontRef idx="minor">
            <a:schemeClr val="tx1"/>
          </a:fontRef>
        </p:style>
      </p:cxnSp>
      <p:sp>
        <p:nvSpPr>
          <p:cNvPr id="12" name="Google Shape;2440;p175">
            <a:extLst>
              <a:ext uri="{FF2B5EF4-FFF2-40B4-BE49-F238E27FC236}">
                <a16:creationId xmlns:a16="http://schemas.microsoft.com/office/drawing/2014/main" id="{4612A83F-ADEF-618B-3F69-1E8870456302}"/>
              </a:ext>
            </a:extLst>
          </p:cNvPr>
          <p:cNvSpPr txBox="1"/>
          <p:nvPr/>
        </p:nvSpPr>
        <p:spPr>
          <a:xfrm>
            <a:off x="4049531" y="6434018"/>
            <a:ext cx="4637404" cy="423982"/>
          </a:xfrm>
          <a:prstGeom prst="rect">
            <a:avLst/>
          </a:prstGeom>
          <a:noFill/>
          <a:ln>
            <a:noFill/>
          </a:ln>
        </p:spPr>
        <p:txBody>
          <a:bodyPr spcFirstLastPara="1" wrap="square" lIns="91433" tIns="45700" rIns="91433" bIns="45700" anchor="ctr" anchorCtr="0">
            <a:normAutofit/>
          </a:bodyPr>
          <a:lstStyle/>
          <a:p>
            <a:pPr marL="0" marR="0" lvl="0" indent="0" algn="l" defTabSz="914400" rtl="0" eaLnBrk="1" fontAlgn="auto" latinLnBrk="0" hangingPunct="1">
              <a:lnSpc>
                <a:spcPct val="90000"/>
              </a:lnSpc>
              <a:spcBef>
                <a:spcPts val="0"/>
              </a:spcBef>
              <a:spcAft>
                <a:spcPts val="0"/>
              </a:spcAft>
              <a:buClr>
                <a:srgbClr val="E8E8E8"/>
              </a:buClr>
              <a:buSzPts val="800"/>
              <a:buFontTx/>
              <a:buNone/>
              <a:tabLst/>
              <a:defRPr/>
            </a:pPr>
            <a:r>
              <a:rPr kumimoji="0" lang="en-US" sz="10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rPr>
              <a:t>SOURCE: QUID MONITOR | AUGUST 2024 – AUGUST 2025 </a:t>
            </a:r>
            <a:endParaRPr kumimoji="0" lang="en-US" sz="1467" b="0" i="0" u="none" strike="noStrike" kern="1200" cap="none" spc="0" normalizeH="0" baseline="0" noProof="0" dirty="0">
              <a:ln>
                <a:noFill/>
              </a:ln>
              <a:solidFill>
                <a:srgbClr val="E8E8E8">
                  <a:lumMod val="50000"/>
                </a:srgbClr>
              </a:solidFill>
              <a:effectLst/>
              <a:uLnTx/>
              <a:uFillTx/>
              <a:latin typeface="Aptos" panose="02110004020202020204"/>
              <a:ea typeface="+mn-ea"/>
              <a:cs typeface="+mn-cs"/>
            </a:endParaRPr>
          </a:p>
        </p:txBody>
      </p:sp>
      <p:pic>
        <p:nvPicPr>
          <p:cNvPr id="18" name="Picture 17" descr="A close up of words&#10;&#10;AI-generated content may be incorrect.">
            <a:extLst>
              <a:ext uri="{FF2B5EF4-FFF2-40B4-BE49-F238E27FC236}">
                <a16:creationId xmlns:a16="http://schemas.microsoft.com/office/drawing/2014/main" id="{CD197229-1816-11A1-D026-8ACEA62BC56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384115" y="2866073"/>
            <a:ext cx="2938319" cy="2442654"/>
          </a:xfrm>
          <a:prstGeom prst="rect">
            <a:avLst/>
          </a:prstGeom>
        </p:spPr>
      </p:pic>
      <p:grpSp>
        <p:nvGrpSpPr>
          <p:cNvPr id="71" name="Group 70">
            <a:extLst>
              <a:ext uri="{FF2B5EF4-FFF2-40B4-BE49-F238E27FC236}">
                <a16:creationId xmlns:a16="http://schemas.microsoft.com/office/drawing/2014/main" id="{C8B12216-71DE-9EFF-575E-677E1193010B}"/>
              </a:ext>
            </a:extLst>
          </p:cNvPr>
          <p:cNvGrpSpPr/>
          <p:nvPr/>
        </p:nvGrpSpPr>
        <p:grpSpPr>
          <a:xfrm>
            <a:off x="9428976" y="2663744"/>
            <a:ext cx="2596630" cy="3373651"/>
            <a:chOff x="9428976" y="2614430"/>
            <a:chExt cx="2596630" cy="3373651"/>
          </a:xfrm>
        </p:grpSpPr>
        <p:pic>
          <p:nvPicPr>
            <p:cNvPr id="20" name="Picture 19" descr="A white text with black text&#10;&#10;AI-generated content may be incorrect.">
              <a:extLst>
                <a:ext uri="{FF2B5EF4-FFF2-40B4-BE49-F238E27FC236}">
                  <a16:creationId xmlns:a16="http://schemas.microsoft.com/office/drawing/2014/main" id="{44E54C0F-BDFB-FD3B-6037-B06237613EF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428976" y="3028239"/>
              <a:ext cx="2566594" cy="906499"/>
            </a:xfrm>
            <a:prstGeom prst="rect">
              <a:avLst/>
            </a:prstGeom>
          </p:spPr>
        </p:pic>
        <p:pic>
          <p:nvPicPr>
            <p:cNvPr id="24" name="Picture 23">
              <a:extLst>
                <a:ext uri="{FF2B5EF4-FFF2-40B4-BE49-F238E27FC236}">
                  <a16:creationId xmlns:a16="http://schemas.microsoft.com/office/drawing/2014/main" id="{9BFFF894-D2FF-2ACF-92F6-5E5B61CD15E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428976" y="2614430"/>
              <a:ext cx="2596630" cy="331989"/>
            </a:xfrm>
            <a:prstGeom prst="rect">
              <a:avLst/>
            </a:prstGeom>
          </p:spPr>
        </p:pic>
        <p:pic>
          <p:nvPicPr>
            <p:cNvPr id="32" name="Picture 31">
              <a:extLst>
                <a:ext uri="{FF2B5EF4-FFF2-40B4-BE49-F238E27FC236}">
                  <a16:creationId xmlns:a16="http://schemas.microsoft.com/office/drawing/2014/main" id="{71F2055E-5941-FD84-CC46-40EA7028AE92}"/>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428976" y="5553362"/>
              <a:ext cx="2535859" cy="434719"/>
            </a:xfrm>
            <a:prstGeom prst="rect">
              <a:avLst/>
            </a:prstGeom>
          </p:spPr>
        </p:pic>
        <p:pic>
          <p:nvPicPr>
            <p:cNvPr id="34" name="Picture 33" descr="A white background with black text&#10;&#10;AI-generated content may be incorrect.">
              <a:extLst>
                <a:ext uri="{FF2B5EF4-FFF2-40B4-BE49-F238E27FC236}">
                  <a16:creationId xmlns:a16="http://schemas.microsoft.com/office/drawing/2014/main" id="{865B4FE3-B970-863C-D0E3-A55B029E87FE}"/>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9428976" y="4016558"/>
              <a:ext cx="2535860" cy="608522"/>
            </a:xfrm>
            <a:prstGeom prst="rect">
              <a:avLst/>
            </a:prstGeom>
          </p:spPr>
        </p:pic>
        <p:pic>
          <p:nvPicPr>
            <p:cNvPr id="38" name="Picture 37" descr="A white background with black text&#10;&#10;AI-generated content may be incorrect.">
              <a:extLst>
                <a:ext uri="{FF2B5EF4-FFF2-40B4-BE49-F238E27FC236}">
                  <a16:creationId xmlns:a16="http://schemas.microsoft.com/office/drawing/2014/main" id="{9C46793A-948B-6FB4-19E0-DBC9CAD270D2}"/>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9428976" y="4706900"/>
              <a:ext cx="2535859" cy="662091"/>
            </a:xfrm>
            <a:prstGeom prst="rect">
              <a:avLst/>
            </a:prstGeom>
          </p:spPr>
        </p:pic>
      </p:grpSp>
      <p:pic>
        <p:nvPicPr>
          <p:cNvPr id="40" name="Picture 39" descr="A close up of words&#10;&#10;AI-generated content may be incorrect.">
            <a:extLst>
              <a:ext uri="{FF2B5EF4-FFF2-40B4-BE49-F238E27FC236}">
                <a16:creationId xmlns:a16="http://schemas.microsoft.com/office/drawing/2014/main" id="{A34EE6F4-6D23-75A6-BD79-93040BDD61AC}"/>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1142" y="2767549"/>
            <a:ext cx="3191704" cy="2639702"/>
          </a:xfrm>
          <a:prstGeom prst="rect">
            <a:avLst/>
          </a:prstGeom>
        </p:spPr>
      </p:pic>
      <p:grpSp>
        <p:nvGrpSpPr>
          <p:cNvPr id="69" name="Group 68">
            <a:extLst>
              <a:ext uri="{FF2B5EF4-FFF2-40B4-BE49-F238E27FC236}">
                <a16:creationId xmlns:a16="http://schemas.microsoft.com/office/drawing/2014/main" id="{B9A66F3D-D8AD-FFB5-4C3A-69FB3D822C42}"/>
              </a:ext>
            </a:extLst>
          </p:cNvPr>
          <p:cNvGrpSpPr/>
          <p:nvPr/>
        </p:nvGrpSpPr>
        <p:grpSpPr>
          <a:xfrm>
            <a:off x="3263484" y="2535795"/>
            <a:ext cx="2699559" cy="3551206"/>
            <a:chOff x="3263484" y="2186719"/>
            <a:chExt cx="2699559" cy="3551206"/>
          </a:xfrm>
        </p:grpSpPr>
        <p:pic>
          <p:nvPicPr>
            <p:cNvPr id="43" name="Picture 42" descr="A white background with black text&#10;&#10;AI-generated content may be incorrect.">
              <a:extLst>
                <a:ext uri="{FF2B5EF4-FFF2-40B4-BE49-F238E27FC236}">
                  <a16:creationId xmlns:a16="http://schemas.microsoft.com/office/drawing/2014/main" id="{ECC07FBC-60B7-2934-521B-8DB75FBF8960}"/>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3263484" y="2186719"/>
              <a:ext cx="2662802" cy="796328"/>
            </a:xfrm>
            <a:prstGeom prst="rect">
              <a:avLst/>
            </a:prstGeom>
          </p:spPr>
        </p:pic>
        <p:pic>
          <p:nvPicPr>
            <p:cNvPr id="50" name="Picture 49" descr="A close up of a text&#10;&#10;AI-generated content may be incorrect.">
              <a:extLst>
                <a:ext uri="{FF2B5EF4-FFF2-40B4-BE49-F238E27FC236}">
                  <a16:creationId xmlns:a16="http://schemas.microsoft.com/office/drawing/2014/main" id="{F9B517EE-4676-7E16-97D9-339667AB25FD}"/>
                </a:ext>
              </a:extLst>
            </p:cNvPr>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3263488" y="3916860"/>
              <a:ext cx="2662795" cy="1152369"/>
            </a:xfrm>
            <a:prstGeom prst="rect">
              <a:avLst/>
            </a:prstGeom>
          </p:spPr>
        </p:pic>
        <p:pic>
          <p:nvPicPr>
            <p:cNvPr id="65" name="Picture 64" descr="A close up of text&#10;&#10;AI-generated content may be incorrect.">
              <a:extLst>
                <a:ext uri="{FF2B5EF4-FFF2-40B4-BE49-F238E27FC236}">
                  <a16:creationId xmlns:a16="http://schemas.microsoft.com/office/drawing/2014/main" id="{C539FB6C-B569-8DE8-879F-96A1CF02D96E}"/>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3263484" y="3187638"/>
              <a:ext cx="2699559" cy="529035"/>
            </a:xfrm>
            <a:prstGeom prst="rect">
              <a:avLst/>
            </a:prstGeom>
          </p:spPr>
        </p:pic>
        <p:pic>
          <p:nvPicPr>
            <p:cNvPr id="68" name="Picture 67" descr="A close up of black text&#10;&#10;AI-generated content may be incorrect.">
              <a:extLst>
                <a:ext uri="{FF2B5EF4-FFF2-40B4-BE49-F238E27FC236}">
                  <a16:creationId xmlns:a16="http://schemas.microsoft.com/office/drawing/2014/main" id="{5AF61DA0-6B53-2D60-E9EE-BCB1DA5DE821}"/>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3263484" y="5269416"/>
              <a:ext cx="2662792" cy="468509"/>
            </a:xfrm>
            <a:prstGeom prst="rect">
              <a:avLst/>
            </a:prstGeom>
          </p:spPr>
        </p:pic>
      </p:grpSp>
    </p:spTree>
    <p:extLst>
      <p:ext uri="{BB962C8B-B14F-4D97-AF65-F5344CB8AC3E}">
        <p14:creationId xmlns:p14="http://schemas.microsoft.com/office/powerpoint/2010/main" val="219375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609600"/>
            <a:ext cx="12192000" cy="5638800"/>
            <a:chOff x="0" y="609600"/>
            <a:chExt cx="12192000" cy="5638800"/>
          </a:xfrm>
        </p:grpSpPr>
        <p:pic>
          <p:nvPicPr>
            <p:cNvPr id="3" name="object 3"/>
            <p:cNvPicPr/>
            <p:nvPr/>
          </p:nvPicPr>
          <p:blipFill>
            <a:blip r:embed="rId2" cstate="print"/>
            <a:stretch>
              <a:fillRect/>
            </a:stretch>
          </p:blipFill>
          <p:spPr>
            <a:xfrm>
              <a:off x="0" y="1516504"/>
              <a:ext cx="12191999" cy="4265170"/>
            </a:xfrm>
            <a:prstGeom prst="rect">
              <a:avLst/>
            </a:prstGeom>
          </p:spPr>
        </p:pic>
        <p:pic>
          <p:nvPicPr>
            <p:cNvPr id="4" name="object 4"/>
            <p:cNvPicPr/>
            <p:nvPr/>
          </p:nvPicPr>
          <p:blipFill>
            <a:blip r:embed="rId3" cstate="print"/>
            <a:stretch>
              <a:fillRect/>
            </a:stretch>
          </p:blipFill>
          <p:spPr>
            <a:xfrm>
              <a:off x="0" y="609600"/>
              <a:ext cx="12191999" cy="5638800"/>
            </a:xfrm>
            <a:prstGeom prst="rect">
              <a:avLst/>
            </a:prstGeom>
          </p:spPr>
        </p:pic>
      </p:grpSp>
      <p:sp>
        <p:nvSpPr>
          <p:cNvPr id="5" name="object 5"/>
          <p:cNvSpPr txBox="1">
            <a:spLocks noGrp="1"/>
          </p:cNvSpPr>
          <p:nvPr>
            <p:ph type="title"/>
          </p:nvPr>
        </p:nvSpPr>
        <p:spPr>
          <a:xfrm>
            <a:off x="907414" y="2059368"/>
            <a:ext cx="2162810" cy="1492885"/>
          </a:xfrm>
          <a:prstGeom prst="rect">
            <a:avLst/>
          </a:prstGeom>
        </p:spPr>
        <p:txBody>
          <a:bodyPr vert="horz" wrap="square" lIns="0" tIns="10795" rIns="0" bIns="0" rtlCol="0">
            <a:spAutoFit/>
          </a:bodyPr>
          <a:lstStyle/>
          <a:p>
            <a:pPr marL="12700" marR="5080">
              <a:lnSpc>
                <a:spcPct val="100400"/>
              </a:lnSpc>
              <a:spcBef>
                <a:spcPts val="85"/>
              </a:spcBef>
            </a:pPr>
            <a:r>
              <a:rPr sz="4800" spc="-10" dirty="0">
                <a:solidFill>
                  <a:srgbClr val="000000"/>
                </a:solidFill>
              </a:rPr>
              <a:t>THANK </a:t>
            </a:r>
            <a:r>
              <a:rPr sz="4800" spc="-25" dirty="0">
                <a:solidFill>
                  <a:srgbClr val="000000"/>
                </a:solidFill>
              </a:rPr>
              <a:t>YOU</a:t>
            </a:r>
            <a:endParaRPr sz="4800" dirty="0"/>
          </a:p>
        </p:txBody>
      </p:sp>
      <p:grpSp>
        <p:nvGrpSpPr>
          <p:cNvPr id="6" name="object 6"/>
          <p:cNvGrpSpPr/>
          <p:nvPr/>
        </p:nvGrpSpPr>
        <p:grpSpPr>
          <a:xfrm>
            <a:off x="992187" y="1744662"/>
            <a:ext cx="11200130" cy="4866005"/>
            <a:chOff x="992187" y="1744662"/>
            <a:chExt cx="11200130" cy="4866005"/>
          </a:xfrm>
        </p:grpSpPr>
        <p:pic>
          <p:nvPicPr>
            <p:cNvPr id="7" name="object 7"/>
            <p:cNvPicPr/>
            <p:nvPr/>
          </p:nvPicPr>
          <p:blipFill>
            <a:blip r:embed="rId4" cstate="email">
              <a:extLst>
                <a:ext uri="{28A0092B-C50C-407E-A947-70E740481C1C}">
                  <a14:useLocalDpi xmlns:a14="http://schemas.microsoft.com/office/drawing/2010/main"/>
                </a:ext>
              </a:extLst>
            </a:blip>
            <a:stretch>
              <a:fillRect/>
            </a:stretch>
          </p:blipFill>
          <p:spPr>
            <a:xfrm>
              <a:off x="992187" y="1744662"/>
              <a:ext cx="149225" cy="149225"/>
            </a:xfrm>
            <a:prstGeom prst="rect">
              <a:avLst/>
            </a:prstGeom>
          </p:spPr>
        </p:pic>
        <p:pic>
          <p:nvPicPr>
            <p:cNvPr id="8" name="object 8"/>
            <p:cNvPicPr/>
            <p:nvPr/>
          </p:nvPicPr>
          <p:blipFill>
            <a:blip r:embed="rId5" cstate="email">
              <a:extLst>
                <a:ext uri="{28A0092B-C50C-407E-A947-70E740481C1C}">
                  <a14:useLocalDpi xmlns:a14="http://schemas.microsoft.com/office/drawing/2010/main"/>
                </a:ext>
              </a:extLst>
            </a:blip>
            <a:stretch>
              <a:fillRect/>
            </a:stretch>
          </p:blipFill>
          <p:spPr>
            <a:xfrm>
              <a:off x="1239837" y="1744662"/>
              <a:ext cx="149225" cy="149225"/>
            </a:xfrm>
            <a:prstGeom prst="rect">
              <a:avLst/>
            </a:prstGeom>
          </p:spPr>
        </p:pic>
        <p:pic>
          <p:nvPicPr>
            <p:cNvPr id="9" name="object 9"/>
            <p:cNvPicPr/>
            <p:nvPr/>
          </p:nvPicPr>
          <p:blipFill>
            <a:blip r:embed="rId6" cstate="email">
              <a:extLst>
                <a:ext uri="{28A0092B-C50C-407E-A947-70E740481C1C}">
                  <a14:useLocalDpi xmlns:a14="http://schemas.microsoft.com/office/drawing/2010/main"/>
                </a:ext>
              </a:extLst>
            </a:blip>
            <a:stretch>
              <a:fillRect/>
            </a:stretch>
          </p:blipFill>
          <p:spPr>
            <a:xfrm>
              <a:off x="1487487" y="1744662"/>
              <a:ext cx="149225" cy="149225"/>
            </a:xfrm>
            <a:prstGeom prst="rect">
              <a:avLst/>
            </a:prstGeom>
          </p:spPr>
        </p:pic>
        <p:sp>
          <p:nvSpPr>
            <p:cNvPr id="10" name="object 10"/>
            <p:cNvSpPr/>
            <p:nvPr/>
          </p:nvSpPr>
          <p:spPr>
            <a:xfrm>
              <a:off x="2690876" y="3243199"/>
              <a:ext cx="9501505" cy="76200"/>
            </a:xfrm>
            <a:custGeom>
              <a:avLst/>
              <a:gdLst/>
              <a:ahLst/>
              <a:cxnLst/>
              <a:rect l="l" t="t" r="r" b="b"/>
              <a:pathLst>
                <a:path w="9501505" h="76200">
                  <a:moveTo>
                    <a:pt x="38100" y="0"/>
                  </a:moveTo>
                  <a:lnTo>
                    <a:pt x="23252" y="3006"/>
                  </a:lnTo>
                  <a:lnTo>
                    <a:pt x="11144" y="11191"/>
                  </a:lnTo>
                  <a:lnTo>
                    <a:pt x="2988" y="23306"/>
                  </a:lnTo>
                  <a:lnTo>
                    <a:pt x="0" y="38100"/>
                  </a:lnTo>
                  <a:lnTo>
                    <a:pt x="2988" y="52947"/>
                  </a:lnTo>
                  <a:lnTo>
                    <a:pt x="11144" y="65055"/>
                  </a:lnTo>
                  <a:lnTo>
                    <a:pt x="23252" y="73211"/>
                  </a:lnTo>
                  <a:lnTo>
                    <a:pt x="38100" y="76200"/>
                  </a:lnTo>
                  <a:lnTo>
                    <a:pt x="52893" y="73211"/>
                  </a:lnTo>
                  <a:lnTo>
                    <a:pt x="65008" y="65055"/>
                  </a:lnTo>
                  <a:lnTo>
                    <a:pt x="73193" y="52947"/>
                  </a:lnTo>
                  <a:lnTo>
                    <a:pt x="74888" y="44576"/>
                  </a:lnTo>
                  <a:lnTo>
                    <a:pt x="38100" y="44576"/>
                  </a:lnTo>
                  <a:lnTo>
                    <a:pt x="38100" y="31876"/>
                  </a:lnTo>
                  <a:lnTo>
                    <a:pt x="74935" y="31876"/>
                  </a:lnTo>
                  <a:lnTo>
                    <a:pt x="73193" y="23306"/>
                  </a:lnTo>
                  <a:lnTo>
                    <a:pt x="65008" y="11191"/>
                  </a:lnTo>
                  <a:lnTo>
                    <a:pt x="52893" y="3006"/>
                  </a:lnTo>
                  <a:lnTo>
                    <a:pt x="38100" y="0"/>
                  </a:lnTo>
                  <a:close/>
                </a:path>
                <a:path w="9501505" h="76200">
                  <a:moveTo>
                    <a:pt x="74935" y="31876"/>
                  </a:moveTo>
                  <a:lnTo>
                    <a:pt x="38100" y="31876"/>
                  </a:lnTo>
                  <a:lnTo>
                    <a:pt x="38100" y="44576"/>
                  </a:lnTo>
                  <a:lnTo>
                    <a:pt x="74888" y="44576"/>
                  </a:lnTo>
                  <a:lnTo>
                    <a:pt x="76200" y="38100"/>
                  </a:lnTo>
                  <a:lnTo>
                    <a:pt x="74935" y="31876"/>
                  </a:lnTo>
                  <a:close/>
                </a:path>
                <a:path w="9501505" h="76200">
                  <a:moveTo>
                    <a:pt x="9501124" y="31876"/>
                  </a:moveTo>
                  <a:lnTo>
                    <a:pt x="74935" y="31876"/>
                  </a:lnTo>
                  <a:lnTo>
                    <a:pt x="76200" y="38100"/>
                  </a:lnTo>
                  <a:lnTo>
                    <a:pt x="74888" y="44576"/>
                  </a:lnTo>
                  <a:lnTo>
                    <a:pt x="9501124" y="44576"/>
                  </a:lnTo>
                  <a:lnTo>
                    <a:pt x="9501124" y="31876"/>
                  </a:lnTo>
                  <a:close/>
                </a:path>
              </a:pathLst>
            </a:custGeom>
            <a:solidFill>
              <a:srgbClr val="585858"/>
            </a:solidFill>
          </p:spPr>
          <p:txBody>
            <a:bodyPr wrap="square" lIns="0" tIns="0" rIns="0" bIns="0" rtlCol="0"/>
            <a:lstStyle/>
            <a:p>
              <a:endParaRPr dirty="0"/>
            </a:p>
          </p:txBody>
        </p:sp>
        <p:sp>
          <p:nvSpPr>
            <p:cNvPr id="11" name="object 11"/>
            <p:cNvSpPr/>
            <p:nvPr/>
          </p:nvSpPr>
          <p:spPr>
            <a:xfrm>
              <a:off x="1133475" y="6010275"/>
              <a:ext cx="7343775" cy="600075"/>
            </a:xfrm>
            <a:custGeom>
              <a:avLst/>
              <a:gdLst/>
              <a:ahLst/>
              <a:cxnLst/>
              <a:rect l="l" t="t" r="r" b="b"/>
              <a:pathLst>
                <a:path w="7343775" h="600075">
                  <a:moveTo>
                    <a:pt x="590550" y="98425"/>
                  </a:moveTo>
                  <a:lnTo>
                    <a:pt x="582803" y="60121"/>
                  </a:lnTo>
                  <a:lnTo>
                    <a:pt x="561721" y="28829"/>
                  </a:lnTo>
                  <a:lnTo>
                    <a:pt x="530428" y="7747"/>
                  </a:lnTo>
                  <a:lnTo>
                    <a:pt x="492125" y="0"/>
                  </a:lnTo>
                  <a:lnTo>
                    <a:pt x="98425" y="0"/>
                  </a:lnTo>
                  <a:lnTo>
                    <a:pt x="60109" y="7747"/>
                  </a:lnTo>
                  <a:lnTo>
                    <a:pt x="28829" y="28829"/>
                  </a:lnTo>
                  <a:lnTo>
                    <a:pt x="7734" y="60121"/>
                  </a:lnTo>
                  <a:lnTo>
                    <a:pt x="0" y="98425"/>
                  </a:lnTo>
                  <a:lnTo>
                    <a:pt x="0" y="501650"/>
                  </a:lnTo>
                  <a:lnTo>
                    <a:pt x="7734" y="539965"/>
                  </a:lnTo>
                  <a:lnTo>
                    <a:pt x="28829" y="571246"/>
                  </a:lnTo>
                  <a:lnTo>
                    <a:pt x="60109" y="592340"/>
                  </a:lnTo>
                  <a:lnTo>
                    <a:pt x="98425" y="600075"/>
                  </a:lnTo>
                  <a:lnTo>
                    <a:pt x="492125" y="600075"/>
                  </a:lnTo>
                  <a:lnTo>
                    <a:pt x="530428" y="592340"/>
                  </a:lnTo>
                  <a:lnTo>
                    <a:pt x="561721" y="571246"/>
                  </a:lnTo>
                  <a:lnTo>
                    <a:pt x="582803" y="539965"/>
                  </a:lnTo>
                  <a:lnTo>
                    <a:pt x="590550" y="501650"/>
                  </a:lnTo>
                  <a:lnTo>
                    <a:pt x="590550" y="98425"/>
                  </a:lnTo>
                  <a:close/>
                </a:path>
                <a:path w="7343775" h="600075">
                  <a:moveTo>
                    <a:pt x="3724275" y="100012"/>
                  </a:moveTo>
                  <a:lnTo>
                    <a:pt x="3716401" y="61087"/>
                  </a:lnTo>
                  <a:lnTo>
                    <a:pt x="3694950" y="29298"/>
                  </a:lnTo>
                  <a:lnTo>
                    <a:pt x="3663137" y="7861"/>
                  </a:lnTo>
                  <a:lnTo>
                    <a:pt x="3624199" y="0"/>
                  </a:lnTo>
                  <a:lnTo>
                    <a:pt x="3224276" y="0"/>
                  </a:lnTo>
                  <a:lnTo>
                    <a:pt x="3185325" y="7861"/>
                  </a:lnTo>
                  <a:lnTo>
                    <a:pt x="3153511" y="29298"/>
                  </a:lnTo>
                  <a:lnTo>
                    <a:pt x="3132061" y="61087"/>
                  </a:lnTo>
                  <a:lnTo>
                    <a:pt x="3124200" y="100012"/>
                  </a:lnTo>
                  <a:lnTo>
                    <a:pt x="3124200" y="500062"/>
                  </a:lnTo>
                  <a:lnTo>
                    <a:pt x="3132061" y="539000"/>
                  </a:lnTo>
                  <a:lnTo>
                    <a:pt x="3153511" y="570788"/>
                  </a:lnTo>
                  <a:lnTo>
                    <a:pt x="3185325" y="592226"/>
                  </a:lnTo>
                  <a:lnTo>
                    <a:pt x="3224276" y="600075"/>
                  </a:lnTo>
                  <a:lnTo>
                    <a:pt x="3624199" y="600075"/>
                  </a:lnTo>
                  <a:lnTo>
                    <a:pt x="3663137" y="592226"/>
                  </a:lnTo>
                  <a:lnTo>
                    <a:pt x="3694950" y="570788"/>
                  </a:lnTo>
                  <a:lnTo>
                    <a:pt x="3716401" y="539000"/>
                  </a:lnTo>
                  <a:lnTo>
                    <a:pt x="3724275" y="500062"/>
                  </a:lnTo>
                  <a:lnTo>
                    <a:pt x="3724275" y="100012"/>
                  </a:lnTo>
                  <a:close/>
                </a:path>
                <a:path w="7343775" h="600075">
                  <a:moveTo>
                    <a:pt x="7343775" y="98425"/>
                  </a:moveTo>
                  <a:lnTo>
                    <a:pt x="7336028" y="60121"/>
                  </a:lnTo>
                  <a:lnTo>
                    <a:pt x="7314946" y="28829"/>
                  </a:lnTo>
                  <a:lnTo>
                    <a:pt x="7283653" y="7747"/>
                  </a:lnTo>
                  <a:lnTo>
                    <a:pt x="7245350" y="0"/>
                  </a:lnTo>
                  <a:lnTo>
                    <a:pt x="6851650" y="0"/>
                  </a:lnTo>
                  <a:lnTo>
                    <a:pt x="6813334" y="7747"/>
                  </a:lnTo>
                  <a:lnTo>
                    <a:pt x="6782054" y="28829"/>
                  </a:lnTo>
                  <a:lnTo>
                    <a:pt x="6760959" y="60121"/>
                  </a:lnTo>
                  <a:lnTo>
                    <a:pt x="6753225" y="98425"/>
                  </a:lnTo>
                  <a:lnTo>
                    <a:pt x="6753225" y="501650"/>
                  </a:lnTo>
                  <a:lnTo>
                    <a:pt x="6760959" y="539965"/>
                  </a:lnTo>
                  <a:lnTo>
                    <a:pt x="6782054" y="571246"/>
                  </a:lnTo>
                  <a:lnTo>
                    <a:pt x="6813334" y="592340"/>
                  </a:lnTo>
                  <a:lnTo>
                    <a:pt x="6851650" y="600075"/>
                  </a:lnTo>
                  <a:lnTo>
                    <a:pt x="7245350" y="600075"/>
                  </a:lnTo>
                  <a:lnTo>
                    <a:pt x="7283653" y="592340"/>
                  </a:lnTo>
                  <a:lnTo>
                    <a:pt x="7314933" y="571246"/>
                  </a:lnTo>
                  <a:lnTo>
                    <a:pt x="7336028" y="539965"/>
                  </a:lnTo>
                  <a:lnTo>
                    <a:pt x="7343775" y="501650"/>
                  </a:lnTo>
                  <a:lnTo>
                    <a:pt x="7343775" y="98425"/>
                  </a:lnTo>
                  <a:close/>
                </a:path>
              </a:pathLst>
            </a:custGeom>
            <a:solidFill>
              <a:srgbClr val="111535"/>
            </a:solidFill>
          </p:spPr>
          <p:txBody>
            <a:bodyPr wrap="square" lIns="0" tIns="0" rIns="0" bIns="0" rtlCol="0"/>
            <a:lstStyle/>
            <a:p>
              <a:endParaRPr dirty="0"/>
            </a:p>
          </p:txBody>
        </p:sp>
        <p:sp>
          <p:nvSpPr>
            <p:cNvPr id="12" name="object 12"/>
            <p:cNvSpPr/>
            <p:nvPr/>
          </p:nvSpPr>
          <p:spPr>
            <a:xfrm>
              <a:off x="1291234" y="6167196"/>
              <a:ext cx="3439795" cy="283845"/>
            </a:xfrm>
            <a:custGeom>
              <a:avLst/>
              <a:gdLst/>
              <a:ahLst/>
              <a:cxnLst/>
              <a:rect l="l" t="t" r="r" b="b"/>
              <a:pathLst>
                <a:path w="3439795" h="283845">
                  <a:moveTo>
                    <a:pt x="53136" y="0"/>
                  </a:moveTo>
                  <a:lnTo>
                    <a:pt x="44145" y="0"/>
                  </a:lnTo>
                  <a:lnTo>
                    <a:pt x="38125" y="2768"/>
                  </a:lnTo>
                  <a:lnTo>
                    <a:pt x="53136" y="2768"/>
                  </a:lnTo>
                  <a:lnTo>
                    <a:pt x="53136" y="0"/>
                  </a:lnTo>
                  <a:close/>
                </a:path>
                <a:path w="3439795" h="283845">
                  <a:moveTo>
                    <a:pt x="84061" y="8051"/>
                  </a:moveTo>
                  <a:lnTo>
                    <a:pt x="83121" y="6553"/>
                  </a:lnTo>
                  <a:lnTo>
                    <a:pt x="80175" y="3683"/>
                  </a:lnTo>
                  <a:lnTo>
                    <a:pt x="78422" y="2768"/>
                  </a:lnTo>
                  <a:lnTo>
                    <a:pt x="66382" y="2768"/>
                  </a:lnTo>
                  <a:lnTo>
                    <a:pt x="53136" y="2768"/>
                  </a:lnTo>
                  <a:lnTo>
                    <a:pt x="53136" y="8051"/>
                  </a:lnTo>
                  <a:lnTo>
                    <a:pt x="66382" y="8051"/>
                  </a:lnTo>
                  <a:lnTo>
                    <a:pt x="84061" y="8051"/>
                  </a:lnTo>
                  <a:close/>
                </a:path>
                <a:path w="3439795" h="283845">
                  <a:moveTo>
                    <a:pt x="85128" y="9944"/>
                  </a:moveTo>
                  <a:lnTo>
                    <a:pt x="82956" y="9944"/>
                  </a:lnTo>
                  <a:lnTo>
                    <a:pt x="77698" y="13106"/>
                  </a:lnTo>
                  <a:lnTo>
                    <a:pt x="85128" y="9944"/>
                  </a:lnTo>
                  <a:close/>
                </a:path>
                <a:path w="3439795" h="283845">
                  <a:moveTo>
                    <a:pt x="183654" y="200837"/>
                  </a:moveTo>
                  <a:lnTo>
                    <a:pt x="162775" y="200837"/>
                  </a:lnTo>
                  <a:lnTo>
                    <a:pt x="170903" y="203238"/>
                  </a:lnTo>
                  <a:lnTo>
                    <a:pt x="179260" y="202692"/>
                  </a:lnTo>
                  <a:lnTo>
                    <a:pt x="183654" y="200837"/>
                  </a:lnTo>
                  <a:close/>
                </a:path>
                <a:path w="3439795" h="283845">
                  <a:moveTo>
                    <a:pt x="201549" y="208013"/>
                  </a:moveTo>
                  <a:lnTo>
                    <a:pt x="159156" y="208013"/>
                  </a:lnTo>
                  <a:lnTo>
                    <a:pt x="162775" y="200837"/>
                  </a:lnTo>
                  <a:lnTo>
                    <a:pt x="143992" y="189788"/>
                  </a:lnTo>
                  <a:lnTo>
                    <a:pt x="125882" y="176072"/>
                  </a:lnTo>
                  <a:lnTo>
                    <a:pt x="109270" y="160451"/>
                  </a:lnTo>
                  <a:lnTo>
                    <a:pt x="94983" y="143700"/>
                  </a:lnTo>
                  <a:lnTo>
                    <a:pt x="82143" y="153416"/>
                  </a:lnTo>
                  <a:lnTo>
                    <a:pt x="115646" y="188252"/>
                  </a:lnTo>
                  <a:lnTo>
                    <a:pt x="155536" y="215201"/>
                  </a:lnTo>
                  <a:lnTo>
                    <a:pt x="169329" y="219278"/>
                  </a:lnTo>
                  <a:lnTo>
                    <a:pt x="183045" y="218325"/>
                  </a:lnTo>
                  <a:lnTo>
                    <a:pt x="195719" y="212979"/>
                  </a:lnTo>
                  <a:lnTo>
                    <a:pt x="201549" y="208013"/>
                  </a:lnTo>
                  <a:close/>
                </a:path>
                <a:path w="3439795" h="283845">
                  <a:moveTo>
                    <a:pt x="202882" y="200837"/>
                  </a:moveTo>
                  <a:lnTo>
                    <a:pt x="194246" y="193319"/>
                  </a:lnTo>
                  <a:lnTo>
                    <a:pt x="187236" y="199326"/>
                  </a:lnTo>
                  <a:lnTo>
                    <a:pt x="183654" y="200837"/>
                  </a:lnTo>
                  <a:lnTo>
                    <a:pt x="202882" y="200837"/>
                  </a:lnTo>
                  <a:close/>
                </a:path>
                <a:path w="3439795" h="283845">
                  <a:moveTo>
                    <a:pt x="282524" y="208013"/>
                  </a:moveTo>
                  <a:lnTo>
                    <a:pt x="274320" y="203885"/>
                  </a:lnTo>
                  <a:lnTo>
                    <a:pt x="206400" y="203885"/>
                  </a:lnTo>
                  <a:lnTo>
                    <a:pt x="201549" y="208013"/>
                  </a:lnTo>
                  <a:lnTo>
                    <a:pt x="282524" y="208013"/>
                  </a:lnTo>
                  <a:close/>
                </a:path>
                <a:path w="3439795" h="283845">
                  <a:moveTo>
                    <a:pt x="303022" y="203885"/>
                  </a:moveTo>
                  <a:lnTo>
                    <a:pt x="301421" y="201714"/>
                  </a:lnTo>
                  <a:lnTo>
                    <a:pt x="287896" y="201714"/>
                  </a:lnTo>
                  <a:lnTo>
                    <a:pt x="288340" y="200837"/>
                  </a:lnTo>
                  <a:lnTo>
                    <a:pt x="300774" y="200837"/>
                  </a:lnTo>
                  <a:lnTo>
                    <a:pt x="299123" y="198602"/>
                  </a:lnTo>
                  <a:lnTo>
                    <a:pt x="289458" y="198602"/>
                  </a:lnTo>
                  <a:lnTo>
                    <a:pt x="291515" y="194538"/>
                  </a:lnTo>
                  <a:lnTo>
                    <a:pt x="263829" y="180594"/>
                  </a:lnTo>
                  <a:lnTo>
                    <a:pt x="263829" y="198602"/>
                  </a:lnTo>
                  <a:lnTo>
                    <a:pt x="210972" y="198602"/>
                  </a:lnTo>
                  <a:lnTo>
                    <a:pt x="214553" y="194322"/>
                  </a:lnTo>
                  <a:lnTo>
                    <a:pt x="218122" y="189928"/>
                  </a:lnTo>
                  <a:lnTo>
                    <a:pt x="246608" y="189928"/>
                  </a:lnTo>
                  <a:lnTo>
                    <a:pt x="236512" y="184848"/>
                  </a:lnTo>
                  <a:lnTo>
                    <a:pt x="226212" y="184848"/>
                  </a:lnTo>
                  <a:lnTo>
                    <a:pt x="231216" y="183616"/>
                  </a:lnTo>
                  <a:lnTo>
                    <a:pt x="235826" y="184086"/>
                  </a:lnTo>
                  <a:lnTo>
                    <a:pt x="234988" y="184086"/>
                  </a:lnTo>
                  <a:lnTo>
                    <a:pt x="236512" y="184848"/>
                  </a:lnTo>
                  <a:lnTo>
                    <a:pt x="237147" y="185166"/>
                  </a:lnTo>
                  <a:lnTo>
                    <a:pt x="237934" y="183616"/>
                  </a:lnTo>
                  <a:lnTo>
                    <a:pt x="237159" y="185166"/>
                  </a:lnTo>
                  <a:lnTo>
                    <a:pt x="246608" y="189928"/>
                  </a:lnTo>
                  <a:lnTo>
                    <a:pt x="263829" y="198602"/>
                  </a:lnTo>
                  <a:lnTo>
                    <a:pt x="263829" y="180594"/>
                  </a:lnTo>
                  <a:lnTo>
                    <a:pt x="258660" y="177977"/>
                  </a:lnTo>
                  <a:lnTo>
                    <a:pt x="240766" y="177977"/>
                  </a:lnTo>
                  <a:lnTo>
                    <a:pt x="244386" y="170802"/>
                  </a:lnTo>
                  <a:lnTo>
                    <a:pt x="237744" y="167449"/>
                  </a:lnTo>
                  <a:lnTo>
                    <a:pt x="229552" y="167449"/>
                  </a:lnTo>
                  <a:lnTo>
                    <a:pt x="216750" y="170611"/>
                  </a:lnTo>
                  <a:lnTo>
                    <a:pt x="210121" y="174256"/>
                  </a:lnTo>
                  <a:lnTo>
                    <a:pt x="205638" y="179781"/>
                  </a:lnTo>
                  <a:lnTo>
                    <a:pt x="202145" y="184086"/>
                  </a:lnTo>
                  <a:lnTo>
                    <a:pt x="198221" y="188760"/>
                  </a:lnTo>
                  <a:lnTo>
                    <a:pt x="194259" y="193319"/>
                  </a:lnTo>
                  <a:lnTo>
                    <a:pt x="202882" y="200837"/>
                  </a:lnTo>
                  <a:lnTo>
                    <a:pt x="206400" y="203885"/>
                  </a:lnTo>
                  <a:lnTo>
                    <a:pt x="209042" y="200837"/>
                  </a:lnTo>
                  <a:lnTo>
                    <a:pt x="268262" y="200837"/>
                  </a:lnTo>
                  <a:lnTo>
                    <a:pt x="274320" y="203885"/>
                  </a:lnTo>
                  <a:lnTo>
                    <a:pt x="286804" y="203885"/>
                  </a:lnTo>
                  <a:lnTo>
                    <a:pt x="303022" y="203885"/>
                  </a:lnTo>
                  <a:close/>
                </a:path>
                <a:path w="3439795" h="283845">
                  <a:moveTo>
                    <a:pt x="304380" y="208013"/>
                  </a:moveTo>
                  <a:lnTo>
                    <a:pt x="284721" y="208013"/>
                  </a:lnTo>
                  <a:lnTo>
                    <a:pt x="282524" y="208013"/>
                  </a:lnTo>
                  <a:lnTo>
                    <a:pt x="284276" y="208902"/>
                  </a:lnTo>
                  <a:lnTo>
                    <a:pt x="286918" y="210235"/>
                  </a:lnTo>
                  <a:lnTo>
                    <a:pt x="288277" y="212598"/>
                  </a:lnTo>
                  <a:lnTo>
                    <a:pt x="288201" y="216522"/>
                  </a:lnTo>
                  <a:lnTo>
                    <a:pt x="269392" y="253898"/>
                  </a:lnTo>
                  <a:lnTo>
                    <a:pt x="266369" y="255993"/>
                  </a:lnTo>
                  <a:lnTo>
                    <a:pt x="266369" y="263080"/>
                  </a:lnTo>
                  <a:lnTo>
                    <a:pt x="265811" y="262267"/>
                  </a:lnTo>
                  <a:lnTo>
                    <a:pt x="265125" y="260908"/>
                  </a:lnTo>
                  <a:lnTo>
                    <a:pt x="265938" y="262267"/>
                  </a:lnTo>
                  <a:lnTo>
                    <a:pt x="266369" y="263080"/>
                  </a:lnTo>
                  <a:lnTo>
                    <a:pt x="266369" y="255993"/>
                  </a:lnTo>
                  <a:lnTo>
                    <a:pt x="263182" y="258191"/>
                  </a:lnTo>
                  <a:lnTo>
                    <a:pt x="255155" y="262267"/>
                  </a:lnTo>
                  <a:lnTo>
                    <a:pt x="242239" y="266115"/>
                  </a:lnTo>
                  <a:lnTo>
                    <a:pt x="224294" y="267284"/>
                  </a:lnTo>
                  <a:lnTo>
                    <a:pt x="200901" y="263474"/>
                  </a:lnTo>
                  <a:lnTo>
                    <a:pt x="149834" y="243751"/>
                  </a:lnTo>
                  <a:lnTo>
                    <a:pt x="107607" y="216522"/>
                  </a:lnTo>
                  <a:lnTo>
                    <a:pt x="73583" y="184696"/>
                  </a:lnTo>
                  <a:lnTo>
                    <a:pt x="47078" y="151168"/>
                  </a:lnTo>
                  <a:lnTo>
                    <a:pt x="29984" y="123050"/>
                  </a:lnTo>
                  <a:lnTo>
                    <a:pt x="32054" y="126428"/>
                  </a:lnTo>
                  <a:lnTo>
                    <a:pt x="74295" y="126428"/>
                  </a:lnTo>
                  <a:lnTo>
                    <a:pt x="75006" y="138595"/>
                  </a:lnTo>
                  <a:lnTo>
                    <a:pt x="82143" y="153416"/>
                  </a:lnTo>
                  <a:lnTo>
                    <a:pt x="94970" y="143700"/>
                  </a:lnTo>
                  <a:lnTo>
                    <a:pt x="90703" y="134797"/>
                  </a:lnTo>
                  <a:lnTo>
                    <a:pt x="90170" y="126428"/>
                  </a:lnTo>
                  <a:lnTo>
                    <a:pt x="90081" y="124891"/>
                  </a:lnTo>
                  <a:lnTo>
                    <a:pt x="92951" y="114795"/>
                  </a:lnTo>
                  <a:lnTo>
                    <a:pt x="99187" y="105321"/>
                  </a:lnTo>
                  <a:lnTo>
                    <a:pt x="101422" y="102781"/>
                  </a:lnTo>
                  <a:lnTo>
                    <a:pt x="101828" y="102285"/>
                  </a:lnTo>
                  <a:lnTo>
                    <a:pt x="95415" y="97485"/>
                  </a:lnTo>
                  <a:lnTo>
                    <a:pt x="101828" y="102285"/>
                  </a:lnTo>
                  <a:lnTo>
                    <a:pt x="104419" y="98844"/>
                  </a:lnTo>
                  <a:lnTo>
                    <a:pt x="107670" y="94234"/>
                  </a:lnTo>
                  <a:lnTo>
                    <a:pt x="110045" y="89331"/>
                  </a:lnTo>
                  <a:lnTo>
                    <a:pt x="110159" y="89115"/>
                  </a:lnTo>
                  <a:lnTo>
                    <a:pt x="113474" y="82169"/>
                  </a:lnTo>
                  <a:lnTo>
                    <a:pt x="113588" y="81927"/>
                  </a:lnTo>
                  <a:lnTo>
                    <a:pt x="112483" y="74764"/>
                  </a:lnTo>
                  <a:lnTo>
                    <a:pt x="112407" y="74295"/>
                  </a:lnTo>
                  <a:lnTo>
                    <a:pt x="109943" y="68491"/>
                  </a:lnTo>
                  <a:lnTo>
                    <a:pt x="96494" y="36753"/>
                  </a:lnTo>
                  <a:lnTo>
                    <a:pt x="96494" y="77978"/>
                  </a:lnTo>
                  <a:lnTo>
                    <a:pt x="96431" y="80530"/>
                  </a:lnTo>
                  <a:lnTo>
                    <a:pt x="95758" y="81927"/>
                  </a:lnTo>
                  <a:lnTo>
                    <a:pt x="95631" y="82169"/>
                  </a:lnTo>
                  <a:lnTo>
                    <a:pt x="93814" y="86055"/>
                  </a:lnTo>
                  <a:lnTo>
                    <a:pt x="91440" y="89331"/>
                  </a:lnTo>
                  <a:lnTo>
                    <a:pt x="89357" y="92138"/>
                  </a:lnTo>
                  <a:lnTo>
                    <a:pt x="88950" y="92621"/>
                  </a:lnTo>
                  <a:lnTo>
                    <a:pt x="87122" y="94665"/>
                  </a:lnTo>
                  <a:lnTo>
                    <a:pt x="78460" y="107911"/>
                  </a:lnTo>
                  <a:lnTo>
                    <a:pt x="74206" y="122643"/>
                  </a:lnTo>
                  <a:lnTo>
                    <a:pt x="29743" y="122643"/>
                  </a:lnTo>
                  <a:lnTo>
                    <a:pt x="27444" y="118859"/>
                  </a:lnTo>
                  <a:lnTo>
                    <a:pt x="16040" y="82600"/>
                  </a:lnTo>
                  <a:lnTo>
                    <a:pt x="19138" y="52273"/>
                  </a:lnTo>
                  <a:lnTo>
                    <a:pt x="30886" y="29806"/>
                  </a:lnTo>
                  <a:lnTo>
                    <a:pt x="45453" y="17094"/>
                  </a:lnTo>
                  <a:lnTo>
                    <a:pt x="47421" y="16090"/>
                  </a:lnTo>
                  <a:lnTo>
                    <a:pt x="53136" y="16090"/>
                  </a:lnTo>
                  <a:lnTo>
                    <a:pt x="66382" y="16090"/>
                  </a:lnTo>
                  <a:lnTo>
                    <a:pt x="68795" y="16090"/>
                  </a:lnTo>
                  <a:lnTo>
                    <a:pt x="69862" y="16459"/>
                  </a:lnTo>
                  <a:lnTo>
                    <a:pt x="70510" y="16776"/>
                  </a:lnTo>
                  <a:lnTo>
                    <a:pt x="70827" y="17233"/>
                  </a:lnTo>
                  <a:lnTo>
                    <a:pt x="95135" y="74764"/>
                  </a:lnTo>
                  <a:lnTo>
                    <a:pt x="96494" y="77978"/>
                  </a:lnTo>
                  <a:lnTo>
                    <a:pt x="96494" y="36753"/>
                  </a:lnTo>
                  <a:lnTo>
                    <a:pt x="85140" y="9944"/>
                  </a:lnTo>
                  <a:lnTo>
                    <a:pt x="77698" y="13106"/>
                  </a:lnTo>
                  <a:lnTo>
                    <a:pt x="82943" y="9944"/>
                  </a:lnTo>
                  <a:lnTo>
                    <a:pt x="66382" y="9944"/>
                  </a:lnTo>
                  <a:lnTo>
                    <a:pt x="53136" y="9944"/>
                  </a:lnTo>
                  <a:lnTo>
                    <a:pt x="41795" y="9944"/>
                  </a:lnTo>
                  <a:lnTo>
                    <a:pt x="38125" y="2768"/>
                  </a:lnTo>
                  <a:lnTo>
                    <a:pt x="18516" y="19507"/>
                  </a:lnTo>
                  <a:lnTo>
                    <a:pt x="3784" y="47459"/>
                  </a:lnTo>
                  <a:lnTo>
                    <a:pt x="0" y="83985"/>
                  </a:lnTo>
                  <a:lnTo>
                    <a:pt x="13246" y="126428"/>
                  </a:lnTo>
                  <a:lnTo>
                    <a:pt x="33769" y="160210"/>
                  </a:lnTo>
                  <a:lnTo>
                    <a:pt x="61658" y="195491"/>
                  </a:lnTo>
                  <a:lnTo>
                    <a:pt x="97637" y="229158"/>
                  </a:lnTo>
                  <a:lnTo>
                    <a:pt x="142646" y="258191"/>
                  </a:lnTo>
                  <a:lnTo>
                    <a:pt x="142811" y="258191"/>
                  </a:lnTo>
                  <a:lnTo>
                    <a:pt x="196723" y="279019"/>
                  </a:lnTo>
                  <a:lnTo>
                    <a:pt x="223875" y="283375"/>
                  </a:lnTo>
                  <a:lnTo>
                    <a:pt x="245224" y="281927"/>
                  </a:lnTo>
                  <a:lnTo>
                    <a:pt x="261061" y="277228"/>
                  </a:lnTo>
                  <a:lnTo>
                    <a:pt x="271678" y="271856"/>
                  </a:lnTo>
                  <a:lnTo>
                    <a:pt x="268947" y="267284"/>
                  </a:lnTo>
                  <a:lnTo>
                    <a:pt x="267474" y="264845"/>
                  </a:lnTo>
                  <a:lnTo>
                    <a:pt x="269062" y="267296"/>
                  </a:lnTo>
                  <a:lnTo>
                    <a:pt x="271602" y="271703"/>
                  </a:lnTo>
                  <a:lnTo>
                    <a:pt x="271678" y="271856"/>
                  </a:lnTo>
                  <a:lnTo>
                    <a:pt x="299554" y="241071"/>
                  </a:lnTo>
                  <a:lnTo>
                    <a:pt x="304088" y="219278"/>
                  </a:lnTo>
                  <a:lnTo>
                    <a:pt x="304152" y="218325"/>
                  </a:lnTo>
                  <a:lnTo>
                    <a:pt x="304266" y="216522"/>
                  </a:lnTo>
                  <a:lnTo>
                    <a:pt x="304380" y="208013"/>
                  </a:lnTo>
                  <a:close/>
                </a:path>
                <a:path w="3439795" h="283845">
                  <a:moveTo>
                    <a:pt x="3342652" y="55956"/>
                  </a:moveTo>
                  <a:lnTo>
                    <a:pt x="3340277" y="53644"/>
                  </a:lnTo>
                  <a:lnTo>
                    <a:pt x="3211728" y="53644"/>
                  </a:lnTo>
                  <a:lnTo>
                    <a:pt x="3209353" y="55956"/>
                  </a:lnTo>
                  <a:lnTo>
                    <a:pt x="3209353" y="61633"/>
                  </a:lnTo>
                  <a:lnTo>
                    <a:pt x="3211728" y="63931"/>
                  </a:lnTo>
                  <a:lnTo>
                    <a:pt x="3340277" y="63931"/>
                  </a:lnTo>
                  <a:lnTo>
                    <a:pt x="3342652" y="61633"/>
                  </a:lnTo>
                  <a:lnTo>
                    <a:pt x="3342652" y="55956"/>
                  </a:lnTo>
                  <a:close/>
                </a:path>
                <a:path w="3439795" h="283845">
                  <a:moveTo>
                    <a:pt x="3439274" y="45059"/>
                  </a:moveTo>
                  <a:lnTo>
                    <a:pt x="3438741" y="43916"/>
                  </a:lnTo>
                  <a:lnTo>
                    <a:pt x="3435604" y="37134"/>
                  </a:lnTo>
                  <a:lnTo>
                    <a:pt x="3430701" y="32359"/>
                  </a:lnTo>
                  <a:lnTo>
                    <a:pt x="3428682" y="30403"/>
                  </a:lnTo>
                  <a:lnTo>
                    <a:pt x="3428682" y="50228"/>
                  </a:lnTo>
                  <a:lnTo>
                    <a:pt x="3428682" y="225742"/>
                  </a:lnTo>
                  <a:lnTo>
                    <a:pt x="3428123" y="228434"/>
                  </a:lnTo>
                  <a:lnTo>
                    <a:pt x="3427095" y="230898"/>
                  </a:lnTo>
                  <a:lnTo>
                    <a:pt x="3420465" y="221615"/>
                  </a:lnTo>
                  <a:lnTo>
                    <a:pt x="3420465" y="239610"/>
                  </a:lnTo>
                  <a:lnTo>
                    <a:pt x="3416668" y="242582"/>
                  </a:lnTo>
                  <a:lnTo>
                    <a:pt x="3411880" y="244373"/>
                  </a:lnTo>
                  <a:lnTo>
                    <a:pt x="3140138" y="244373"/>
                  </a:lnTo>
                  <a:lnTo>
                    <a:pt x="3135312" y="242582"/>
                  </a:lnTo>
                  <a:lnTo>
                    <a:pt x="3131553" y="239610"/>
                  </a:lnTo>
                  <a:lnTo>
                    <a:pt x="3137725" y="230898"/>
                  </a:lnTo>
                  <a:lnTo>
                    <a:pt x="3206077" y="135051"/>
                  </a:lnTo>
                  <a:lnTo>
                    <a:pt x="3226587" y="158343"/>
                  </a:lnTo>
                  <a:lnTo>
                    <a:pt x="3229622" y="160591"/>
                  </a:lnTo>
                  <a:lnTo>
                    <a:pt x="3236430" y="163639"/>
                  </a:lnTo>
                  <a:lnTo>
                    <a:pt x="3240138" y="164426"/>
                  </a:lnTo>
                  <a:lnTo>
                    <a:pt x="3311842" y="164426"/>
                  </a:lnTo>
                  <a:lnTo>
                    <a:pt x="3345904" y="135051"/>
                  </a:lnTo>
                  <a:lnTo>
                    <a:pt x="3420465" y="239610"/>
                  </a:lnTo>
                  <a:lnTo>
                    <a:pt x="3420465" y="221615"/>
                  </a:lnTo>
                  <a:lnTo>
                    <a:pt x="3358743" y="135051"/>
                  </a:lnTo>
                  <a:lnTo>
                    <a:pt x="3353003" y="127012"/>
                  </a:lnTo>
                  <a:lnTo>
                    <a:pt x="3426180" y="43916"/>
                  </a:lnTo>
                  <a:lnTo>
                    <a:pt x="3427780" y="46875"/>
                  </a:lnTo>
                  <a:lnTo>
                    <a:pt x="3428682" y="50228"/>
                  </a:lnTo>
                  <a:lnTo>
                    <a:pt x="3428682" y="30403"/>
                  </a:lnTo>
                  <a:lnTo>
                    <a:pt x="3423793" y="25628"/>
                  </a:lnTo>
                  <a:lnTo>
                    <a:pt x="3419144" y="23609"/>
                  </a:lnTo>
                  <a:lnTo>
                    <a:pt x="3419144" y="36156"/>
                  </a:lnTo>
                  <a:lnTo>
                    <a:pt x="3318357" y="150558"/>
                  </a:lnTo>
                  <a:lnTo>
                    <a:pt x="3316503" y="151904"/>
                  </a:lnTo>
                  <a:lnTo>
                    <a:pt x="3312566" y="153695"/>
                  </a:lnTo>
                  <a:lnTo>
                    <a:pt x="3310331" y="154139"/>
                  </a:lnTo>
                  <a:lnTo>
                    <a:pt x="3241649" y="154139"/>
                  </a:lnTo>
                  <a:lnTo>
                    <a:pt x="3198990" y="111264"/>
                  </a:lnTo>
                  <a:lnTo>
                    <a:pt x="3198990" y="127012"/>
                  </a:lnTo>
                  <a:lnTo>
                    <a:pt x="3124898" y="230898"/>
                  </a:lnTo>
                  <a:lnTo>
                    <a:pt x="3123882" y="228434"/>
                  </a:lnTo>
                  <a:lnTo>
                    <a:pt x="3123311" y="225742"/>
                  </a:lnTo>
                  <a:lnTo>
                    <a:pt x="3123311" y="50228"/>
                  </a:lnTo>
                  <a:lnTo>
                    <a:pt x="3124212" y="46875"/>
                  </a:lnTo>
                  <a:lnTo>
                    <a:pt x="3125800" y="43916"/>
                  </a:lnTo>
                  <a:lnTo>
                    <a:pt x="3198990" y="127012"/>
                  </a:lnTo>
                  <a:lnTo>
                    <a:pt x="3198990" y="111264"/>
                  </a:lnTo>
                  <a:lnTo>
                    <a:pt x="3139681" y="43916"/>
                  </a:lnTo>
                  <a:lnTo>
                    <a:pt x="3132848" y="36156"/>
                  </a:lnTo>
                  <a:lnTo>
                    <a:pt x="3136404" y="33769"/>
                  </a:lnTo>
                  <a:lnTo>
                    <a:pt x="3140710" y="32359"/>
                  </a:lnTo>
                  <a:lnTo>
                    <a:pt x="3411270" y="32359"/>
                  </a:lnTo>
                  <a:lnTo>
                    <a:pt x="3415588" y="33769"/>
                  </a:lnTo>
                  <a:lnTo>
                    <a:pt x="3419144" y="36156"/>
                  </a:lnTo>
                  <a:lnTo>
                    <a:pt x="3419144" y="23609"/>
                  </a:lnTo>
                  <a:lnTo>
                    <a:pt x="3415627" y="22072"/>
                  </a:lnTo>
                  <a:lnTo>
                    <a:pt x="3136404" y="22072"/>
                  </a:lnTo>
                  <a:lnTo>
                    <a:pt x="3128238" y="25628"/>
                  </a:lnTo>
                  <a:lnTo>
                    <a:pt x="3116427" y="37134"/>
                  </a:lnTo>
                  <a:lnTo>
                    <a:pt x="3112757" y="45059"/>
                  </a:lnTo>
                  <a:lnTo>
                    <a:pt x="3112757" y="231673"/>
                  </a:lnTo>
                  <a:lnTo>
                    <a:pt x="3116427" y="239610"/>
                  </a:lnTo>
                  <a:lnTo>
                    <a:pt x="3128238" y="251104"/>
                  </a:lnTo>
                  <a:lnTo>
                    <a:pt x="3136392" y="254673"/>
                  </a:lnTo>
                  <a:lnTo>
                    <a:pt x="3415627" y="254673"/>
                  </a:lnTo>
                  <a:lnTo>
                    <a:pt x="3423793" y="251104"/>
                  </a:lnTo>
                  <a:lnTo>
                    <a:pt x="3430714" y="244373"/>
                  </a:lnTo>
                  <a:lnTo>
                    <a:pt x="3435604" y="239610"/>
                  </a:lnTo>
                  <a:lnTo>
                    <a:pt x="3439274" y="231673"/>
                  </a:lnTo>
                  <a:lnTo>
                    <a:pt x="3439274" y="230898"/>
                  </a:lnTo>
                  <a:lnTo>
                    <a:pt x="3439274" y="45059"/>
                  </a:lnTo>
                  <a:close/>
                </a:path>
              </a:pathLst>
            </a:custGeom>
            <a:solidFill>
              <a:srgbClr val="FFFFFF"/>
            </a:solidFill>
          </p:spPr>
          <p:txBody>
            <a:bodyPr wrap="square" lIns="0" tIns="0" rIns="0" bIns="0" rtlCol="0"/>
            <a:lstStyle/>
            <a:p>
              <a:endParaRPr dirty="0"/>
            </a:p>
          </p:txBody>
        </p:sp>
        <p:pic>
          <p:nvPicPr>
            <p:cNvPr id="13" name="object 13"/>
            <p:cNvPicPr/>
            <p:nvPr/>
          </p:nvPicPr>
          <p:blipFill>
            <a:blip r:embed="rId7" cstate="email">
              <a:extLst>
                <a:ext uri="{28A0092B-C50C-407E-A947-70E740481C1C}">
                  <a14:useLocalDpi xmlns:a14="http://schemas.microsoft.com/office/drawing/2010/main"/>
                </a:ext>
              </a:extLst>
            </a:blip>
            <a:stretch>
              <a:fillRect/>
            </a:stretch>
          </p:blipFill>
          <p:spPr>
            <a:xfrm>
              <a:off x="8072062" y="6373982"/>
              <a:ext cx="219835" cy="113066"/>
            </a:xfrm>
            <a:prstGeom prst="rect">
              <a:avLst/>
            </a:prstGeom>
          </p:spPr>
        </p:pic>
        <p:sp>
          <p:nvSpPr>
            <p:cNvPr id="14" name="object 14"/>
            <p:cNvSpPr/>
            <p:nvPr/>
          </p:nvSpPr>
          <p:spPr>
            <a:xfrm>
              <a:off x="8079448" y="6133600"/>
              <a:ext cx="205104" cy="294005"/>
            </a:xfrm>
            <a:custGeom>
              <a:avLst/>
              <a:gdLst/>
              <a:ahLst/>
              <a:cxnLst/>
              <a:rect l="l" t="t" r="r" b="b"/>
              <a:pathLst>
                <a:path w="205104" h="294004">
                  <a:moveTo>
                    <a:pt x="102551" y="0"/>
                  </a:moveTo>
                  <a:lnTo>
                    <a:pt x="62662" y="8202"/>
                  </a:lnTo>
                  <a:lnTo>
                    <a:pt x="30066" y="30557"/>
                  </a:lnTo>
                  <a:lnTo>
                    <a:pt x="8070" y="63682"/>
                  </a:lnTo>
                  <a:lnTo>
                    <a:pt x="0" y="104196"/>
                  </a:lnTo>
                  <a:lnTo>
                    <a:pt x="3030" y="126272"/>
                  </a:lnTo>
                  <a:lnTo>
                    <a:pt x="23235" y="176793"/>
                  </a:lnTo>
                  <a:lnTo>
                    <a:pt x="53419" y="229439"/>
                  </a:lnTo>
                  <a:lnTo>
                    <a:pt x="83942" y="274277"/>
                  </a:lnTo>
                  <a:lnTo>
                    <a:pt x="100169" y="293418"/>
                  </a:lnTo>
                  <a:lnTo>
                    <a:pt x="104897" y="293418"/>
                  </a:lnTo>
                  <a:lnTo>
                    <a:pt x="107132" y="292350"/>
                  </a:lnTo>
                  <a:lnTo>
                    <a:pt x="108631" y="290500"/>
                  </a:lnTo>
                  <a:lnTo>
                    <a:pt x="121120" y="274277"/>
                  </a:lnTo>
                  <a:lnTo>
                    <a:pt x="122366" y="272520"/>
                  </a:lnTo>
                  <a:lnTo>
                    <a:pt x="102536" y="272520"/>
                  </a:lnTo>
                  <a:lnTo>
                    <a:pt x="91043" y="256946"/>
                  </a:lnTo>
                  <a:lnTo>
                    <a:pt x="64653" y="217427"/>
                  </a:lnTo>
                  <a:lnTo>
                    <a:pt x="37460" y="169273"/>
                  </a:lnTo>
                  <a:lnTo>
                    <a:pt x="18588" y="121918"/>
                  </a:lnTo>
                  <a:lnTo>
                    <a:pt x="15821" y="104196"/>
                  </a:lnTo>
                  <a:lnTo>
                    <a:pt x="22623" y="69849"/>
                  </a:lnTo>
                  <a:lnTo>
                    <a:pt x="41187" y="41841"/>
                  </a:lnTo>
                  <a:lnTo>
                    <a:pt x="68746" y="22978"/>
                  </a:lnTo>
                  <a:lnTo>
                    <a:pt x="102535" y="16066"/>
                  </a:lnTo>
                  <a:lnTo>
                    <a:pt x="153876" y="16066"/>
                  </a:lnTo>
                  <a:lnTo>
                    <a:pt x="142409" y="8202"/>
                  </a:lnTo>
                  <a:lnTo>
                    <a:pt x="102551" y="0"/>
                  </a:lnTo>
                  <a:close/>
                </a:path>
                <a:path w="205104" h="294004">
                  <a:moveTo>
                    <a:pt x="153876" y="16066"/>
                  </a:moveTo>
                  <a:lnTo>
                    <a:pt x="102535" y="16066"/>
                  </a:lnTo>
                  <a:lnTo>
                    <a:pt x="136323" y="22978"/>
                  </a:lnTo>
                  <a:lnTo>
                    <a:pt x="163882" y="41841"/>
                  </a:lnTo>
                  <a:lnTo>
                    <a:pt x="182447" y="69849"/>
                  </a:lnTo>
                  <a:lnTo>
                    <a:pt x="189250" y="104196"/>
                  </a:lnTo>
                  <a:lnTo>
                    <a:pt x="186482" y="121918"/>
                  </a:lnTo>
                  <a:lnTo>
                    <a:pt x="167611" y="169273"/>
                  </a:lnTo>
                  <a:lnTo>
                    <a:pt x="140418" y="217427"/>
                  </a:lnTo>
                  <a:lnTo>
                    <a:pt x="114026" y="256946"/>
                  </a:lnTo>
                  <a:lnTo>
                    <a:pt x="102536" y="272520"/>
                  </a:lnTo>
                  <a:lnTo>
                    <a:pt x="122366" y="272520"/>
                  </a:lnTo>
                  <a:lnTo>
                    <a:pt x="151643" y="229439"/>
                  </a:lnTo>
                  <a:lnTo>
                    <a:pt x="181823" y="176793"/>
                  </a:lnTo>
                  <a:lnTo>
                    <a:pt x="202033" y="126272"/>
                  </a:lnTo>
                  <a:lnTo>
                    <a:pt x="205065" y="104196"/>
                  </a:lnTo>
                  <a:lnTo>
                    <a:pt x="196996" y="63682"/>
                  </a:lnTo>
                  <a:lnTo>
                    <a:pt x="175003" y="30557"/>
                  </a:lnTo>
                  <a:lnTo>
                    <a:pt x="153876" y="16066"/>
                  </a:lnTo>
                  <a:close/>
                </a:path>
              </a:pathLst>
            </a:custGeom>
            <a:solidFill>
              <a:srgbClr val="FFFFFF"/>
            </a:solidFill>
          </p:spPr>
          <p:txBody>
            <a:bodyPr wrap="square" lIns="0" tIns="0" rIns="0" bIns="0" rtlCol="0"/>
            <a:lstStyle/>
            <a:p>
              <a:endParaRPr dirty="0"/>
            </a:p>
          </p:txBody>
        </p:sp>
        <p:pic>
          <p:nvPicPr>
            <p:cNvPr id="15" name="object 15"/>
            <p:cNvPicPr/>
            <p:nvPr/>
          </p:nvPicPr>
          <p:blipFill>
            <a:blip r:embed="rId8" cstate="email">
              <a:extLst>
                <a:ext uri="{28A0092B-C50C-407E-A947-70E740481C1C}">
                  <a14:useLocalDpi xmlns:a14="http://schemas.microsoft.com/office/drawing/2010/main"/>
                </a:ext>
              </a:extLst>
            </a:blip>
            <a:stretch>
              <a:fillRect/>
            </a:stretch>
          </p:blipFill>
          <p:spPr>
            <a:xfrm>
              <a:off x="8132081" y="6185854"/>
              <a:ext cx="99803" cy="101443"/>
            </a:xfrm>
            <a:prstGeom prst="rect">
              <a:avLst/>
            </a:prstGeom>
          </p:spPr>
        </p:pic>
      </p:grpSp>
      <p:sp>
        <p:nvSpPr>
          <p:cNvPr id="16" name="object 16"/>
          <p:cNvSpPr txBox="1"/>
          <p:nvPr/>
        </p:nvSpPr>
        <p:spPr>
          <a:xfrm>
            <a:off x="8848725" y="4063936"/>
            <a:ext cx="2388870" cy="672465"/>
          </a:xfrm>
          <a:prstGeom prst="rect">
            <a:avLst/>
          </a:prstGeom>
        </p:spPr>
        <p:txBody>
          <a:bodyPr vert="horz" wrap="square" lIns="0" tIns="15875" rIns="0" bIns="0" rtlCol="0">
            <a:spAutoFit/>
          </a:bodyPr>
          <a:lstStyle/>
          <a:p>
            <a:pPr marL="12700">
              <a:lnSpc>
                <a:spcPct val="100000"/>
              </a:lnSpc>
              <a:spcBef>
                <a:spcPts val="125"/>
              </a:spcBef>
            </a:pPr>
            <a:r>
              <a:rPr sz="1400" dirty="0">
                <a:latin typeface="Arial"/>
                <a:cs typeface="Arial"/>
              </a:rPr>
              <a:t>Rajesh</a:t>
            </a:r>
            <a:r>
              <a:rPr sz="1400" spc="-60" dirty="0">
                <a:latin typeface="Arial"/>
                <a:cs typeface="Arial"/>
              </a:rPr>
              <a:t> </a:t>
            </a:r>
            <a:r>
              <a:rPr sz="1400" spc="-20" dirty="0">
                <a:latin typeface="Arial"/>
                <a:cs typeface="Arial"/>
              </a:rPr>
              <a:t>Kari</a:t>
            </a:r>
            <a:endParaRPr sz="1400" dirty="0">
              <a:latin typeface="Arial"/>
              <a:cs typeface="Arial"/>
            </a:endParaRPr>
          </a:p>
          <a:p>
            <a:pPr marL="12700">
              <a:lnSpc>
                <a:spcPts val="1664"/>
              </a:lnSpc>
              <a:spcBef>
                <a:spcPts val="50"/>
              </a:spcBef>
            </a:pPr>
            <a:r>
              <a:rPr sz="1400" dirty="0">
                <a:latin typeface="Arial"/>
                <a:cs typeface="Arial"/>
              </a:rPr>
              <a:t>Global</a:t>
            </a:r>
            <a:r>
              <a:rPr sz="1400" spc="-70" dirty="0">
                <a:latin typeface="Arial"/>
                <a:cs typeface="Arial"/>
              </a:rPr>
              <a:t> </a:t>
            </a:r>
            <a:r>
              <a:rPr sz="1400" dirty="0">
                <a:latin typeface="Arial"/>
                <a:cs typeface="Arial"/>
              </a:rPr>
              <a:t>Business</a:t>
            </a:r>
            <a:r>
              <a:rPr sz="1400" spc="-15" dirty="0">
                <a:latin typeface="Arial"/>
                <a:cs typeface="Arial"/>
              </a:rPr>
              <a:t> </a:t>
            </a:r>
            <a:r>
              <a:rPr sz="1400" spc="-10" dirty="0">
                <a:latin typeface="Arial"/>
                <a:cs typeface="Arial"/>
              </a:rPr>
              <a:t>Leader,</a:t>
            </a:r>
            <a:endParaRPr sz="1400" dirty="0">
              <a:latin typeface="Arial"/>
              <a:cs typeface="Arial"/>
            </a:endParaRPr>
          </a:p>
          <a:p>
            <a:pPr marL="12700">
              <a:lnSpc>
                <a:spcPts val="1664"/>
              </a:lnSpc>
            </a:pPr>
            <a:r>
              <a:rPr sz="1400" dirty="0">
                <a:latin typeface="Arial"/>
                <a:cs typeface="Arial"/>
              </a:rPr>
              <a:t>Vice</a:t>
            </a:r>
            <a:r>
              <a:rPr sz="1400" spc="-65" dirty="0">
                <a:latin typeface="Arial"/>
                <a:cs typeface="Arial"/>
              </a:rPr>
              <a:t> </a:t>
            </a:r>
            <a:r>
              <a:rPr sz="1400" dirty="0">
                <a:latin typeface="Arial"/>
                <a:cs typeface="Arial"/>
              </a:rPr>
              <a:t>President</a:t>
            </a:r>
            <a:r>
              <a:rPr sz="1400" spc="-30" dirty="0">
                <a:latin typeface="Arial"/>
                <a:cs typeface="Arial"/>
              </a:rPr>
              <a:t> </a:t>
            </a:r>
            <a:r>
              <a:rPr sz="1400" dirty="0">
                <a:latin typeface="Arial"/>
                <a:cs typeface="Arial"/>
              </a:rPr>
              <a:t>–</a:t>
            </a:r>
            <a:r>
              <a:rPr sz="1400" spc="-20" dirty="0">
                <a:latin typeface="Arial"/>
                <a:cs typeface="Arial"/>
              </a:rPr>
              <a:t> </a:t>
            </a:r>
            <a:r>
              <a:rPr sz="1400" dirty="0">
                <a:latin typeface="Arial"/>
                <a:cs typeface="Arial"/>
              </a:rPr>
              <a:t>Digital</a:t>
            </a:r>
            <a:r>
              <a:rPr sz="1400" spc="-40" dirty="0">
                <a:latin typeface="Arial"/>
                <a:cs typeface="Arial"/>
              </a:rPr>
              <a:t> </a:t>
            </a:r>
            <a:r>
              <a:rPr sz="1400" spc="-20" dirty="0">
                <a:latin typeface="Arial"/>
                <a:cs typeface="Arial"/>
              </a:rPr>
              <a:t>Media</a:t>
            </a:r>
            <a:endParaRPr sz="1400" dirty="0">
              <a:latin typeface="Arial"/>
              <a:cs typeface="Arial"/>
            </a:endParaRPr>
          </a:p>
        </p:txBody>
      </p:sp>
      <p:sp>
        <p:nvSpPr>
          <p:cNvPr id="17" name="object 17"/>
          <p:cNvSpPr txBox="1"/>
          <p:nvPr/>
        </p:nvSpPr>
        <p:spPr>
          <a:xfrm>
            <a:off x="1870075" y="5982715"/>
            <a:ext cx="1285240" cy="513080"/>
          </a:xfrm>
          <a:prstGeom prst="rect">
            <a:avLst/>
          </a:prstGeom>
        </p:spPr>
        <p:txBody>
          <a:bodyPr vert="horz" wrap="square" lIns="0" tIns="73660" rIns="0" bIns="0" rtlCol="0">
            <a:spAutoFit/>
          </a:bodyPr>
          <a:lstStyle/>
          <a:p>
            <a:pPr marL="55244">
              <a:lnSpc>
                <a:spcPct val="100000"/>
              </a:lnSpc>
              <a:spcBef>
                <a:spcPts val="580"/>
              </a:spcBef>
            </a:pPr>
            <a:r>
              <a:rPr sz="1200" spc="-10" dirty="0">
                <a:solidFill>
                  <a:srgbClr val="151C39"/>
                </a:solidFill>
                <a:latin typeface="Arial"/>
                <a:cs typeface="Arial"/>
              </a:rPr>
              <a:t>Contact:</a:t>
            </a:r>
            <a:endParaRPr sz="1200" dirty="0">
              <a:latin typeface="Arial"/>
              <a:cs typeface="Arial"/>
            </a:endParaRPr>
          </a:p>
          <a:p>
            <a:pPr marL="12700">
              <a:lnSpc>
                <a:spcPct val="100000"/>
              </a:lnSpc>
              <a:spcBef>
                <a:spcPts val="480"/>
              </a:spcBef>
            </a:pPr>
            <a:r>
              <a:rPr sz="1200" dirty="0">
                <a:solidFill>
                  <a:srgbClr val="151C39"/>
                </a:solidFill>
                <a:latin typeface="Arial"/>
                <a:cs typeface="Arial"/>
              </a:rPr>
              <a:t>+1</a:t>
            </a:r>
            <a:r>
              <a:rPr sz="1200" spc="40" dirty="0">
                <a:solidFill>
                  <a:srgbClr val="151C39"/>
                </a:solidFill>
                <a:latin typeface="Arial"/>
                <a:cs typeface="Arial"/>
              </a:rPr>
              <a:t> </a:t>
            </a:r>
            <a:r>
              <a:rPr sz="1200" spc="-10" dirty="0">
                <a:solidFill>
                  <a:srgbClr val="151C39"/>
                </a:solidFill>
                <a:latin typeface="Arial"/>
                <a:cs typeface="Arial"/>
              </a:rPr>
              <a:t>(469)</a:t>
            </a:r>
            <a:r>
              <a:rPr sz="1200" spc="-60" dirty="0">
                <a:solidFill>
                  <a:srgbClr val="151C39"/>
                </a:solidFill>
                <a:latin typeface="Arial"/>
                <a:cs typeface="Arial"/>
              </a:rPr>
              <a:t> </a:t>
            </a:r>
            <a:r>
              <a:rPr sz="1200" dirty="0">
                <a:solidFill>
                  <a:srgbClr val="151C39"/>
                </a:solidFill>
                <a:latin typeface="Arial"/>
                <a:cs typeface="Arial"/>
              </a:rPr>
              <a:t>360-</a:t>
            </a:r>
            <a:r>
              <a:rPr sz="1200" spc="-20" dirty="0">
                <a:solidFill>
                  <a:srgbClr val="151C39"/>
                </a:solidFill>
                <a:latin typeface="Arial"/>
                <a:cs typeface="Arial"/>
              </a:rPr>
              <a:t>1750</a:t>
            </a:r>
            <a:endParaRPr sz="1200" dirty="0">
              <a:latin typeface="Arial"/>
              <a:cs typeface="Arial"/>
            </a:endParaRPr>
          </a:p>
        </p:txBody>
      </p:sp>
      <p:sp>
        <p:nvSpPr>
          <p:cNvPr id="18" name="object 18"/>
          <p:cNvSpPr txBox="1"/>
          <p:nvPr/>
        </p:nvSpPr>
        <p:spPr>
          <a:xfrm>
            <a:off x="5031359" y="5982715"/>
            <a:ext cx="1936114" cy="513080"/>
          </a:xfrm>
          <a:prstGeom prst="rect">
            <a:avLst/>
          </a:prstGeom>
        </p:spPr>
        <p:txBody>
          <a:bodyPr vert="horz" wrap="square" lIns="0" tIns="12700" rIns="0" bIns="0" rtlCol="0">
            <a:spAutoFit/>
          </a:bodyPr>
          <a:lstStyle/>
          <a:p>
            <a:pPr marL="12700" marR="5080" indent="9525">
              <a:lnSpc>
                <a:spcPct val="133300"/>
              </a:lnSpc>
              <a:spcBef>
                <a:spcPts val="100"/>
              </a:spcBef>
            </a:pPr>
            <a:r>
              <a:rPr sz="1200" spc="-10" dirty="0">
                <a:solidFill>
                  <a:srgbClr val="151C39"/>
                </a:solidFill>
                <a:latin typeface="Arial"/>
                <a:cs typeface="Arial"/>
              </a:rPr>
              <a:t>Email: </a:t>
            </a:r>
            <a:r>
              <a:rPr sz="1200" spc="-10" dirty="0">
                <a:solidFill>
                  <a:srgbClr val="151C39"/>
                </a:solidFill>
                <a:latin typeface="Arial"/>
                <a:cs typeface="Arial"/>
                <a:hlinkClick r:id="rId9"/>
              </a:rPr>
              <a:t>Rajesh.Kari@Infovision.com</a:t>
            </a:r>
            <a:endParaRPr sz="1200" dirty="0">
              <a:latin typeface="Arial"/>
              <a:cs typeface="Arial"/>
            </a:endParaRPr>
          </a:p>
        </p:txBody>
      </p:sp>
      <p:sp>
        <p:nvSpPr>
          <p:cNvPr id="19" name="object 19"/>
          <p:cNvSpPr txBox="1"/>
          <p:nvPr/>
        </p:nvSpPr>
        <p:spPr>
          <a:xfrm>
            <a:off x="8676005" y="5982715"/>
            <a:ext cx="2278380" cy="694690"/>
          </a:xfrm>
          <a:prstGeom prst="rect">
            <a:avLst/>
          </a:prstGeom>
        </p:spPr>
        <p:txBody>
          <a:bodyPr vert="horz" wrap="square" lIns="0" tIns="73660" rIns="0" bIns="0" rtlCol="0">
            <a:spAutoFit/>
          </a:bodyPr>
          <a:lstStyle/>
          <a:p>
            <a:pPr marL="19685">
              <a:lnSpc>
                <a:spcPct val="100000"/>
              </a:lnSpc>
              <a:spcBef>
                <a:spcPts val="580"/>
              </a:spcBef>
            </a:pPr>
            <a:r>
              <a:rPr sz="1200" spc="-10" dirty="0">
                <a:solidFill>
                  <a:srgbClr val="151C39"/>
                </a:solidFill>
                <a:latin typeface="Arial"/>
                <a:cs typeface="Arial"/>
              </a:rPr>
              <a:t>Address:</a:t>
            </a:r>
            <a:endParaRPr sz="1200" dirty="0">
              <a:latin typeface="Arial"/>
              <a:cs typeface="Arial"/>
            </a:endParaRPr>
          </a:p>
          <a:p>
            <a:pPr marL="12700">
              <a:lnSpc>
                <a:spcPts val="1435"/>
              </a:lnSpc>
              <a:spcBef>
                <a:spcPts val="480"/>
              </a:spcBef>
            </a:pPr>
            <a:r>
              <a:rPr sz="1200" dirty="0">
                <a:solidFill>
                  <a:srgbClr val="151C39"/>
                </a:solidFill>
                <a:latin typeface="Arial"/>
                <a:cs typeface="Arial"/>
              </a:rPr>
              <a:t>800</a:t>
            </a:r>
            <a:r>
              <a:rPr sz="1200" spc="-45" dirty="0">
                <a:solidFill>
                  <a:srgbClr val="151C39"/>
                </a:solidFill>
                <a:latin typeface="Arial"/>
                <a:cs typeface="Arial"/>
              </a:rPr>
              <a:t> </a:t>
            </a:r>
            <a:r>
              <a:rPr sz="1200" dirty="0">
                <a:solidFill>
                  <a:srgbClr val="151C39"/>
                </a:solidFill>
                <a:latin typeface="Arial"/>
                <a:cs typeface="Arial"/>
              </a:rPr>
              <a:t>E.</a:t>
            </a:r>
            <a:r>
              <a:rPr sz="1200" spc="-10" dirty="0">
                <a:solidFill>
                  <a:srgbClr val="151C39"/>
                </a:solidFill>
                <a:latin typeface="Arial"/>
                <a:cs typeface="Arial"/>
              </a:rPr>
              <a:t> Campbell</a:t>
            </a:r>
            <a:r>
              <a:rPr sz="1200" spc="-20" dirty="0">
                <a:solidFill>
                  <a:srgbClr val="151C39"/>
                </a:solidFill>
                <a:latin typeface="Arial"/>
                <a:cs typeface="Arial"/>
              </a:rPr>
              <a:t> </a:t>
            </a:r>
            <a:r>
              <a:rPr sz="1200" dirty="0">
                <a:solidFill>
                  <a:srgbClr val="151C39"/>
                </a:solidFill>
                <a:latin typeface="Arial"/>
                <a:cs typeface="Arial"/>
              </a:rPr>
              <a:t>Road,</a:t>
            </a:r>
            <a:r>
              <a:rPr sz="1200" spc="-5" dirty="0">
                <a:solidFill>
                  <a:srgbClr val="151C39"/>
                </a:solidFill>
                <a:latin typeface="Arial"/>
                <a:cs typeface="Arial"/>
              </a:rPr>
              <a:t> </a:t>
            </a:r>
            <a:r>
              <a:rPr sz="1200" dirty="0">
                <a:solidFill>
                  <a:srgbClr val="151C39"/>
                </a:solidFill>
                <a:latin typeface="Arial"/>
                <a:cs typeface="Arial"/>
              </a:rPr>
              <a:t>Suite</a:t>
            </a:r>
            <a:r>
              <a:rPr sz="1200" spc="-45" dirty="0">
                <a:solidFill>
                  <a:srgbClr val="151C39"/>
                </a:solidFill>
                <a:latin typeface="Arial"/>
                <a:cs typeface="Arial"/>
              </a:rPr>
              <a:t> </a:t>
            </a:r>
            <a:r>
              <a:rPr sz="1200" spc="-25" dirty="0">
                <a:solidFill>
                  <a:srgbClr val="151C39"/>
                </a:solidFill>
                <a:latin typeface="Arial"/>
                <a:cs typeface="Arial"/>
              </a:rPr>
              <a:t>388</a:t>
            </a:r>
            <a:endParaRPr sz="1200" dirty="0">
              <a:latin typeface="Arial"/>
              <a:cs typeface="Arial"/>
            </a:endParaRPr>
          </a:p>
          <a:p>
            <a:pPr marL="12700">
              <a:lnSpc>
                <a:spcPts val="1435"/>
              </a:lnSpc>
            </a:pPr>
            <a:r>
              <a:rPr sz="1200" spc="-10" dirty="0">
                <a:solidFill>
                  <a:srgbClr val="151C39"/>
                </a:solidFill>
                <a:latin typeface="Arial"/>
                <a:cs typeface="Arial"/>
              </a:rPr>
              <a:t>Richardson </a:t>
            </a:r>
            <a:r>
              <a:rPr sz="1200" dirty="0">
                <a:solidFill>
                  <a:srgbClr val="151C39"/>
                </a:solidFill>
                <a:latin typeface="Arial"/>
                <a:cs typeface="Arial"/>
              </a:rPr>
              <a:t>TX</a:t>
            </a:r>
            <a:r>
              <a:rPr sz="1200" spc="10" dirty="0">
                <a:solidFill>
                  <a:srgbClr val="151C39"/>
                </a:solidFill>
                <a:latin typeface="Arial"/>
                <a:cs typeface="Arial"/>
              </a:rPr>
              <a:t> </a:t>
            </a:r>
            <a:r>
              <a:rPr sz="1200" spc="-20" dirty="0">
                <a:solidFill>
                  <a:srgbClr val="151C39"/>
                </a:solidFill>
                <a:latin typeface="Arial"/>
                <a:cs typeface="Arial"/>
              </a:rPr>
              <a:t>75081</a:t>
            </a:r>
            <a:endParaRPr sz="1200" dirty="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0FE1168942E4F9F91C69493762EFC" ma:contentTypeVersion="18" ma:contentTypeDescription="Create a new document." ma:contentTypeScope="" ma:versionID="2d62f9521d72ef93f0d0e5c08a4c8d87">
  <xsd:schema xmlns:xsd="http://www.w3.org/2001/XMLSchema" xmlns:xs="http://www.w3.org/2001/XMLSchema" xmlns:p="http://schemas.microsoft.com/office/2006/metadata/properties" xmlns:ns3="f1374d3a-10e6-4343-870d-d96f85f860ef" xmlns:ns4="e06eca55-9146-4d89-a82d-614548ec66bb" targetNamespace="http://schemas.microsoft.com/office/2006/metadata/properties" ma:root="true" ma:fieldsID="fe92f2f8bd43b0149655fa909b1d9d75" ns3:_="" ns4:_="">
    <xsd:import namespace="f1374d3a-10e6-4343-870d-d96f85f860ef"/>
    <xsd:import namespace="e06eca55-9146-4d89-a82d-614548ec66b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earchProperties" minOccurs="0"/>
                <xsd:element ref="ns4:MediaServiceSystemTags" minOccurs="0"/>
                <xsd:element ref="ns4:MediaLengthInSecond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374d3a-10e6-4343-870d-d96f85f860e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6eca55-9146-4d89-a82d-614548ec66b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SystemTags" ma:index="23" nillable="true" ma:displayName="MediaServiceSystemTags" ma:hidden="true" ma:internalName="MediaServiceSystemTag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06eca55-9146-4d89-a82d-614548ec66bb" xsi:nil="true"/>
  </documentManagement>
</p:properties>
</file>

<file path=customXml/itemProps1.xml><?xml version="1.0" encoding="utf-8"?>
<ds:datastoreItem xmlns:ds="http://schemas.openxmlformats.org/officeDocument/2006/customXml" ds:itemID="{23DDE868-ADE1-4908-9783-6084CCAF606F}">
  <ds:schemaRefs>
    <ds:schemaRef ds:uri="e06eca55-9146-4d89-a82d-614548ec66bb"/>
    <ds:schemaRef ds:uri="f1374d3a-10e6-4343-870d-d96f85f860e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F0F9ADD-D503-47F2-8C77-F2A2FB808381}">
  <ds:schemaRefs>
    <ds:schemaRef ds:uri="http://schemas.microsoft.com/sharepoint/v3/contenttype/forms"/>
  </ds:schemaRefs>
</ds:datastoreItem>
</file>

<file path=customXml/itemProps3.xml><?xml version="1.0" encoding="utf-8"?>
<ds:datastoreItem xmlns:ds="http://schemas.openxmlformats.org/officeDocument/2006/customXml" ds:itemID="{3A2F94C6-B8AA-45E6-8C17-610EDC4C93EC}">
  <ds:schemaRefs>
    <ds:schemaRef ds:uri="http://schemas.microsoft.com/office/infopath/2007/PartnerControls"/>
    <ds:schemaRef ds:uri="http://purl.org/dc/elements/1.1/"/>
    <ds:schemaRef ds:uri="http://schemas.openxmlformats.org/package/2006/metadata/core-properties"/>
    <ds:schemaRef ds:uri="e06eca55-9146-4d89-a82d-614548ec66bb"/>
    <ds:schemaRef ds:uri="http://www.w3.org/XML/1998/namespace"/>
    <ds:schemaRef ds:uri="f1374d3a-10e6-4343-870d-d96f85f860ef"/>
    <ds:schemaRef ds:uri="http://schemas.microsoft.com/office/2006/documentManagement/types"/>
    <ds:schemaRef ds:uri="http://purl.org/dc/dcmitype/"/>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0</TotalTime>
  <Words>3662</Words>
  <Application>Microsoft Office PowerPoint</Application>
  <PresentationFormat>Widescreen</PresentationFormat>
  <Paragraphs>244</Paragraphs>
  <Slides>17</Slides>
  <Notes>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Aptos Display</vt:lpstr>
      <vt:lpstr>Aptos SemiBold</vt:lpstr>
      <vt:lpstr>Arial</vt:lpstr>
      <vt:lpstr>Calibri</vt:lpstr>
      <vt:lpstr>System Font Regular</vt:lpstr>
      <vt:lpstr>Office Theme</vt:lpstr>
      <vt:lpstr>1_Office Theme</vt:lpstr>
      <vt:lpstr>PowerPoint Presentation</vt:lpstr>
      <vt:lpstr>PowerPoint Presentation</vt:lpstr>
      <vt:lpstr>Objective &amp; 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Aparajita Dutta</dc:creator>
  <cp:lastModifiedBy>Srideep Behera</cp:lastModifiedBy>
  <cp:revision>1</cp:revision>
  <dcterms:created xsi:type="dcterms:W3CDTF">2025-06-19T19:10:33Z</dcterms:created>
  <dcterms:modified xsi:type="dcterms:W3CDTF">2025-11-24T08:16:08Z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0x01010080A0FE1168942E4F9F91C69493762EFC</vt:lpwstr>
  </property>
</Properties>
</file>